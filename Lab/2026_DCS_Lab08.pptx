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9" r:id="rId5"/>
    <p:sldId id="264" r:id="rId6"/>
    <p:sldId id="268" r:id="rId7"/>
    <p:sldId id="265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+mj-lt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26" name="Picture 2" descr="陽明交大新校徽終於出爐了複選4選1「長這樣」 - 生活- 自由時報電子報">
            <a:extLst>
              <a:ext uri="{FF2B5EF4-FFF2-40B4-BE49-F238E27FC236}">
                <a16:creationId xmlns:a16="http://schemas.microsoft.com/office/drawing/2014/main" id="{BA0283D1-4F0A-B54B-1A2C-3E62E6FF9C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43"/>
          <a:stretch/>
        </p:blipFill>
        <p:spPr bwMode="auto">
          <a:xfrm>
            <a:off x="11119448" y="274068"/>
            <a:ext cx="1072551" cy="79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1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371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9589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9E2A3-7E15-EF96-83E4-BD2E3B19AE3F}"/>
              </a:ext>
            </a:extLst>
          </p:cNvPr>
          <p:cNvCxnSpPr>
            <a:cxnSpLocks/>
          </p:cNvCxnSpPr>
          <p:nvPr userDrawn="1"/>
        </p:nvCxnSpPr>
        <p:spPr>
          <a:xfrm>
            <a:off x="618226" y="1078351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5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01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36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62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52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00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72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45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98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Platform Based Design Group</a:t>
            </a:r>
            <a:endParaRPr kumimoji="0" lang="zh-TW" altLang="en-US" sz="1200" b="1" dirty="0">
              <a:ln w="12700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b="1" dirty="0">
                <a:latin typeface="Times New Roman" pitchFamily="18" charset="0"/>
                <a:cs typeface="Times New Roman" pitchFamily="18" charset="0"/>
              </a:rPr>
              <a:t>NYCU. EE. Hsinchu. Taiwan</a:t>
            </a:r>
            <a:endParaRPr kumimoji="0" lang="zh-TW" alt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>
                <a:latin typeface="Times New Roman" pitchFamily="18" charset="0"/>
                <a:cs typeface="Times New Roman" pitchFamily="18" charset="0"/>
              </a:rPr>
              <a:t>VLSI Signal Processing Lab.</a:t>
            </a:r>
            <a:endParaRPr kumimoji="0" lang="zh-TW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74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OzW7kfr2p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E1000B-5139-1B80-B3C0-9A9B6ADEA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Lab08</a:t>
            </a:r>
            <a:br>
              <a:rPr lang="en-US" altLang="zh-TW" dirty="0" smtClean="0"/>
            </a:br>
            <a:r>
              <a:rPr lang="en-US" altLang="zh-TW" dirty="0" smtClean="0"/>
              <a:t>Long Division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73D36D-D347-5114-82D8-82DD99373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李品辰</a:t>
            </a:r>
          </a:p>
        </p:txBody>
      </p:sp>
    </p:spTree>
    <p:extLst>
      <p:ext uri="{BB962C8B-B14F-4D97-AF65-F5344CB8AC3E}">
        <p14:creationId xmlns:p14="http://schemas.microsoft.com/office/powerpoint/2010/main" val="277401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BFC3A-F13D-7377-153D-2D740E57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7E7678-421B-34C2-CFEB-2186FCC85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Pipeline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Generate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Long Division </a:t>
            </a:r>
            <a:r>
              <a:rPr lang="en-US" altLang="zh-TW" dirty="0"/>
              <a:t>(</a:t>
            </a:r>
            <a:r>
              <a:rPr lang="en-US" altLang="zh-TW" dirty="0" smtClean="0"/>
              <a:t>Lab08)</a:t>
            </a:r>
            <a:endParaRPr lang="en-US" altLang="zh-TW" dirty="0"/>
          </a:p>
          <a:p>
            <a:pPr lvl="1"/>
            <a:r>
              <a:rPr lang="en-US" altLang="zh-TW" dirty="0" smtClean="0"/>
              <a:t>LongDiv.sv</a:t>
            </a:r>
            <a:endParaRPr lang="en-US" altLang="zh-TW" dirty="0"/>
          </a:p>
          <a:p>
            <a:pPr lvl="1"/>
            <a:r>
              <a:rPr lang="en-US" altLang="zh-TW" dirty="0" smtClean="0"/>
              <a:t>SPEC</a:t>
            </a:r>
          </a:p>
          <a:p>
            <a:pPr lvl="1"/>
            <a:r>
              <a:rPr lang="en-US" altLang="zh-TW" dirty="0" smtClean="0"/>
              <a:t>Hint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Grading Policy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319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BFC3A-F13D-7377-153D-2D740E57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7E7678-421B-34C2-CFEB-2186FCC85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Pipeline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Generate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Long Division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Lab08)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LongDiv.sv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SPEC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Hint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Grading Policy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55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Pipeline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1" y="1096106"/>
            <a:ext cx="9506858" cy="542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1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BFC3A-F13D-7377-153D-2D740E57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7E7678-421B-34C2-CFEB-2186FCC85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Pipeline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/>
          </a:p>
          <a:p>
            <a:r>
              <a:rPr lang="en-US" altLang="zh-TW" dirty="0" smtClean="0"/>
              <a:t>Generate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Long Division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Lab08)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LongDiv.sv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SPEC</a:t>
            </a:r>
          </a:p>
          <a:p>
            <a:pPr lvl="1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Hint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Grading Policy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054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Generate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zh-TW" altLang="en-US" dirty="0" smtClean="0"/>
              <a:t>合成前</a:t>
            </a:r>
            <a:r>
              <a:rPr lang="zh-TW" altLang="en-US" dirty="0"/>
              <a:t>就編譯完成，相較</a:t>
            </a:r>
            <a:r>
              <a:rPr lang="en-US" altLang="zh-TW" dirty="0"/>
              <a:t>for</a:t>
            </a:r>
            <a:r>
              <a:rPr lang="zh-TW" altLang="en-US" dirty="0"/>
              <a:t>迴圈較不易</a:t>
            </a:r>
            <a:r>
              <a:rPr lang="zh-TW" altLang="en-US" dirty="0" smtClean="0"/>
              <a:t>出錯</a:t>
            </a:r>
            <a:endParaRPr lang="en-US" altLang="zh-TW" dirty="0" smtClean="0"/>
          </a:p>
          <a:p>
            <a:r>
              <a:rPr lang="zh-TW" altLang="en-US" dirty="0"/>
              <a:t>可以</a:t>
            </a:r>
            <a:r>
              <a:rPr lang="zh-TW" altLang="en-US" dirty="0" smtClean="0"/>
              <a:t>將</a:t>
            </a:r>
            <a:r>
              <a:rPr lang="en-US" altLang="zh-TW" dirty="0" smtClean="0"/>
              <a:t>assign</a:t>
            </a:r>
            <a:r>
              <a:rPr lang="zh-TW" altLang="en-US" dirty="0" smtClean="0"/>
              <a:t>、</a:t>
            </a:r>
            <a:r>
              <a:rPr lang="en-US" altLang="zh-TW" dirty="0" smtClean="0"/>
              <a:t>always </a:t>
            </a:r>
            <a:r>
              <a:rPr lang="en-US" altLang="zh-TW" dirty="0"/>
              <a:t>block</a:t>
            </a:r>
            <a:r>
              <a:rPr lang="zh-TW" altLang="en-US" dirty="0"/>
              <a:t>、</a:t>
            </a:r>
            <a:r>
              <a:rPr lang="en-US" altLang="zh-TW" dirty="0"/>
              <a:t>submodule</a:t>
            </a:r>
            <a:r>
              <a:rPr lang="zh-TW" altLang="en-US" dirty="0"/>
              <a:t>放在</a:t>
            </a:r>
            <a:r>
              <a:rPr lang="en-US" altLang="zh-TW" dirty="0"/>
              <a:t>generate</a:t>
            </a:r>
            <a:r>
              <a:rPr lang="zh-TW" altLang="en-US" dirty="0"/>
              <a:t>裡</a:t>
            </a:r>
            <a:r>
              <a:rPr lang="zh-TW" altLang="en-US" dirty="0" smtClean="0"/>
              <a:t>宣告</a:t>
            </a:r>
            <a:endParaRPr lang="en-US" altLang="zh-TW" dirty="0" smtClean="0"/>
          </a:p>
          <a:p>
            <a:r>
              <a:rPr lang="en-US" altLang="zh-TW" dirty="0" smtClean="0"/>
              <a:t>generate</a:t>
            </a:r>
            <a:r>
              <a:rPr lang="zh-TW" altLang="en-US" dirty="0" smtClean="0"/>
              <a:t>是</a:t>
            </a:r>
            <a:r>
              <a:rPr lang="zh-TW" altLang="en-US" dirty="0"/>
              <a:t>將一份電路複製多</a:t>
            </a:r>
            <a:r>
              <a:rPr lang="zh-TW" altLang="en-US" dirty="0" smtClean="0"/>
              <a:t>份，</a:t>
            </a:r>
            <a:r>
              <a:rPr lang="en-US" altLang="zh-TW" dirty="0" smtClean="0"/>
              <a:t>for</a:t>
            </a:r>
            <a:r>
              <a:rPr lang="zh-TW" altLang="en-US" dirty="0" smtClean="0"/>
              <a:t>則是在編譯時</a:t>
            </a:r>
            <a:r>
              <a:rPr lang="en-US" altLang="zh-TW" dirty="0" smtClean="0"/>
              <a:t>unrolling</a:t>
            </a:r>
          </a:p>
          <a:p>
            <a:r>
              <a:rPr lang="zh-TW" altLang="en-US" dirty="0"/>
              <a:t>在</a:t>
            </a:r>
            <a:r>
              <a:rPr lang="en-US" altLang="zh-TW" dirty="0" err="1"/>
              <a:t>nWave</a:t>
            </a:r>
            <a:r>
              <a:rPr lang="zh-TW" altLang="en-US" dirty="0"/>
              <a:t>裡可以看到</a:t>
            </a:r>
            <a:r>
              <a:rPr lang="en-US" altLang="zh-TW" dirty="0" smtClean="0"/>
              <a:t>sub-block</a:t>
            </a:r>
            <a:r>
              <a:rPr lang="zh-TW" altLang="en-US" dirty="0"/>
              <a:t>顯示，較好</a:t>
            </a:r>
            <a:r>
              <a:rPr lang="en-US" altLang="zh-TW" dirty="0"/>
              <a:t>debug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11" y="3079039"/>
            <a:ext cx="6002777" cy="348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9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BFC3A-F13D-7377-153D-2D740E57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7E7678-421B-34C2-CFEB-2186FCC85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Pipeline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Generate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/>
          </a:p>
          <a:p>
            <a:r>
              <a:rPr lang="en-US" altLang="zh-TW" dirty="0" smtClean="0"/>
              <a:t>Long Division </a:t>
            </a:r>
            <a:r>
              <a:rPr lang="en-US" altLang="zh-TW" dirty="0"/>
              <a:t>(</a:t>
            </a:r>
            <a:r>
              <a:rPr lang="en-US" altLang="zh-TW" dirty="0" smtClean="0"/>
              <a:t>Lab08)</a:t>
            </a:r>
            <a:endParaRPr lang="en-US" altLang="zh-TW" dirty="0"/>
          </a:p>
          <a:p>
            <a:pPr lvl="1"/>
            <a:r>
              <a:rPr lang="en-US" altLang="zh-TW" dirty="0" smtClean="0"/>
              <a:t>LongDiv.sv</a:t>
            </a:r>
            <a:endParaRPr lang="en-US" altLang="zh-TW" dirty="0"/>
          </a:p>
          <a:p>
            <a:pPr lvl="1"/>
            <a:r>
              <a:rPr lang="en-US" altLang="zh-TW" dirty="0" smtClean="0"/>
              <a:t>SPEC</a:t>
            </a:r>
          </a:p>
          <a:p>
            <a:pPr lvl="1"/>
            <a:r>
              <a:rPr lang="en-US" altLang="zh-TW" dirty="0" smtClean="0"/>
              <a:t>Hint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Grading Policy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61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 Division (Lab08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LongDiv.sv</a:t>
            </a:r>
            <a:endParaRPr lang="en-US" altLang="zh-TW" dirty="0"/>
          </a:p>
          <a:p>
            <a:pPr lvl="1"/>
            <a:r>
              <a:rPr lang="zh-TW" altLang="en-US" dirty="0" smtClean="0"/>
              <a:t>長</a:t>
            </a:r>
            <a:r>
              <a:rPr lang="zh-TW" altLang="en-US" dirty="0"/>
              <a:t>除法可以將龐大的除法器運算化簡為一連串的移位與減法操作</a:t>
            </a: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Remainder Formula- What Is Remainder Formula?Exampl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9"/>
          <a:stretch/>
        </p:blipFill>
        <p:spPr bwMode="auto">
          <a:xfrm>
            <a:off x="304800" y="2133599"/>
            <a:ext cx="6413675" cy="446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nary Division - Definition, Rules and Guide| Calculate Binary Divisi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3" t="20292" r="29408"/>
          <a:stretch/>
        </p:blipFill>
        <p:spPr bwMode="auto">
          <a:xfrm>
            <a:off x="8471038" y="2371379"/>
            <a:ext cx="2989697" cy="448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inary Division - Definition, Rules and Guide| Calculate Binary Divisi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7" r="47014" b="85209"/>
          <a:stretch/>
        </p:blipFill>
        <p:spPr bwMode="auto">
          <a:xfrm>
            <a:off x="5642814" y="2222011"/>
            <a:ext cx="3507623" cy="67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4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 Division (Lab08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LongDiv.sv</a:t>
            </a:r>
            <a:endParaRPr lang="en-US" altLang="zh-TW" dirty="0"/>
          </a:p>
          <a:p>
            <a:pPr lvl="1"/>
            <a:r>
              <a:rPr lang="zh-TW" altLang="en-US" dirty="0" smtClean="0"/>
              <a:t>本次 </a:t>
            </a:r>
            <a:r>
              <a:rPr lang="en-US" altLang="zh-TW" dirty="0" smtClean="0"/>
              <a:t>Lab </a:t>
            </a:r>
            <a:r>
              <a:rPr lang="zh-TW" altLang="en-US" dirty="0" smtClean="0"/>
              <a:t>將實作大數除法器 </a:t>
            </a:r>
            <a:r>
              <a:rPr lang="en-US" altLang="zh-TW" dirty="0" smtClean="0"/>
              <a:t>(in_num1[31:0] / in_num2[15:0])</a:t>
            </a:r>
          </a:p>
          <a:p>
            <a:pPr lvl="1"/>
            <a:r>
              <a:rPr lang="en-US" altLang="zh-TW" dirty="0" smtClean="0"/>
              <a:t>Cycle time</a:t>
            </a:r>
            <a:r>
              <a:rPr lang="zh-TW" altLang="en-US" dirty="0" smtClean="0"/>
              <a:t> 極短，無法直接使用 </a:t>
            </a:r>
            <a:r>
              <a:rPr lang="en-US" altLang="zh-TW" dirty="0" smtClean="0"/>
              <a:t>“/”</a:t>
            </a:r>
            <a:r>
              <a:rPr lang="zh-TW" altLang="en-US" dirty="0" smtClean="0"/>
              <a:t> 和 </a:t>
            </a:r>
            <a:r>
              <a:rPr lang="en-US" altLang="zh-TW" dirty="0" smtClean="0"/>
              <a:t>“%”</a:t>
            </a:r>
            <a:r>
              <a:rPr lang="zh-TW" altLang="en-US" dirty="0" smtClean="0"/>
              <a:t> 進行運算 </a:t>
            </a:r>
            <a:r>
              <a:rPr lang="en-US" altLang="zh-TW" dirty="0" smtClean="0">
                <a:solidFill>
                  <a:srgbClr val="FF0000"/>
                </a:solidFill>
              </a:rPr>
              <a:t>(timing violation!)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 smtClean="0"/>
              <a:t>輸入為連續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in_valid</a:t>
            </a:r>
            <a:r>
              <a:rPr lang="zh-TW" altLang="en-US" dirty="0" smtClean="0"/>
              <a:t> 持續為 </a:t>
            </a:r>
            <a:r>
              <a:rPr lang="en-US" altLang="zh-TW" dirty="0" smtClean="0"/>
              <a:t>1)</a:t>
            </a:r>
          </a:p>
          <a:p>
            <a:pPr lvl="1"/>
            <a:r>
              <a:rPr lang="zh-TW" altLang="en-US" dirty="0" smtClean="0"/>
              <a:t>輸出也必須為連續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out_valid</a:t>
            </a:r>
            <a:r>
              <a:rPr lang="zh-TW" altLang="en-US" dirty="0" smtClean="0"/>
              <a:t> 持續為 </a:t>
            </a:r>
            <a:r>
              <a:rPr lang="en-US" altLang="zh-TW" dirty="0" smtClean="0"/>
              <a:t>1)</a:t>
            </a:r>
          </a:p>
          <a:p>
            <a:pPr lvl="1"/>
            <a:r>
              <a:rPr lang="en-US" altLang="zh-TW" dirty="0" smtClean="0"/>
              <a:t>“in_num2[15]”</a:t>
            </a:r>
            <a:r>
              <a:rPr lang="zh-TW" altLang="en-US" dirty="0" smtClean="0"/>
              <a:t> 必為 </a:t>
            </a:r>
            <a:r>
              <a:rPr lang="en-US" altLang="zh-TW" dirty="0" smtClean="0"/>
              <a:t>leading 1</a:t>
            </a:r>
            <a:r>
              <a:rPr lang="zh-TW" altLang="en-US" dirty="0" smtClean="0"/>
              <a:t> </a:t>
            </a:r>
            <a:r>
              <a:rPr lang="en-US" altLang="zh-TW" dirty="0" smtClean="0"/>
              <a:t>(pipeline</a:t>
            </a:r>
            <a:r>
              <a:rPr lang="zh-TW" altLang="en-US" dirty="0" smtClean="0"/>
              <a:t> 級數固定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89" y="3934158"/>
            <a:ext cx="11576589" cy="252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6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 Division (Lab08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LongDiv.sv</a:t>
            </a:r>
            <a:endParaRPr lang="en-US" altLang="zh-TW" dirty="0"/>
          </a:p>
          <a:p>
            <a:pPr lvl="1"/>
            <a:r>
              <a:rPr lang="en-US" altLang="zh-TW" dirty="0"/>
              <a:t>Output should be reset after “</a:t>
            </a:r>
            <a:r>
              <a:rPr lang="en-US" altLang="zh-TW" dirty="0" err="1"/>
              <a:t>rst_n</a:t>
            </a:r>
            <a:r>
              <a:rPr lang="en-US" altLang="zh-TW" dirty="0" smtClean="0"/>
              <a:t>”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pPr lvl="1"/>
            <a:r>
              <a:rPr lang="en-US" altLang="zh-TW" dirty="0"/>
              <a:t>“</a:t>
            </a:r>
            <a:r>
              <a:rPr lang="en-US" altLang="zh-TW" dirty="0" err="1"/>
              <a:t>out_valid</a:t>
            </a:r>
            <a:r>
              <a:rPr lang="en-US" altLang="zh-TW" dirty="0"/>
              <a:t>” should be asserted within 100 cycles after “</a:t>
            </a:r>
            <a:r>
              <a:rPr lang="en-US" altLang="zh-TW" dirty="0" err="1"/>
              <a:t>in_valid</a:t>
            </a:r>
            <a:r>
              <a:rPr lang="en-US" altLang="zh-TW" dirty="0"/>
              <a:t>”.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2107399"/>
            <a:ext cx="7640116" cy="1905266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4171282" y="1988229"/>
            <a:ext cx="1892968" cy="468365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5117766" y="2456594"/>
            <a:ext cx="0" cy="90487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3"/>
          <a:srcRect t="4562" b="2983"/>
          <a:stretch/>
        </p:blipFill>
        <p:spPr>
          <a:xfrm>
            <a:off x="2276858" y="4572108"/>
            <a:ext cx="7639200" cy="1905001"/>
          </a:xfrm>
          <a:prstGeom prst="rect">
            <a:avLst/>
          </a:prstGeom>
        </p:spPr>
      </p:pic>
      <p:sp>
        <p:nvSpPr>
          <p:cNvPr id="11" name="乘號 10"/>
          <p:cNvSpPr/>
          <p:nvPr/>
        </p:nvSpPr>
        <p:spPr>
          <a:xfrm>
            <a:off x="8784991" y="5346042"/>
            <a:ext cx="1131067" cy="1131067"/>
          </a:xfrm>
          <a:prstGeom prst="mathMultiply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316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 Division (Lab08)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SPEC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4B977D9-D983-49AA-BD8C-BE2536064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79573"/>
              </p:ext>
            </p:extLst>
          </p:nvPr>
        </p:nvGraphicFramePr>
        <p:xfrm>
          <a:off x="2032000" y="1882062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13623094"/>
                    </a:ext>
                  </a:extLst>
                </a:gridCol>
                <a:gridCol w="1351242">
                  <a:extLst>
                    <a:ext uri="{9D8B030D-6E8A-4147-A177-3AD203B41FA5}">
                      <a16:colId xmlns:a16="http://schemas.microsoft.com/office/drawing/2014/main" val="3703326310"/>
                    </a:ext>
                  </a:extLst>
                </a:gridCol>
                <a:gridCol w="4067424">
                  <a:extLst>
                    <a:ext uri="{9D8B030D-6E8A-4147-A177-3AD203B41FA5}">
                      <a16:colId xmlns:a16="http://schemas.microsoft.com/office/drawing/2014/main" val="3629621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Input 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Bit Width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Definition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64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rst_n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Asynchronous active-low reset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8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clk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Global clock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53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in_valid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Set to 1 when the input is ready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61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in_num1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046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in_num2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Divisor</a:t>
                      </a:r>
                      <a:r>
                        <a:rPr lang="en-US" altLang="zh-TW" sz="18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(in_num2[15]</a:t>
                      </a:r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 == 1’b1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81446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4B977D9-D983-49AA-BD8C-BE2536064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903640"/>
              </p:ext>
            </p:extLst>
          </p:nvPr>
        </p:nvGraphicFramePr>
        <p:xfrm>
          <a:off x="2031999" y="4678800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13623094"/>
                    </a:ext>
                  </a:extLst>
                </a:gridCol>
                <a:gridCol w="1351242">
                  <a:extLst>
                    <a:ext uri="{9D8B030D-6E8A-4147-A177-3AD203B41FA5}">
                      <a16:colId xmlns:a16="http://schemas.microsoft.com/office/drawing/2014/main" val="3703326310"/>
                    </a:ext>
                  </a:extLst>
                </a:gridCol>
                <a:gridCol w="4067424">
                  <a:extLst>
                    <a:ext uri="{9D8B030D-6E8A-4147-A177-3AD203B41FA5}">
                      <a16:colId xmlns:a16="http://schemas.microsoft.com/office/drawing/2014/main" val="3629621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Output 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Bit Width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Definition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64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out_valid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Set to 1 when the output is ready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8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out_num1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Quotient</a:t>
                      </a:r>
                      <a:endParaRPr lang="en-US" altLang="zh-TW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531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out_num2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Remainder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611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21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 Division (Lab08)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Hint</a:t>
            </a:r>
          </a:p>
          <a:p>
            <a:pPr lvl="1"/>
            <a:r>
              <a:rPr lang="zh-TW" altLang="en-US" dirty="0" smtClean="0"/>
              <a:t>使用 </a:t>
            </a:r>
            <a:r>
              <a:rPr lang="en-US" altLang="zh-TW" dirty="0" smtClean="0"/>
              <a:t>generate</a:t>
            </a:r>
            <a:r>
              <a:rPr lang="zh-TW" altLang="en-US" dirty="0" smtClean="0"/>
              <a:t> 語法來設計重複性值高的 </a:t>
            </a:r>
            <a:r>
              <a:rPr lang="en-US" altLang="zh-TW" dirty="0" smtClean="0"/>
              <a:t>pipeline </a:t>
            </a:r>
            <a:r>
              <a:rPr lang="zh-TW" altLang="en-US" dirty="0" smtClean="0"/>
              <a:t>電路</a:t>
            </a:r>
            <a:endParaRPr lang="en-US" altLang="zh-TW" dirty="0"/>
          </a:p>
          <a:p>
            <a:pPr lvl="1"/>
            <a:r>
              <a:rPr lang="en-US" altLang="zh-TW" dirty="0" smtClean="0"/>
              <a:t>Pipeline</a:t>
            </a:r>
            <a:r>
              <a:rPr lang="zh-TW" altLang="en-US" smtClean="0"/>
              <a:t> </a:t>
            </a:r>
            <a:r>
              <a:rPr lang="zh-TW" altLang="en-US"/>
              <a:t>補充</a:t>
            </a:r>
            <a:r>
              <a:rPr lang="zh-TW" altLang="en-US" smtClean="0"/>
              <a:t>影片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www.youtube.com/watch?v=jOzW7kfr2p4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24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318</Words>
  <Application>Microsoft Office PowerPoint</Application>
  <PresentationFormat>寬螢幕</PresentationFormat>
  <Paragraphs>122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Arial Unicode MS</vt:lpstr>
      <vt:lpstr>微軟正黑體</vt:lpstr>
      <vt:lpstr>新細明體</vt:lpstr>
      <vt:lpstr>Arial</vt:lpstr>
      <vt:lpstr>Calibri</vt:lpstr>
      <vt:lpstr>Times New Roman</vt:lpstr>
      <vt:lpstr>佈景主題1</vt:lpstr>
      <vt:lpstr>Lab08 Long Division</vt:lpstr>
      <vt:lpstr>Outline</vt:lpstr>
      <vt:lpstr>Outline</vt:lpstr>
      <vt:lpstr>Pipeline</vt:lpstr>
      <vt:lpstr>Outline</vt:lpstr>
      <vt:lpstr>Generate</vt:lpstr>
      <vt:lpstr>Outline</vt:lpstr>
      <vt:lpstr>Long Division (Lab08)</vt:lpstr>
      <vt:lpstr>Long Division (Lab08)</vt:lpstr>
      <vt:lpstr>Long Division (Lab08)</vt:lpstr>
      <vt:lpstr>Long Division (Lab08)</vt:lpstr>
      <vt:lpstr>Long Division (Lab08)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Lab02 Counter</dc:title>
  <dc:creator>奕翔 賴</dc:creator>
  <cp:lastModifiedBy>user</cp:lastModifiedBy>
  <cp:revision>85</cp:revision>
  <dcterms:created xsi:type="dcterms:W3CDTF">2025-01-19T07:33:42Z</dcterms:created>
  <dcterms:modified xsi:type="dcterms:W3CDTF">2026-05-07T06:28:52Z</dcterms:modified>
</cp:coreProperties>
</file>