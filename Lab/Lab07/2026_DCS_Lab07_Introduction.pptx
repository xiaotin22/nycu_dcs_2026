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04" r:id="rId2"/>
    <p:sldId id="258" r:id="rId3"/>
    <p:sldId id="281" r:id="rId4"/>
    <p:sldId id="286" r:id="rId5"/>
    <p:sldId id="299" r:id="rId6"/>
    <p:sldId id="280" r:id="rId7"/>
    <p:sldId id="288" r:id="rId8"/>
    <p:sldId id="264" r:id="rId9"/>
    <p:sldId id="287" r:id="rId10"/>
    <p:sldId id="282" r:id="rId11"/>
    <p:sldId id="301" r:id="rId12"/>
    <p:sldId id="291" r:id="rId13"/>
    <p:sldId id="290" r:id="rId14"/>
    <p:sldId id="302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742D4262-6974-415A-BFE1-C6FB79CF560D}">
          <p14:sldIdLst>
            <p14:sldId id="304"/>
          </p14:sldIdLst>
        </p14:section>
        <p14:section name="常見floating point格式" id="{594AE51D-5BFD-4AA7-9167-6DA7C3233DBF}">
          <p14:sldIdLst>
            <p14:sldId id="258"/>
            <p14:sldId id="281"/>
            <p14:sldId id="286"/>
            <p14:sldId id="299"/>
          </p14:sldIdLst>
        </p14:section>
        <p14:section name="NVFP4介紹" id="{77000484-F6B8-4127-AEBA-E4F405A5850E}">
          <p14:sldIdLst>
            <p14:sldId id="280"/>
            <p14:sldId id="288"/>
          </p14:sldIdLst>
        </p14:section>
        <p14:section name="加法" id="{99688F96-BE88-41FD-B9FA-504FA308374D}">
          <p14:sldIdLst>
            <p14:sldId id="264"/>
            <p14:sldId id="287"/>
            <p14:sldId id="282"/>
            <p14:sldId id="301"/>
          </p14:sldIdLst>
        </p14:section>
        <p14:section name="乘法" id="{9E1EF757-4BB1-4493-826B-81D2ABB5ACD0}">
          <p14:sldIdLst>
            <p14:sldId id="291"/>
            <p14:sldId id="290"/>
            <p14:sldId id="30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24" autoAdjust="0"/>
    <p:restoredTop sz="90380" autoAdjust="0"/>
  </p:normalViewPr>
  <p:slideViewPr>
    <p:cSldViewPr snapToGrid="0">
      <p:cViewPr>
        <p:scale>
          <a:sx n="66" d="100"/>
          <a:sy n="66" d="100"/>
        </p:scale>
        <p:origin x="72" y="8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接點 3"/>
          <p:cNvCxnSpPr/>
          <p:nvPr/>
        </p:nvCxnSpPr>
        <p:spPr>
          <a:xfrm>
            <a:off x="952501" y="3714750"/>
            <a:ext cx="11239500" cy="1588"/>
          </a:xfrm>
          <a:prstGeom prst="line">
            <a:avLst/>
          </a:prstGeom>
          <a:ln w="12700" cmpd="sng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>
            <a:normAutofit/>
          </a:bodyPr>
          <a:lstStyle>
            <a:lvl1pPr algn="ctr">
              <a:defRPr sz="3600">
                <a:latin typeface="+mj-lt"/>
                <a:cs typeface="Times New Roman" pitchFamily="18" charset="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9410736" cy="1752600"/>
          </a:xfrm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tx1">
                    <a:tint val="75000"/>
                  </a:schemeClr>
                </a:solidFill>
                <a:latin typeface="+mn-lt"/>
                <a:cs typeface="Times New Roman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/>
              <a:t>按一下以編輯母片副標題樣式</a:t>
            </a:r>
          </a:p>
        </p:txBody>
      </p:sp>
      <p:sp>
        <p:nvSpPr>
          <p:cNvPr id="6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9E4BAB45-CC32-4EA4-861C-55A130FC9389}" type="datetimeFigureOut">
              <a:rPr lang="zh-TW" altLang="en-US" smtClean="0"/>
              <a:pPr/>
              <a:t>2026/4/30</a:t>
            </a:fld>
            <a:endParaRPr lang="zh-TW" altLang="en-US"/>
          </a:p>
        </p:txBody>
      </p:sp>
      <p:sp>
        <p:nvSpPr>
          <p:cNvPr id="7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endParaRPr lang="zh-TW" altLang="en-US"/>
          </a:p>
        </p:txBody>
      </p:sp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1026" name="Picture 2" descr="陽明交大新校徽終於出爐了複選4選1「長這樣」 - 生活- 自由時報電子報">
            <a:extLst>
              <a:ext uri="{FF2B5EF4-FFF2-40B4-BE49-F238E27FC236}">
                <a16:creationId xmlns:a16="http://schemas.microsoft.com/office/drawing/2014/main" id="{BA0283D1-4F0A-B54B-1A2C-3E62E6FF9C5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043"/>
          <a:stretch/>
        </p:blipFill>
        <p:spPr bwMode="auto">
          <a:xfrm>
            <a:off x="11119448" y="274068"/>
            <a:ext cx="1072551" cy="794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212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03712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600" y="1078350"/>
            <a:ext cx="10972800" cy="5279589"/>
          </a:xfrm>
        </p:spPr>
        <p:txBody>
          <a:bodyPr>
            <a:normAutofit/>
          </a:bodyPr>
          <a:lstStyle>
            <a:lvl1pPr>
              <a:defRPr sz="2800">
                <a:latin typeface="+mn-lt"/>
              </a:defRPr>
            </a:lvl1pPr>
            <a:lvl2pPr>
              <a:defRPr sz="24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18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E4BAB45-CC32-4EA4-861C-55A130FC9389}" type="datetimeFigureOut">
              <a:rPr lang="zh-TW" altLang="en-US" smtClean="0"/>
              <a:pPr/>
              <a:t>2026/4/30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0C49E2A3-7E15-EF96-83E4-BD2E3B19AE3F}"/>
              </a:ext>
            </a:extLst>
          </p:cNvPr>
          <p:cNvCxnSpPr>
            <a:cxnSpLocks/>
          </p:cNvCxnSpPr>
          <p:nvPr userDrawn="1"/>
        </p:nvCxnSpPr>
        <p:spPr>
          <a:xfrm>
            <a:off x="618226" y="1078351"/>
            <a:ext cx="10972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1155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E4BAB45-CC32-4EA4-861C-55A130FC9389}" type="datetimeFigureOut">
              <a:rPr lang="zh-TW" altLang="en-US" smtClean="0"/>
              <a:pPr/>
              <a:t>2026/4/30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4012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/>
        </p:nvCxnSpPr>
        <p:spPr>
          <a:xfrm>
            <a:off x="571501" y="1285875"/>
            <a:ext cx="11620500" cy="1588"/>
          </a:xfrm>
          <a:prstGeom prst="line">
            <a:avLst/>
          </a:prstGeom>
          <a:ln w="12700" cmpd="sng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357298"/>
            <a:ext cx="5384800" cy="492922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357298"/>
            <a:ext cx="5384800" cy="492922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9E4BAB45-CC32-4EA4-861C-55A130FC9389}" type="datetimeFigureOut">
              <a:rPr lang="zh-TW" altLang="en-US" smtClean="0"/>
              <a:pPr/>
              <a:t>2026/4/30</a:t>
            </a:fld>
            <a:endParaRPr lang="zh-TW" altLang="en-US"/>
          </a:p>
        </p:txBody>
      </p:sp>
      <p:sp>
        <p:nvSpPr>
          <p:cNvPr id="7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8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4363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接點 6"/>
          <p:cNvCxnSpPr/>
          <p:nvPr/>
        </p:nvCxnSpPr>
        <p:spPr>
          <a:xfrm>
            <a:off x="571501" y="1285875"/>
            <a:ext cx="11620500" cy="1588"/>
          </a:xfrm>
          <a:prstGeom prst="line">
            <a:avLst/>
          </a:prstGeom>
          <a:ln w="12700" cmpd="sng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357299"/>
            <a:ext cx="5386917" cy="57150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1928802"/>
            <a:ext cx="5386917" cy="442915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357299"/>
            <a:ext cx="5389033" cy="57150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1928802"/>
            <a:ext cx="5389033" cy="442915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8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9E4BAB45-CC32-4EA4-861C-55A130FC9389}" type="datetimeFigureOut">
              <a:rPr lang="zh-TW" altLang="en-US" smtClean="0"/>
              <a:pPr/>
              <a:t>2026/4/30</a:t>
            </a:fld>
            <a:endParaRPr lang="zh-TW" altLang="en-US"/>
          </a:p>
        </p:txBody>
      </p:sp>
      <p:sp>
        <p:nvSpPr>
          <p:cNvPr id="9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10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4624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9E4BAB45-CC32-4EA4-861C-55A130FC9389}" type="datetimeFigureOut">
              <a:rPr lang="zh-TW" altLang="en-US" smtClean="0"/>
              <a:pPr/>
              <a:t>2026/4/30</a:t>
            </a:fld>
            <a:endParaRPr lang="zh-TW" altLang="en-US"/>
          </a:p>
        </p:txBody>
      </p:sp>
      <p:sp>
        <p:nvSpPr>
          <p:cNvPr id="5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6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246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E4BAB45-CC32-4EA4-861C-55A130FC9389}" type="datetimeFigureOut">
              <a:rPr lang="zh-TW" altLang="en-US" smtClean="0"/>
              <a:pPr/>
              <a:t>2026/4/30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4520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E4BAB45-CC32-4EA4-861C-55A130FC9389}" type="datetimeFigureOut">
              <a:rPr lang="zh-TW" altLang="en-US" smtClean="0"/>
              <a:pPr/>
              <a:t>2026/4/30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6000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E4BAB45-CC32-4EA4-861C-55A130FC9389}" type="datetimeFigureOut">
              <a:rPr lang="zh-TW" altLang="en-US" smtClean="0"/>
              <a:pPr/>
              <a:t>2026/4/30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7727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接點 3"/>
          <p:cNvCxnSpPr/>
          <p:nvPr/>
        </p:nvCxnSpPr>
        <p:spPr>
          <a:xfrm>
            <a:off x="571501" y="1285875"/>
            <a:ext cx="11620500" cy="1588"/>
          </a:xfrm>
          <a:prstGeom prst="line">
            <a:avLst/>
          </a:prstGeom>
          <a:ln w="12700" cmpd="sng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9E4BAB45-CC32-4EA4-861C-55A130FC9389}" type="datetimeFigureOut">
              <a:rPr lang="zh-TW" altLang="en-US" smtClean="0"/>
              <a:pPr/>
              <a:t>2026/4/30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0450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E4BAB45-CC32-4EA4-861C-55A130FC9389}" type="datetimeFigureOut">
              <a:rPr lang="zh-TW" altLang="en-US" smtClean="0"/>
              <a:pPr/>
              <a:t>2026/4/30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0983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標題版面配置區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93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4099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609600" y="1357314"/>
            <a:ext cx="10972800" cy="500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tx1">
                    <a:tint val="75000"/>
                  </a:schemeClr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</a:lstStyle>
          <a:p>
            <a:fld id="{9E4BAB45-CC32-4EA4-861C-55A130FC9389}" type="datetimeFigureOut">
              <a:rPr lang="zh-TW" altLang="en-US" smtClean="0"/>
              <a:pPr/>
              <a:t>2026/4/30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tx1">
                    <a:tint val="75000"/>
                  </a:schemeClr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0" y="0"/>
            <a:ext cx="12192000" cy="214290"/>
          </a:xfrm>
          <a:prstGeom prst="rect">
            <a:avLst/>
          </a:prstGeom>
          <a:gradFill flip="none" rotWithShape="1">
            <a:gsLst>
              <a:gs pos="12000">
                <a:schemeClr val="accent1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 extrusionH="57150">
              <a:bevelT w="57150" h="38100" prst="hardEdge"/>
            </a:sp3d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200" b="1" dirty="0">
                <a:ln w="12700">
                  <a:noFill/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itchFamily="18" charset="0"/>
                <a:cs typeface="Times New Roman" pitchFamily="18" charset="0"/>
              </a:rPr>
              <a:t>Platform Based Design Group</a:t>
            </a:r>
            <a:endParaRPr kumimoji="0" lang="zh-TW" altLang="en-US" sz="1200" b="1" dirty="0">
              <a:ln w="12700">
                <a:noFill/>
                <a:prstDash val="solid"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 rot="16200000">
            <a:off x="5988844" y="654844"/>
            <a:ext cx="214312" cy="1219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400" b="1" dirty="0">
                <a:latin typeface="Times New Roman" pitchFamily="18" charset="0"/>
                <a:cs typeface="Times New Roman" pitchFamily="18" charset="0"/>
              </a:rPr>
              <a:t>NYCU. EE. Hsinchu. Taiwan</a:t>
            </a:r>
            <a:endParaRPr kumimoji="0" lang="zh-TW" alt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" y="1500188"/>
            <a:ext cx="285751" cy="5357812"/>
          </a:xfrm>
          <a:prstGeom prst="rect">
            <a:avLst/>
          </a:prstGeom>
          <a:gradFill flip="none" rotWithShape="1">
            <a:gsLst>
              <a:gs pos="56000">
                <a:srgbClr val="92D050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tIns="3024000" bIns="4680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400" dirty="0">
                <a:latin typeface="Times New Roman" pitchFamily="18" charset="0"/>
                <a:cs typeface="Times New Roman" pitchFamily="18" charset="0"/>
              </a:rPr>
              <a:t>VLSI Signal Processing Lab.</a:t>
            </a:r>
            <a:endParaRPr kumimoji="0" lang="zh-TW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2748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kern="1200">
          <a:solidFill>
            <a:schemeClr val="tx1"/>
          </a:solidFill>
          <a:latin typeface="+mj-lt"/>
          <a:ea typeface="微軟正黑體" panose="020B0604030504040204" pitchFamily="34" charset="-120"/>
          <a:cs typeface="微軟正黑體" panose="020B0604030504040204" pitchFamily="34" charset="-12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Unicode MS" pitchFamily="34" charset="-120"/>
          <a:ea typeface="Arial Unicode MS" pitchFamily="34" charset="-120"/>
          <a:cs typeface="Arial Unicode MS" pitchFamily="34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Unicode MS" pitchFamily="34" charset="-120"/>
          <a:ea typeface="Arial Unicode MS" pitchFamily="34" charset="-120"/>
          <a:cs typeface="Arial Unicode MS" pitchFamily="34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Unicode MS" pitchFamily="34" charset="-120"/>
          <a:ea typeface="Arial Unicode MS" pitchFamily="34" charset="-120"/>
          <a:cs typeface="Arial Unicode MS" pitchFamily="34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Unicode MS" pitchFamily="34" charset="-120"/>
          <a:ea typeface="Arial Unicode MS" pitchFamily="34" charset="-120"/>
          <a:cs typeface="Arial Unicode MS" pitchFamily="34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微軟正黑體" panose="020B0604030504040204" pitchFamily="34" charset="-120"/>
          <a:cs typeface="微軟正黑體" panose="020B0604030504040204" pitchFamily="34" charset="-12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rgbClr val="376092"/>
          </a:solidFill>
          <a:latin typeface="+mn-lt"/>
          <a:ea typeface="微軟正黑體" panose="020B0604030504040204" pitchFamily="34" charset="-120"/>
          <a:cs typeface="微軟正黑體" panose="020B0604030504040204" pitchFamily="34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rgbClr val="4F6228"/>
          </a:solidFill>
          <a:latin typeface="+mn-lt"/>
          <a:ea typeface="微軟正黑體" panose="020B0604030504040204" pitchFamily="34" charset="-120"/>
          <a:cs typeface="微軟正黑體" panose="020B0604030504040204" pitchFamily="34" charset="-12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ern="1200">
          <a:solidFill>
            <a:srgbClr val="953735"/>
          </a:solidFill>
          <a:latin typeface="+mn-lt"/>
          <a:ea typeface="微軟正黑體" panose="020B0604030504040204" pitchFamily="34" charset="-120"/>
          <a:cs typeface="微軟正黑體" panose="020B0604030504040204" pitchFamily="34" charset="-12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ern="1200">
          <a:solidFill>
            <a:srgbClr val="E46C0A"/>
          </a:solidFill>
          <a:latin typeface="+mn-lt"/>
          <a:ea typeface="微軟正黑體" panose="020B0604030504040204" pitchFamily="34" charset="-120"/>
          <a:cs typeface="微軟正黑體" panose="020B0604030504040204" pitchFamily="34" charset="-12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xxactcorp.com/blog/hpc/what-is-fp8-fp6-fp4" TargetMode="External"/><Relationship Id="rId2" Type="http://schemas.openxmlformats.org/officeDocument/2006/relationships/hyperlink" Target="https://medium.com/@manyi.yim/bfloat16-vs-float32-vs-float16-back-to-the-basics-80d4aec49ca8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nvidia.cn/blog/introducing-nvfp4-for-efficient-and-accurate-low-precision-inference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BA44E6-9A8D-4BCD-AE84-98D6AB8E2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/>
              <a:t>2026</a:t>
            </a:r>
            <a:r>
              <a:rPr lang="zh-TW" altLang="en-US" cap="none" dirty="0"/>
              <a:t> </a:t>
            </a:r>
            <a:r>
              <a:rPr lang="en-US" altLang="zh-TW" cap="none" dirty="0"/>
              <a:t>DCS</a:t>
            </a:r>
            <a:r>
              <a:rPr lang="zh-TW" altLang="en-US" cap="none" dirty="0"/>
              <a:t> </a:t>
            </a:r>
            <a:r>
              <a:rPr lang="en-US" altLang="zh-TW" cap="none" dirty="0"/>
              <a:t>Lab 07 </a:t>
            </a:r>
            <a:r>
              <a:rPr lang="zh-TW" altLang="en-US" cap="none" dirty="0"/>
              <a:t>相關知識介紹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AE87917-A273-4B2F-9A71-2C4D6B1D07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3100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E731B-7158-8F1D-7BB8-EC56AD8D4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949725-BF48-751D-73B7-CBF5363B0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Floating Point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E0F903-1DF0-B3ED-761B-7C0BCFF81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5812094"/>
            <a:ext cx="10972800" cy="77126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zh-TW" altLang="en-US" sz="1800" dirty="0"/>
              <a:t>參考資料</a:t>
            </a:r>
            <a:r>
              <a:rPr lang="en-US" altLang="zh-TW" sz="1800" dirty="0"/>
              <a:t>:</a:t>
            </a:r>
            <a:r>
              <a:rPr lang="zh-TW" altLang="en-US" sz="1800" dirty="0"/>
              <a:t> </a:t>
            </a:r>
            <a:endParaRPr lang="en-US" altLang="zh-TW" sz="1800" dirty="0"/>
          </a:p>
          <a:p>
            <a:pPr marL="0" indent="0">
              <a:buNone/>
            </a:pPr>
            <a:r>
              <a:rPr lang="en-US" altLang="zh-TW" sz="1800" dirty="0">
                <a:hlinkClick r:id="rId2"/>
              </a:rPr>
              <a:t>https://medium.com/@manyi.yim/bfloat16-vs-float32-vs-float16-back-to-the-basics-80d4aec49ca8</a:t>
            </a:r>
            <a:endParaRPr lang="en-US" altLang="zh-TW" sz="1800" dirty="0"/>
          </a:p>
          <a:p>
            <a:pPr marL="0" indent="0">
              <a:buNone/>
            </a:pPr>
            <a:r>
              <a:rPr lang="en-US" altLang="zh-TW" sz="1800" dirty="0">
                <a:hlinkClick r:id="rId3"/>
              </a:rPr>
              <a:t>https://www.exxactcorp.com/blog/hpc/what-is-fp8-fp6-fp4</a:t>
            </a:r>
            <a:endParaRPr lang="en-US" altLang="zh-TW" sz="1800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5652900A-464C-4D18-B77D-7D7A57D733A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5" t="38232" r="1276" b="9366"/>
          <a:stretch/>
        </p:blipFill>
        <p:spPr>
          <a:xfrm>
            <a:off x="609599" y="1353185"/>
            <a:ext cx="9353551" cy="2510712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0259720D-88D6-4370-BF48-9C98521EF58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6" t="5945" r="42983" b="72305"/>
          <a:stretch/>
        </p:blipFill>
        <p:spPr>
          <a:xfrm>
            <a:off x="609600" y="4396841"/>
            <a:ext cx="5305426" cy="1042113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29DD830D-10AF-4E8C-A816-E8D569408F2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51" t="5730" r="18601" b="50630"/>
          <a:stretch/>
        </p:blipFill>
        <p:spPr>
          <a:xfrm>
            <a:off x="7048500" y="2590127"/>
            <a:ext cx="3981450" cy="1463111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FEC1CF44-3BF6-4A1A-8BBA-DD3009019B0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27" t="19325" r="18131" b="19864"/>
          <a:stretch/>
        </p:blipFill>
        <p:spPr>
          <a:xfrm>
            <a:off x="7048500" y="4364013"/>
            <a:ext cx="2847975" cy="1421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046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FB58E3-D1B7-407D-A205-43BBC7BC8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713" y="165100"/>
            <a:ext cx="10972800" cy="803712"/>
          </a:xfrm>
        </p:spPr>
        <p:txBody>
          <a:bodyPr/>
          <a:lstStyle/>
          <a:p>
            <a:r>
              <a:rPr lang="en-US" altLang="zh-TW" dirty="0"/>
              <a:t>Floating Point</a:t>
            </a:r>
            <a:r>
              <a:rPr lang="zh-TW" altLang="en-US" dirty="0"/>
              <a:t> </a:t>
            </a:r>
            <a:r>
              <a:rPr lang="en-US" altLang="zh-TW" dirty="0"/>
              <a:t>– bfloat16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FCE4CF-6BD7-4BA3-BCEE-D0BDAD60F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078349"/>
            <a:ext cx="11458575" cy="5614551"/>
          </a:xfrm>
        </p:spPr>
        <p:txBody>
          <a:bodyPr>
            <a:normAutofit/>
          </a:bodyPr>
          <a:lstStyle/>
          <a:p>
            <a:r>
              <a:rPr lang="en-US" altLang="zh-TW" dirty="0"/>
              <a:t>Sign: 0 </a:t>
            </a:r>
            <a:r>
              <a:rPr lang="zh-TW" altLang="en-US" dirty="0"/>
              <a:t>代表正，</a:t>
            </a:r>
            <a:r>
              <a:rPr lang="en-US" altLang="zh-TW" dirty="0"/>
              <a:t>1</a:t>
            </a:r>
            <a:r>
              <a:rPr lang="zh-TW" altLang="en-US" dirty="0"/>
              <a:t> 代表負</a:t>
            </a:r>
            <a:endParaRPr lang="en-US" altLang="zh-TW" dirty="0"/>
          </a:p>
          <a:p>
            <a:r>
              <a:rPr lang="en-US" altLang="zh-TW" dirty="0"/>
              <a:t>Exponent: 2</a:t>
            </a:r>
            <a:r>
              <a:rPr lang="zh-TW" altLang="en-US" dirty="0"/>
              <a:t> 的幾次方</a:t>
            </a:r>
            <a:endParaRPr lang="en-US" altLang="zh-TW" dirty="0"/>
          </a:p>
          <a:p>
            <a:r>
              <a:rPr lang="en-US" altLang="zh-TW" dirty="0"/>
              <a:t>Fraction (mantissa): </a:t>
            </a:r>
            <a:r>
              <a:rPr lang="zh-TW" altLang="en-US" dirty="0"/>
              <a:t>小數點後的值 </a:t>
            </a:r>
            <a:r>
              <a:rPr lang="en-US" altLang="zh-TW" dirty="0"/>
              <a:t>(1.fraction)</a:t>
            </a:r>
          </a:p>
          <a:p>
            <a:r>
              <a:rPr lang="zh-TW" altLang="en-US" dirty="0"/>
              <a:t>公式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(-1)</a:t>
            </a:r>
            <a:r>
              <a:rPr lang="en-US" altLang="zh-TW" baseline="30000" dirty="0"/>
              <a:t>Sign</a:t>
            </a:r>
            <a:r>
              <a:rPr lang="zh-TW" altLang="en-US" dirty="0"/>
              <a:t> 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/>
              <a:t>*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2</a:t>
            </a:r>
            <a:r>
              <a:rPr lang="en-US" altLang="zh-TW" baseline="30000" dirty="0"/>
              <a:t>(Exponent-</a:t>
            </a:r>
            <a:r>
              <a:rPr lang="en-US" altLang="zh-TW" baseline="30000" dirty="0">
                <a:highlight>
                  <a:srgbClr val="FFFF00"/>
                </a:highlight>
              </a:rPr>
              <a:t>127</a:t>
            </a:r>
            <a:r>
              <a:rPr lang="en-US" altLang="zh-TW" baseline="30000" dirty="0"/>
              <a:t>)</a:t>
            </a:r>
            <a:r>
              <a:rPr lang="zh-TW" altLang="en-US" baseline="30000" dirty="0"/>
              <a:t> </a:t>
            </a:r>
            <a:r>
              <a:rPr lang="zh-TW" altLang="en-US" dirty="0"/>
              <a:t> 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/>
              <a:t>*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1.Fraction</a:t>
            </a:r>
            <a:r>
              <a:rPr lang="zh-TW" altLang="en-US" dirty="0"/>
              <a:t> 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Example:</a:t>
            </a:r>
          </a:p>
          <a:p>
            <a:r>
              <a:rPr lang="zh-TW" altLang="en-US" dirty="0"/>
              <a:t> </a:t>
            </a:r>
            <a:r>
              <a:rPr lang="en-US" altLang="zh-TW" dirty="0"/>
              <a:t>1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FFC000"/>
                </a:solidFill>
              </a:rPr>
              <a:t>0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00B050"/>
                </a:solidFill>
              </a:rPr>
              <a:t>01111111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FF0000"/>
                </a:solidFill>
              </a:rPr>
              <a:t>0000000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(-1)</a:t>
            </a:r>
            <a:r>
              <a:rPr lang="en-US" altLang="zh-TW" baseline="30000" dirty="0">
                <a:solidFill>
                  <a:srgbClr val="FFC000"/>
                </a:solidFill>
              </a:rPr>
              <a:t>0</a:t>
            </a:r>
            <a:r>
              <a:rPr lang="zh-TW" altLang="en-US" dirty="0"/>
              <a:t> 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/>
              <a:t>*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2</a:t>
            </a:r>
            <a:r>
              <a:rPr lang="en-US" altLang="zh-TW" baseline="30000" dirty="0"/>
              <a:t>(</a:t>
            </a:r>
            <a:r>
              <a:rPr lang="en-US" altLang="zh-TW" baseline="30000" dirty="0">
                <a:solidFill>
                  <a:srgbClr val="00B050"/>
                </a:solidFill>
              </a:rPr>
              <a:t>127</a:t>
            </a:r>
            <a:r>
              <a:rPr lang="en-US" altLang="zh-TW" baseline="30000" dirty="0"/>
              <a:t>-127)</a:t>
            </a:r>
            <a:r>
              <a:rPr lang="zh-TW" altLang="en-US" baseline="30000" dirty="0"/>
              <a:t> </a:t>
            </a:r>
            <a:r>
              <a:rPr lang="zh-TW" altLang="en-US" dirty="0"/>
              <a:t> 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/>
              <a:t>*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1.</a:t>
            </a:r>
            <a:r>
              <a:rPr lang="en-US" altLang="zh-TW" dirty="0">
                <a:solidFill>
                  <a:srgbClr val="FF0000"/>
                </a:solidFill>
              </a:rPr>
              <a:t>0000000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-3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FFC000"/>
                </a:solidFill>
              </a:rPr>
              <a:t>1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00B050"/>
                </a:solidFill>
              </a:rPr>
              <a:t>10000000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FF0000"/>
                </a:solidFill>
              </a:rPr>
              <a:t>1000000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(-1)</a:t>
            </a:r>
            <a:r>
              <a:rPr lang="en-US" altLang="zh-TW" baseline="30000" dirty="0">
                <a:solidFill>
                  <a:srgbClr val="FFC000"/>
                </a:solidFill>
              </a:rPr>
              <a:t>1</a:t>
            </a:r>
            <a:r>
              <a:rPr lang="zh-TW" altLang="en-US" dirty="0"/>
              <a:t> 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/>
              <a:t>*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2</a:t>
            </a:r>
            <a:r>
              <a:rPr lang="en-US" altLang="zh-TW" baseline="30000" dirty="0"/>
              <a:t>(</a:t>
            </a:r>
            <a:r>
              <a:rPr lang="en-US" altLang="zh-TW" baseline="30000" dirty="0">
                <a:solidFill>
                  <a:srgbClr val="00B050"/>
                </a:solidFill>
              </a:rPr>
              <a:t>128</a:t>
            </a:r>
            <a:r>
              <a:rPr lang="en-US" altLang="zh-TW" baseline="30000" dirty="0"/>
              <a:t>-127)</a:t>
            </a:r>
            <a:r>
              <a:rPr lang="zh-TW" altLang="en-US" baseline="30000" dirty="0"/>
              <a:t> </a:t>
            </a:r>
            <a:r>
              <a:rPr lang="zh-TW" altLang="en-US" dirty="0"/>
              <a:t> 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/>
              <a:t>*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1.</a:t>
            </a:r>
            <a:r>
              <a:rPr lang="en-US" altLang="zh-TW" dirty="0">
                <a:solidFill>
                  <a:srgbClr val="FF0000"/>
                </a:solidFill>
              </a:rPr>
              <a:t>1000000</a:t>
            </a:r>
            <a:r>
              <a:rPr lang="zh-TW" altLang="en-US" dirty="0"/>
              <a:t> 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/>
              <a:t>Issue: LLM(Large Language Model, e.g. </a:t>
            </a:r>
            <a:r>
              <a:rPr lang="en-US" altLang="zh-TW" dirty="0" err="1"/>
              <a:t>ChatGPT</a:t>
            </a:r>
            <a:r>
              <a:rPr lang="en-US" altLang="zh-TW" dirty="0"/>
              <a:t>)</a:t>
            </a:r>
            <a:r>
              <a:rPr lang="zh-TW" altLang="en-US" dirty="0"/>
              <a:t> 中，</a:t>
            </a:r>
            <a:r>
              <a:rPr lang="en-US" altLang="zh-TW" dirty="0"/>
              <a:t>memory</a:t>
            </a:r>
            <a:r>
              <a:rPr lang="zh-TW" altLang="en-US" dirty="0"/>
              <a:t> 需求大，若改用 </a:t>
            </a:r>
            <a:r>
              <a:rPr lang="en-US" altLang="zh-TW" dirty="0"/>
              <a:t>INT4</a:t>
            </a:r>
            <a:r>
              <a:rPr lang="zh-TW" altLang="en-US" dirty="0"/>
              <a:t>、</a:t>
            </a:r>
            <a:r>
              <a:rPr lang="en-US" altLang="zh-TW" dirty="0"/>
              <a:t>INT8</a:t>
            </a:r>
            <a:r>
              <a:rPr lang="zh-TW" altLang="en-US" dirty="0"/>
              <a:t> 來計算，精度又會太低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E94EF21-8030-4F4D-AFCB-733ADD17C12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6" t="5945" r="47890" b="72305"/>
          <a:stretch/>
        </p:blipFill>
        <p:spPr>
          <a:xfrm>
            <a:off x="6688421" y="676494"/>
            <a:ext cx="5136866" cy="1108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30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FB58E3-D1B7-407D-A205-43BBC7BC8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Floating Point</a:t>
            </a:r>
            <a:r>
              <a:rPr lang="zh-TW" altLang="en-US" dirty="0"/>
              <a:t> </a:t>
            </a:r>
            <a:r>
              <a:rPr lang="en-US" altLang="zh-TW" dirty="0"/>
              <a:t>– FP4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FCE4CF-6BD7-4BA3-BCEE-D0BDAD60F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078350"/>
            <a:ext cx="11458575" cy="5505012"/>
          </a:xfrm>
        </p:spPr>
        <p:txBody>
          <a:bodyPr>
            <a:normAutofit/>
          </a:bodyPr>
          <a:lstStyle/>
          <a:p>
            <a:r>
              <a:rPr lang="en-US" altLang="zh-TW" dirty="0"/>
              <a:t>Sign: 0 </a:t>
            </a:r>
            <a:r>
              <a:rPr lang="zh-TW" altLang="en-US" dirty="0"/>
              <a:t>代表正，</a:t>
            </a:r>
            <a:r>
              <a:rPr lang="en-US" altLang="zh-TW" dirty="0"/>
              <a:t>1</a:t>
            </a:r>
            <a:r>
              <a:rPr lang="zh-TW" altLang="en-US" dirty="0"/>
              <a:t> 代表負</a:t>
            </a:r>
            <a:endParaRPr lang="en-US" altLang="zh-TW" dirty="0"/>
          </a:p>
          <a:p>
            <a:r>
              <a:rPr lang="en-US" altLang="zh-TW" dirty="0"/>
              <a:t>Exponent: 2</a:t>
            </a:r>
            <a:r>
              <a:rPr lang="zh-TW" altLang="en-US" dirty="0"/>
              <a:t> 的幾次方</a:t>
            </a:r>
            <a:endParaRPr lang="en-US" altLang="zh-TW" dirty="0"/>
          </a:p>
          <a:p>
            <a:r>
              <a:rPr lang="en-US" altLang="zh-TW" dirty="0"/>
              <a:t>Fraction (mantissa): </a:t>
            </a:r>
            <a:r>
              <a:rPr lang="zh-TW" altLang="en-US" dirty="0"/>
              <a:t>小數點後的值 </a:t>
            </a:r>
            <a:r>
              <a:rPr lang="en-US" altLang="zh-TW" dirty="0"/>
              <a:t>(1.fraction)</a:t>
            </a:r>
          </a:p>
          <a:p>
            <a:r>
              <a:rPr lang="zh-TW" altLang="en-US" dirty="0"/>
              <a:t>公式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(-1)</a:t>
            </a:r>
            <a:r>
              <a:rPr lang="en-US" altLang="zh-TW" baseline="30000" dirty="0"/>
              <a:t>Sign</a:t>
            </a:r>
            <a:r>
              <a:rPr lang="zh-TW" altLang="en-US" dirty="0"/>
              <a:t> 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/>
              <a:t>*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2</a:t>
            </a:r>
            <a:r>
              <a:rPr lang="en-US" altLang="zh-TW" baseline="30000" dirty="0"/>
              <a:t>(Exponent-</a:t>
            </a:r>
            <a:r>
              <a:rPr lang="en-US" altLang="zh-TW" baseline="30000" dirty="0">
                <a:highlight>
                  <a:srgbClr val="FFFF00"/>
                </a:highlight>
              </a:rPr>
              <a:t>1</a:t>
            </a:r>
            <a:r>
              <a:rPr lang="en-US" altLang="zh-TW" baseline="30000" dirty="0"/>
              <a:t>)</a:t>
            </a:r>
            <a:r>
              <a:rPr lang="zh-TW" altLang="en-US" baseline="30000" dirty="0"/>
              <a:t> </a:t>
            </a:r>
            <a:r>
              <a:rPr lang="zh-TW" altLang="en-US" dirty="0"/>
              <a:t> 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/>
              <a:t>*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1.Fraction</a:t>
            </a:r>
            <a:r>
              <a:rPr lang="zh-TW" altLang="en-US" dirty="0"/>
              <a:t> 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Example:</a:t>
            </a:r>
          </a:p>
          <a:p>
            <a:r>
              <a:rPr lang="zh-TW" altLang="en-US" dirty="0"/>
              <a:t> </a:t>
            </a:r>
            <a:r>
              <a:rPr lang="en-US" altLang="zh-TW" dirty="0"/>
              <a:t>1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FFC000"/>
                </a:solidFill>
              </a:rPr>
              <a:t>0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00B050"/>
                </a:solidFill>
              </a:rPr>
              <a:t>01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FF0000"/>
                </a:solidFill>
              </a:rPr>
              <a:t>0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(-1)</a:t>
            </a:r>
            <a:r>
              <a:rPr lang="en-US" altLang="zh-TW" baseline="30000" dirty="0">
                <a:solidFill>
                  <a:srgbClr val="FFC000"/>
                </a:solidFill>
              </a:rPr>
              <a:t>0</a:t>
            </a:r>
            <a:r>
              <a:rPr lang="zh-TW" altLang="en-US" dirty="0"/>
              <a:t> 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/>
              <a:t>*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2</a:t>
            </a:r>
            <a:r>
              <a:rPr lang="en-US" altLang="zh-TW" baseline="30000" dirty="0"/>
              <a:t>(</a:t>
            </a:r>
            <a:r>
              <a:rPr lang="en-US" altLang="zh-TW" baseline="30000" dirty="0">
                <a:solidFill>
                  <a:srgbClr val="00B050"/>
                </a:solidFill>
              </a:rPr>
              <a:t>1</a:t>
            </a:r>
            <a:r>
              <a:rPr lang="en-US" altLang="zh-TW" baseline="30000" dirty="0"/>
              <a:t>-1)</a:t>
            </a:r>
            <a:r>
              <a:rPr lang="zh-TW" altLang="en-US" baseline="30000" dirty="0"/>
              <a:t> </a:t>
            </a:r>
            <a:r>
              <a:rPr lang="zh-TW" altLang="en-US" dirty="0"/>
              <a:t> 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/>
              <a:t>*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1.</a:t>
            </a:r>
            <a:r>
              <a:rPr lang="en-US" altLang="zh-TW" dirty="0">
                <a:solidFill>
                  <a:srgbClr val="FF0000"/>
                </a:solidFill>
              </a:rPr>
              <a:t>0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-3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FFC000"/>
                </a:solidFill>
              </a:rPr>
              <a:t>1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00B050"/>
                </a:solidFill>
              </a:rPr>
              <a:t>10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FF0000"/>
                </a:solidFill>
              </a:rPr>
              <a:t>1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(-1)</a:t>
            </a:r>
            <a:r>
              <a:rPr lang="en-US" altLang="zh-TW" baseline="30000" dirty="0">
                <a:solidFill>
                  <a:srgbClr val="FFC000"/>
                </a:solidFill>
              </a:rPr>
              <a:t>1</a:t>
            </a:r>
            <a:r>
              <a:rPr lang="zh-TW" altLang="en-US" dirty="0"/>
              <a:t> 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/>
              <a:t>*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2</a:t>
            </a:r>
            <a:r>
              <a:rPr lang="en-US" altLang="zh-TW" baseline="30000" dirty="0"/>
              <a:t>(</a:t>
            </a:r>
            <a:r>
              <a:rPr lang="en-US" altLang="zh-TW" baseline="30000" dirty="0">
                <a:solidFill>
                  <a:srgbClr val="00B050"/>
                </a:solidFill>
              </a:rPr>
              <a:t>2</a:t>
            </a:r>
            <a:r>
              <a:rPr lang="en-US" altLang="zh-TW" baseline="30000" dirty="0"/>
              <a:t>-1)</a:t>
            </a:r>
            <a:r>
              <a:rPr lang="zh-TW" altLang="en-US" baseline="30000" dirty="0"/>
              <a:t> </a:t>
            </a:r>
            <a:r>
              <a:rPr lang="zh-TW" altLang="en-US" dirty="0"/>
              <a:t> 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/>
              <a:t>*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1.</a:t>
            </a:r>
            <a:r>
              <a:rPr lang="en-US" altLang="zh-TW" dirty="0">
                <a:solidFill>
                  <a:srgbClr val="FF0000"/>
                </a:solidFill>
              </a:rPr>
              <a:t>1</a:t>
            </a:r>
            <a:r>
              <a:rPr lang="zh-TW" altLang="en-US" dirty="0"/>
              <a:t> </a:t>
            </a:r>
            <a:r>
              <a:rPr lang="en-US" altLang="zh-TW" dirty="0"/>
              <a:t>)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79A4A82D-D6B2-4054-8BA9-F5DE5749F1B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27" t="19325" r="18131" b="19864"/>
          <a:stretch/>
        </p:blipFill>
        <p:spPr>
          <a:xfrm>
            <a:off x="8382000" y="1249337"/>
            <a:ext cx="3200400" cy="159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2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FB58E3-D1B7-407D-A205-43BBC7BC8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Floating Point</a:t>
            </a:r>
            <a:r>
              <a:rPr lang="zh-TW" altLang="en-US" dirty="0"/>
              <a:t> </a:t>
            </a:r>
            <a:r>
              <a:rPr lang="en-US" altLang="zh-TW" dirty="0"/>
              <a:t>– FP8 (E4M3)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FCE4CF-6BD7-4BA3-BCEE-D0BDAD60F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078350"/>
            <a:ext cx="11458575" cy="5505012"/>
          </a:xfrm>
        </p:spPr>
        <p:txBody>
          <a:bodyPr>
            <a:normAutofit/>
          </a:bodyPr>
          <a:lstStyle/>
          <a:p>
            <a:r>
              <a:rPr lang="en-US" altLang="zh-TW" dirty="0"/>
              <a:t>Sign: 0 </a:t>
            </a:r>
            <a:r>
              <a:rPr lang="zh-TW" altLang="en-US" dirty="0"/>
              <a:t>代表正，</a:t>
            </a:r>
            <a:r>
              <a:rPr lang="en-US" altLang="zh-TW" dirty="0"/>
              <a:t>1</a:t>
            </a:r>
            <a:r>
              <a:rPr lang="zh-TW" altLang="en-US" dirty="0"/>
              <a:t> 代表負</a:t>
            </a:r>
            <a:endParaRPr lang="en-US" altLang="zh-TW" dirty="0"/>
          </a:p>
          <a:p>
            <a:r>
              <a:rPr lang="en-US" altLang="zh-TW" dirty="0"/>
              <a:t>Exponent: 2</a:t>
            </a:r>
            <a:r>
              <a:rPr lang="zh-TW" altLang="en-US" dirty="0"/>
              <a:t> 的幾次方</a:t>
            </a:r>
            <a:endParaRPr lang="en-US" altLang="zh-TW" dirty="0"/>
          </a:p>
          <a:p>
            <a:r>
              <a:rPr lang="en-US" altLang="zh-TW" dirty="0"/>
              <a:t>Fraction (mantissa): </a:t>
            </a:r>
            <a:r>
              <a:rPr lang="zh-TW" altLang="en-US" dirty="0"/>
              <a:t>小數點後的值 </a:t>
            </a:r>
            <a:r>
              <a:rPr lang="en-US" altLang="zh-TW" dirty="0"/>
              <a:t>(1.fraction)</a:t>
            </a:r>
          </a:p>
          <a:p>
            <a:r>
              <a:rPr lang="zh-TW" altLang="en-US" dirty="0"/>
              <a:t>公式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(-1)</a:t>
            </a:r>
            <a:r>
              <a:rPr lang="en-US" altLang="zh-TW" baseline="30000" dirty="0"/>
              <a:t>Sign</a:t>
            </a:r>
            <a:r>
              <a:rPr lang="zh-TW" altLang="en-US" dirty="0"/>
              <a:t> 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/>
              <a:t>*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2</a:t>
            </a:r>
            <a:r>
              <a:rPr lang="en-US" altLang="zh-TW" baseline="30000" dirty="0"/>
              <a:t>(Exponent-</a:t>
            </a:r>
            <a:r>
              <a:rPr lang="en-US" altLang="zh-TW" baseline="30000" dirty="0">
                <a:highlight>
                  <a:srgbClr val="FFFF00"/>
                </a:highlight>
              </a:rPr>
              <a:t>7</a:t>
            </a:r>
            <a:r>
              <a:rPr lang="en-US" altLang="zh-TW" baseline="30000" dirty="0"/>
              <a:t>)</a:t>
            </a:r>
            <a:r>
              <a:rPr lang="zh-TW" altLang="en-US" baseline="30000" dirty="0"/>
              <a:t> </a:t>
            </a:r>
            <a:r>
              <a:rPr lang="zh-TW" altLang="en-US" dirty="0"/>
              <a:t> 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/>
              <a:t>*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1.Fraction</a:t>
            </a:r>
            <a:r>
              <a:rPr lang="zh-TW" altLang="en-US" dirty="0"/>
              <a:t> 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Example:</a:t>
            </a:r>
          </a:p>
          <a:p>
            <a:r>
              <a:rPr lang="zh-TW" altLang="en-US" dirty="0"/>
              <a:t> </a:t>
            </a:r>
            <a:r>
              <a:rPr lang="en-US" altLang="zh-TW" dirty="0"/>
              <a:t>1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FFC000"/>
                </a:solidFill>
              </a:rPr>
              <a:t>0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00B050"/>
                </a:solidFill>
              </a:rPr>
              <a:t>0111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FF0000"/>
                </a:solidFill>
              </a:rPr>
              <a:t>000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(-1)</a:t>
            </a:r>
            <a:r>
              <a:rPr lang="en-US" altLang="zh-TW" baseline="30000" dirty="0">
                <a:solidFill>
                  <a:srgbClr val="FFC000"/>
                </a:solidFill>
              </a:rPr>
              <a:t>0</a:t>
            </a:r>
            <a:r>
              <a:rPr lang="zh-TW" altLang="en-US" dirty="0"/>
              <a:t> 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/>
              <a:t>*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2</a:t>
            </a:r>
            <a:r>
              <a:rPr lang="en-US" altLang="zh-TW" baseline="30000" dirty="0"/>
              <a:t>(</a:t>
            </a:r>
            <a:r>
              <a:rPr lang="en-US" altLang="zh-TW" baseline="30000" dirty="0">
                <a:solidFill>
                  <a:srgbClr val="00B050"/>
                </a:solidFill>
              </a:rPr>
              <a:t>7</a:t>
            </a:r>
            <a:r>
              <a:rPr lang="en-US" altLang="zh-TW" baseline="30000" dirty="0"/>
              <a:t>-7)</a:t>
            </a:r>
            <a:r>
              <a:rPr lang="zh-TW" altLang="en-US" baseline="30000" dirty="0"/>
              <a:t> </a:t>
            </a:r>
            <a:r>
              <a:rPr lang="zh-TW" altLang="en-US" dirty="0"/>
              <a:t> 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/>
              <a:t>*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1.</a:t>
            </a:r>
            <a:r>
              <a:rPr lang="en-US" altLang="zh-TW" dirty="0">
                <a:solidFill>
                  <a:srgbClr val="FF0000"/>
                </a:solidFill>
              </a:rPr>
              <a:t>000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-6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FFC000"/>
                </a:solidFill>
              </a:rPr>
              <a:t>1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00B050"/>
                </a:solidFill>
              </a:rPr>
              <a:t>1001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FF0000"/>
                </a:solidFill>
              </a:rPr>
              <a:t>010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(-1)</a:t>
            </a:r>
            <a:r>
              <a:rPr lang="en-US" altLang="zh-TW" baseline="30000" dirty="0">
                <a:solidFill>
                  <a:srgbClr val="FFC000"/>
                </a:solidFill>
              </a:rPr>
              <a:t>1</a:t>
            </a:r>
            <a:r>
              <a:rPr lang="zh-TW" altLang="en-US" dirty="0"/>
              <a:t> 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/>
              <a:t>*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2</a:t>
            </a:r>
            <a:r>
              <a:rPr lang="en-US" altLang="zh-TW" baseline="30000" dirty="0"/>
              <a:t>(</a:t>
            </a:r>
            <a:r>
              <a:rPr lang="en-US" altLang="zh-TW" baseline="30000" dirty="0">
                <a:solidFill>
                  <a:srgbClr val="00B050"/>
                </a:solidFill>
              </a:rPr>
              <a:t>9</a:t>
            </a:r>
            <a:r>
              <a:rPr lang="en-US" altLang="zh-TW" baseline="30000" dirty="0"/>
              <a:t>-7)</a:t>
            </a:r>
            <a:r>
              <a:rPr lang="zh-TW" altLang="en-US" baseline="30000" dirty="0"/>
              <a:t> </a:t>
            </a:r>
            <a:r>
              <a:rPr lang="zh-TW" altLang="en-US" dirty="0"/>
              <a:t> 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/>
              <a:t>*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1.</a:t>
            </a:r>
            <a:r>
              <a:rPr lang="en-US" altLang="zh-TW" dirty="0">
                <a:solidFill>
                  <a:srgbClr val="FF0000"/>
                </a:solidFill>
              </a:rPr>
              <a:t>010</a:t>
            </a:r>
            <a:r>
              <a:rPr lang="zh-TW" altLang="en-US" dirty="0"/>
              <a:t> </a:t>
            </a:r>
            <a:r>
              <a:rPr lang="en-US" altLang="zh-TW" dirty="0"/>
              <a:t>)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2FA825B-B654-4683-B67C-D77ED224227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51" t="5730" r="18601" b="50630"/>
          <a:stretch/>
        </p:blipFill>
        <p:spPr>
          <a:xfrm>
            <a:off x="7884352" y="1304925"/>
            <a:ext cx="4095305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447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F3A2E5-F2C3-4246-BD69-F021D5F7C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What is NVFP4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3232A13-7CCF-42A4-B8FE-A326C8F21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NVIDIA </a:t>
            </a:r>
            <a:r>
              <a:rPr lang="zh-TW" altLang="en-US" dirty="0"/>
              <a:t>設計之 </a:t>
            </a:r>
            <a:r>
              <a:rPr lang="en-US" altLang="zh-TW" dirty="0"/>
              <a:t>4-bit low precision </a:t>
            </a:r>
            <a:r>
              <a:rPr lang="zh-TW" altLang="en-US" dirty="0"/>
              <a:t>格式</a:t>
            </a:r>
            <a:endParaRPr lang="en-US" altLang="zh-TW" dirty="0"/>
          </a:p>
          <a:p>
            <a:r>
              <a:rPr lang="en-US" altLang="zh-TW" dirty="0"/>
              <a:t>Enhance throughput, lower memory bandwidth</a:t>
            </a:r>
          </a:p>
          <a:p>
            <a:r>
              <a:rPr lang="en-US" altLang="zh-TW" dirty="0"/>
              <a:t>Reduce quantization error by “scaling”</a:t>
            </a: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9229FCF-2FA0-49A0-A935-E57F8E7CC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667219"/>
            <a:ext cx="8096249" cy="3614245"/>
          </a:xfrm>
          <a:prstGeom prst="rect">
            <a:avLst/>
          </a:prstGeom>
        </p:spPr>
      </p:pic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5F97D3A6-AF6E-4CA9-ACD6-F60E9BEE0FE7}"/>
              </a:ext>
            </a:extLst>
          </p:cNvPr>
          <p:cNvSpPr txBox="1">
            <a:spLocks/>
          </p:cNvSpPr>
          <p:nvPr/>
        </p:nvSpPr>
        <p:spPr bwMode="auto">
          <a:xfrm>
            <a:off x="609600" y="6247112"/>
            <a:ext cx="10972800" cy="472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  <a:cs typeface="微軟正黑體" panose="020B0604030504040204" pitchFamily="34" charset="-12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>
                <a:solidFill>
                  <a:srgbClr val="376092"/>
                </a:solidFill>
                <a:latin typeface="+mn-lt"/>
                <a:ea typeface="微軟正黑體" panose="020B0604030504040204" pitchFamily="34" charset="-120"/>
                <a:cs typeface="微軟正黑體" panose="020B0604030504040204" pitchFamily="34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rgbClr val="4F6228"/>
                </a:solidFill>
                <a:latin typeface="+mn-lt"/>
                <a:ea typeface="微軟正黑體" panose="020B0604030504040204" pitchFamily="34" charset="-120"/>
                <a:cs typeface="微軟正黑體" panose="020B0604030504040204" pitchFamily="34" charset="-12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rgbClr val="953735"/>
                </a:solidFill>
                <a:latin typeface="+mn-lt"/>
                <a:ea typeface="微軟正黑體" panose="020B0604030504040204" pitchFamily="34" charset="-120"/>
                <a:cs typeface="微軟正黑體" panose="020B0604030504040204" pitchFamily="34" charset="-12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rgbClr val="E46C0A"/>
                </a:solidFill>
                <a:latin typeface="+mn-lt"/>
                <a:ea typeface="微軟正黑體" panose="020B0604030504040204" pitchFamily="34" charset="-120"/>
                <a:cs typeface="微軟正黑體" panose="020B0604030504040204" pitchFamily="34" charset="-12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zh-TW" altLang="en-US" sz="1800" dirty="0"/>
              <a:t>參考資料</a:t>
            </a:r>
            <a:r>
              <a:rPr lang="en-US" altLang="zh-TW" sz="1800" dirty="0"/>
              <a:t>:</a:t>
            </a:r>
            <a:r>
              <a:rPr lang="zh-TW" altLang="en-US" sz="1800" dirty="0"/>
              <a:t> </a:t>
            </a:r>
            <a:r>
              <a:rPr lang="en-US" altLang="zh-TW" sz="1800" dirty="0">
                <a:hlinkClick r:id="rId3"/>
              </a:rPr>
              <a:t>https://developer.nvidia.cn/blog/introducing-nvfp4-for-efficient-and-accurate-low-precision-inference/</a:t>
            </a:r>
            <a:endParaRPr lang="en-US" altLang="zh-TW" sz="1800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754797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8AC83-1082-E9ED-AAA8-4D6BA5EB2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642D30-2997-7052-7CC1-3B075E767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NVFP4-like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6B55AB1-50DF-8E42-A2C2-16073A5550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078350"/>
                <a:ext cx="11197897" cy="5279589"/>
              </a:xfrm>
            </p:spPr>
            <p:txBody>
              <a:bodyPr/>
              <a:lstStyle/>
              <a:p>
                <a:r>
                  <a:rPr lang="zh-TW" altLang="en-US" dirty="0"/>
                  <a:t>為了讓同學更簡單地實作 </a:t>
                </a:r>
                <a:r>
                  <a:rPr lang="en-US" altLang="zh-TW" dirty="0"/>
                  <a:t>NVFP4</a:t>
                </a:r>
                <a:r>
                  <a:rPr lang="zh-TW" altLang="en-US" dirty="0"/>
                  <a:t> ，採用 </a:t>
                </a:r>
                <a:r>
                  <a:rPr lang="en-US" altLang="zh-TW" dirty="0"/>
                  <a:t>NVFP4-like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(FP32 </a:t>
                </a:r>
                <a:r>
                  <a:rPr lang="en-US" altLang="zh-TW" dirty="0">
                    <a:sym typeface="Wingdings" panose="05000000000000000000" pitchFamily="2" charset="2"/>
                  </a:rPr>
                  <a:t> bfloat16</a:t>
                </a:r>
                <a:r>
                  <a:rPr lang="en-US" altLang="zh-TW" dirty="0"/>
                  <a:t>)</a:t>
                </a:r>
              </a:p>
              <a:p>
                <a:r>
                  <a:rPr lang="zh-TW" altLang="en-US" dirty="0"/>
                  <a:t>計算過程中不含 </a:t>
                </a:r>
                <a:r>
                  <a:rPr lang="en-US" altLang="zh-TW" dirty="0"/>
                  <a:t>subnormal / </a:t>
                </a:r>
                <a:r>
                  <a:rPr lang="en-US" altLang="zh-TW" dirty="0" err="1"/>
                  <a:t>NaN</a:t>
                </a:r>
                <a:r>
                  <a:rPr lang="en-US" altLang="zh-TW" dirty="0"/>
                  <a:t> / Inf</a:t>
                </a:r>
                <a:r>
                  <a:rPr lang="zh-TW" altLang="en-US" dirty="0"/>
                  <a:t>，也就是 </a:t>
                </a:r>
                <a:r>
                  <a:rPr lang="en-US" altLang="zh-TW" dirty="0"/>
                  <a:t>E </a:t>
                </a:r>
                <a:r>
                  <a:rPr lang="zh-TW" altLang="en-US" dirty="0"/>
                  <a:t>不會全為 </a:t>
                </a:r>
                <a:r>
                  <a:rPr lang="en-US" altLang="zh-TW" dirty="0"/>
                  <a:t>0</a:t>
                </a:r>
                <a:r>
                  <a:rPr lang="zh-TW" altLang="en-US" dirty="0"/>
                  <a:t> 或全為 </a:t>
                </a:r>
                <a:r>
                  <a:rPr lang="en-US" altLang="zh-TW" dirty="0"/>
                  <a:t>1</a:t>
                </a:r>
              </a:p>
              <a:p>
                <a:r>
                  <a:rPr lang="en-US" altLang="zh-TW" dirty="0" err="1">
                    <a:solidFill>
                      <a:srgbClr val="FF0000"/>
                    </a:solidFill>
                  </a:rPr>
                  <a:t>x</a:t>
                </a:r>
                <a:r>
                  <a:rPr lang="en-US" altLang="zh-TW" baseline="-25000" dirty="0" err="1">
                    <a:solidFill>
                      <a:srgbClr val="FF0000"/>
                    </a:solidFill>
                  </a:rPr>
                  <a:t>real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</m:oMath>
                </a14:m>
                <a:r>
                  <a:rPr lang="en-US" altLang="zh-TW" dirty="0">
                    <a:solidFill>
                      <a:srgbClr val="FF0000"/>
                    </a:solidFill>
                  </a:rPr>
                  <a:t> (x</a:t>
                </a:r>
                <a:r>
                  <a:rPr lang="en-US" altLang="zh-TW" baseline="-25000" dirty="0">
                    <a:solidFill>
                      <a:srgbClr val="FF0000"/>
                    </a:solidFill>
                  </a:rPr>
                  <a:t>FP4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) * (factor</a:t>
                </a:r>
                <a:r>
                  <a:rPr lang="en-US" altLang="zh-TW" baseline="-25000" dirty="0">
                    <a:solidFill>
                      <a:srgbClr val="FF0000"/>
                    </a:solidFill>
                  </a:rPr>
                  <a:t>FP8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) * (factor</a:t>
                </a:r>
                <a:r>
                  <a:rPr lang="en-US" altLang="zh-TW" baseline="-25000" dirty="0">
                    <a:solidFill>
                      <a:srgbClr val="FF0000"/>
                    </a:solidFill>
                  </a:rPr>
                  <a:t>bfloat16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)</a:t>
                </a: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6B55AB1-50DF-8E42-A2C2-16073A5550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078350"/>
                <a:ext cx="11197897" cy="5279589"/>
              </a:xfrm>
              <a:blipFill>
                <a:blip r:embed="rId2"/>
                <a:stretch>
                  <a:fillRect l="-980" t="-1501" r="-2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圖片 6">
            <a:extLst>
              <a:ext uri="{FF2B5EF4-FFF2-40B4-BE49-F238E27FC236}">
                <a16:creationId xmlns:a16="http://schemas.microsoft.com/office/drawing/2014/main" id="{5CCF2D31-DDB5-46FE-A07D-C6D11B28E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724151"/>
            <a:ext cx="8662154" cy="3866872"/>
          </a:xfrm>
          <a:prstGeom prst="rect">
            <a:avLst/>
          </a:prstGeom>
        </p:spPr>
      </p:pic>
      <p:sp>
        <p:nvSpPr>
          <p:cNvPr id="8" name="橢圓 7">
            <a:extLst>
              <a:ext uri="{FF2B5EF4-FFF2-40B4-BE49-F238E27FC236}">
                <a16:creationId xmlns:a16="http://schemas.microsoft.com/office/drawing/2014/main" id="{C0977351-30DE-4725-975D-92C2B70026D7}"/>
              </a:ext>
            </a:extLst>
          </p:cNvPr>
          <p:cNvSpPr/>
          <p:nvPr/>
        </p:nvSpPr>
        <p:spPr>
          <a:xfrm>
            <a:off x="6610350" y="4261996"/>
            <a:ext cx="2661404" cy="76329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D787D20-3F52-4D4E-98BD-63329529D21C}"/>
              </a:ext>
            </a:extLst>
          </p:cNvPr>
          <p:cNvSpPr txBox="1"/>
          <p:nvPr/>
        </p:nvSpPr>
        <p:spPr>
          <a:xfrm>
            <a:off x="8019722" y="3123742"/>
            <a:ext cx="3787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本次實作中，此部分改用 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bfloat16</a:t>
            </a:r>
            <a:endParaRPr lang="zh-TW" altLang="en-US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57082D15-4752-49A2-8E16-F22969574282}"/>
              </a:ext>
            </a:extLst>
          </p:cNvPr>
          <p:cNvCxnSpPr>
            <a:cxnSpLocks/>
          </p:cNvCxnSpPr>
          <p:nvPr/>
        </p:nvCxnSpPr>
        <p:spPr>
          <a:xfrm flipV="1">
            <a:off x="8956799" y="3499782"/>
            <a:ext cx="539626" cy="85508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6143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54A2-5C67-C83D-D21E-2920BAE48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9D6DC0-D7DD-D164-D886-FBD50AD4E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NVFP4-like – </a:t>
            </a:r>
            <a:r>
              <a:rPr lang="zh-TW" altLang="en-US" dirty="0"/>
              <a:t>加法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ABB3B1-625F-A3DF-8EEA-F05D11D4E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78350"/>
            <a:ext cx="10972800" cy="527482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將 </a:t>
            </a:r>
            <a:r>
              <a:rPr lang="en-US" altLang="zh-TW" dirty="0"/>
              <a:t>input</a:t>
            </a:r>
            <a:r>
              <a:rPr lang="en-US" altLang="zh-TW" baseline="-25000" dirty="0"/>
              <a:t>FP4</a:t>
            </a:r>
            <a:r>
              <a:rPr lang="en-US" altLang="zh-TW" dirty="0"/>
              <a:t> </a:t>
            </a:r>
            <a:r>
              <a:rPr lang="zh-TW" altLang="en-US" dirty="0"/>
              <a:t>換成 </a:t>
            </a:r>
            <a:r>
              <a:rPr lang="en-US" altLang="zh-TW" dirty="0"/>
              <a:t>input</a:t>
            </a:r>
            <a:r>
              <a:rPr lang="en-US" altLang="zh-TW" baseline="-25000" dirty="0"/>
              <a:t>bfloat16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將 </a:t>
            </a:r>
            <a:r>
              <a:rPr lang="en-US" altLang="zh-TW" dirty="0"/>
              <a:t>factor</a:t>
            </a:r>
            <a:r>
              <a:rPr lang="en-US" altLang="zh-TW" baseline="-25000" dirty="0"/>
              <a:t>1, FP8</a:t>
            </a:r>
            <a:r>
              <a:rPr lang="zh-TW" altLang="en-US" dirty="0"/>
              <a:t> 換成 </a:t>
            </a:r>
            <a:r>
              <a:rPr lang="en-US" altLang="zh-TW" dirty="0"/>
              <a:t>factor</a:t>
            </a:r>
            <a:r>
              <a:rPr lang="en-US" altLang="zh-TW" baseline="-25000" dirty="0"/>
              <a:t>1, bfloat16 </a:t>
            </a:r>
            <a:r>
              <a:rPr lang="zh-TW" altLang="en-US" dirty="0"/>
              <a:t>，並乘上 </a:t>
            </a:r>
            <a:r>
              <a:rPr lang="en-US" altLang="zh-TW" dirty="0"/>
              <a:t>input</a:t>
            </a:r>
            <a:r>
              <a:rPr lang="en-US" altLang="zh-TW" baseline="-25000" dirty="0"/>
              <a:t>bfloat16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再乘上 </a:t>
            </a:r>
            <a:r>
              <a:rPr lang="en-US" altLang="zh-TW" dirty="0"/>
              <a:t>factor</a:t>
            </a:r>
            <a:r>
              <a:rPr lang="en-US" altLang="zh-TW" baseline="-25000" dirty="0"/>
              <a:t>2, bfloat16</a:t>
            </a:r>
            <a:r>
              <a:rPr lang="zh-TW" altLang="en-US" dirty="0"/>
              <a:t> 得到 </a:t>
            </a:r>
            <a:r>
              <a:rPr lang="en-US" altLang="zh-TW" dirty="0" err="1"/>
              <a:t>input</a:t>
            </a:r>
            <a:r>
              <a:rPr lang="en-US" altLang="zh-TW" baseline="-25000" dirty="0" err="1"/>
              <a:t>real</a:t>
            </a:r>
            <a:r>
              <a:rPr lang="en-US" altLang="zh-TW" baseline="-25000" dirty="0"/>
              <a:t>, bfloat16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>
                <a:sym typeface="Wingdings" panose="05000000000000000000" pitchFamily="2" charset="2"/>
              </a:rPr>
              <a:t>還原成 </a:t>
            </a:r>
            <a:r>
              <a:rPr lang="en-US" altLang="zh-TW" dirty="0">
                <a:sym typeface="Wingdings" panose="05000000000000000000" pitchFamily="2" charset="2"/>
              </a:rPr>
              <a:t>1.Fraction (8-bit)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對齊小數點 </a:t>
            </a:r>
            <a:r>
              <a:rPr lang="en-US" altLang="zh-TW" dirty="0"/>
              <a:t>(right shift</a:t>
            </a:r>
            <a:r>
              <a:rPr lang="zh-TW" altLang="en-US" dirty="0"/>
              <a:t> 小的數，對齊大的數</a:t>
            </a:r>
            <a:r>
              <a:rPr lang="en-US" altLang="zh-TW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對齊後把 </a:t>
            </a:r>
            <a:r>
              <a:rPr lang="en-US" altLang="zh-TW" dirty="0"/>
              <a:t>significand </a:t>
            </a:r>
            <a:r>
              <a:rPr lang="zh-TW" altLang="en-US" dirty="0"/>
              <a:t>轉成二補數 </a:t>
            </a:r>
            <a:r>
              <a:rPr lang="en-US" altLang="zh-TW" dirty="0"/>
              <a:t>(</a:t>
            </a:r>
            <a:r>
              <a:rPr lang="zh-TW" altLang="en-US" dirty="0"/>
              <a:t>依 </a:t>
            </a:r>
            <a:r>
              <a:rPr lang="en-US" altLang="zh-TW" dirty="0"/>
              <a:t>sign </a:t>
            </a:r>
            <a:r>
              <a:rPr lang="zh-TW" altLang="en-US" dirty="0"/>
              <a:t>決定是否取補數</a:t>
            </a:r>
            <a:r>
              <a:rPr lang="en-US" altLang="zh-TW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sum = a + b</a:t>
            </a:r>
          </a:p>
          <a:p>
            <a:pPr marL="914400" lvl="1" indent="-514350">
              <a:buFont typeface="+mj-lt"/>
              <a:buAutoNum type="arabicPeriod"/>
            </a:pPr>
            <a:r>
              <a:rPr lang="zh-TW" altLang="en-US" dirty="0"/>
              <a:t>判斷正負，可得 </a:t>
            </a:r>
            <a:r>
              <a:rPr lang="en-US" altLang="zh-TW" dirty="0"/>
              <a:t>Sign</a:t>
            </a:r>
          </a:p>
          <a:p>
            <a:pPr marL="914400" lvl="1" indent="-514350">
              <a:buFont typeface="+mj-lt"/>
              <a:buAutoNum type="arabicPeriod"/>
            </a:pPr>
            <a:r>
              <a:rPr lang="zh-TW" altLang="en-US" dirty="0"/>
              <a:t>找到第一個 </a:t>
            </a:r>
            <a:r>
              <a:rPr lang="en-US" altLang="zh-TW" dirty="0"/>
              <a:t>1 </a:t>
            </a:r>
            <a:r>
              <a:rPr lang="zh-TW" altLang="en-US" dirty="0"/>
              <a:t>的位置，四捨五入，可得 </a:t>
            </a:r>
            <a:r>
              <a:rPr lang="en-US" altLang="zh-TW" dirty="0"/>
              <a:t>Fraction</a:t>
            </a:r>
          </a:p>
          <a:p>
            <a:pPr marL="914400" lvl="1" indent="-514350">
              <a:buFont typeface="+mj-lt"/>
              <a:buAutoNum type="arabicPeriod"/>
            </a:pPr>
            <a:r>
              <a:rPr lang="zh-TW" altLang="en-US" dirty="0"/>
              <a:t>根據小數點移動多少，就把大的數的 </a:t>
            </a:r>
            <a:r>
              <a:rPr lang="en-US" altLang="zh-TW" dirty="0"/>
              <a:t>Exponent </a:t>
            </a:r>
            <a:r>
              <a:rPr lang="zh-TW" altLang="en-US" dirty="0"/>
              <a:t>加減多少</a:t>
            </a:r>
            <a:endParaRPr lang="en-US" altLang="zh-TW" dirty="0"/>
          </a:p>
          <a:p>
            <a:pPr marL="914400" lvl="1" indent="-514350">
              <a:buFont typeface="+mj-lt"/>
              <a:buAutoNum type="arabicPeriod"/>
            </a:pP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30924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54A2-5C67-C83D-D21E-2920BAE48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9D6DC0-D7DD-D164-D886-FBD50AD4E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NVFP4-like – </a:t>
            </a:r>
            <a:r>
              <a:rPr lang="zh-TW" altLang="en-US" dirty="0"/>
              <a:t>加法</a:t>
            </a:r>
            <a:r>
              <a:rPr lang="en-US" altLang="zh-TW" dirty="0"/>
              <a:t> example1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ABB3B1-625F-A3DF-8EEA-F05D11D4E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8" y="1078350"/>
            <a:ext cx="11582401" cy="5505012"/>
          </a:xfrm>
        </p:spPr>
        <p:txBody>
          <a:bodyPr>
            <a:normAutofit lnSpcReduction="10000"/>
          </a:bodyPr>
          <a:lstStyle/>
          <a:p>
            <a:r>
              <a:rPr lang="en-US" altLang="zh-TW" dirty="0"/>
              <a:t>FP4 of a = 0 01 1; FP4 of b = 0 11 1</a:t>
            </a:r>
          </a:p>
          <a:p>
            <a:r>
              <a:rPr lang="en-US" altLang="zh-TW" dirty="0"/>
              <a:t>scale factor of a = 0 1001 010; scale factor of b = 0 0101 100</a:t>
            </a:r>
          </a:p>
          <a:p>
            <a:r>
              <a:rPr lang="en-US" altLang="zh-TW" dirty="0"/>
              <a:t>scale factor of bfloat16 = 0 10000001 1010000</a:t>
            </a:r>
          </a:p>
          <a:p>
            <a:pPr marL="0" indent="0">
              <a:buNone/>
            </a:pPr>
            <a:r>
              <a:rPr lang="en-US" altLang="zh-TW" dirty="0"/>
              <a:t>   (real a) + (real b)</a:t>
            </a:r>
          </a:p>
          <a:p>
            <a:pPr marL="0" indent="0">
              <a:buNone/>
            </a:pPr>
            <a:r>
              <a:rPr lang="en-US" altLang="zh-TW" dirty="0"/>
              <a:t>= [ (1.1 * 2</a:t>
            </a:r>
            <a:r>
              <a:rPr lang="en-US" altLang="zh-TW" baseline="30000" dirty="0"/>
              <a:t>(1-1)</a:t>
            </a:r>
            <a:r>
              <a:rPr lang="en-US" altLang="zh-TW" dirty="0"/>
              <a:t>) * (1.01 * 2</a:t>
            </a:r>
            <a:r>
              <a:rPr lang="en-US" altLang="zh-TW" baseline="30000" dirty="0"/>
              <a:t>(9-7)</a:t>
            </a:r>
            <a:r>
              <a:rPr lang="en-US" altLang="zh-TW" dirty="0"/>
              <a:t>) + (1.1 * 2</a:t>
            </a:r>
            <a:r>
              <a:rPr lang="en-US" altLang="zh-TW" baseline="30000" dirty="0"/>
              <a:t>(3-1)</a:t>
            </a:r>
            <a:r>
              <a:rPr lang="en-US" altLang="zh-TW" dirty="0"/>
              <a:t>) * (1.1 * 2</a:t>
            </a:r>
            <a:r>
              <a:rPr lang="en-US" altLang="zh-TW" baseline="30000" dirty="0"/>
              <a:t>(5-7)</a:t>
            </a:r>
            <a:r>
              <a:rPr lang="en-US" altLang="zh-TW" dirty="0"/>
              <a:t>) ] * (1.101 * 2</a:t>
            </a:r>
            <a:r>
              <a:rPr lang="en-US" altLang="zh-TW" baseline="30000" dirty="0"/>
              <a:t>(129-127)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r>
              <a:rPr lang="en-US" altLang="zh-TW" dirty="0"/>
              <a:t>= [ 1.111 * 2</a:t>
            </a:r>
            <a:r>
              <a:rPr lang="en-US" altLang="zh-TW" baseline="30000" dirty="0"/>
              <a:t>2</a:t>
            </a:r>
            <a:r>
              <a:rPr lang="en-US" altLang="zh-TW" dirty="0"/>
              <a:t> + 10.01 * 2</a:t>
            </a:r>
            <a:r>
              <a:rPr lang="en-US" altLang="zh-TW" baseline="30000" dirty="0"/>
              <a:t>0</a:t>
            </a:r>
            <a:r>
              <a:rPr lang="en-US" altLang="zh-TW" dirty="0"/>
              <a:t> ] * ( 1.101 * 2</a:t>
            </a:r>
            <a:r>
              <a:rPr lang="en-US" altLang="zh-TW" baseline="30000" dirty="0"/>
              <a:t>2</a:t>
            </a:r>
            <a:r>
              <a:rPr lang="en-US" altLang="zh-TW" dirty="0"/>
              <a:t> )</a:t>
            </a:r>
          </a:p>
          <a:p>
            <a:pPr marL="0" indent="0">
              <a:buNone/>
            </a:pPr>
            <a:r>
              <a:rPr lang="en-US" altLang="zh-TW" dirty="0"/>
              <a:t>= [ 1.111 * 2</a:t>
            </a:r>
            <a:r>
              <a:rPr lang="en-US" altLang="zh-TW" baseline="30000" dirty="0"/>
              <a:t>2</a:t>
            </a:r>
            <a:r>
              <a:rPr lang="en-US" altLang="zh-TW" dirty="0"/>
              <a:t> + 0.1001 * 2</a:t>
            </a:r>
            <a:r>
              <a:rPr lang="en-US" altLang="zh-TW" baseline="30000" dirty="0"/>
              <a:t>2</a:t>
            </a:r>
            <a:r>
              <a:rPr lang="en-US" altLang="zh-TW" dirty="0"/>
              <a:t> ] * ( 1.101 * 2</a:t>
            </a:r>
            <a:r>
              <a:rPr lang="en-US" altLang="zh-TW" baseline="30000" dirty="0"/>
              <a:t>2</a:t>
            </a:r>
            <a:r>
              <a:rPr lang="en-US" altLang="zh-TW" dirty="0"/>
              <a:t> )</a:t>
            </a:r>
          </a:p>
          <a:p>
            <a:pPr marL="0" indent="0">
              <a:buNone/>
            </a:pPr>
            <a:r>
              <a:rPr lang="en-US" altLang="zh-TW" dirty="0"/>
              <a:t>= ( 10.0111 * 2</a:t>
            </a:r>
            <a:r>
              <a:rPr lang="en-US" altLang="zh-TW" baseline="30000" dirty="0"/>
              <a:t>2</a:t>
            </a:r>
            <a:r>
              <a:rPr lang="en-US" altLang="zh-TW" dirty="0"/>
              <a:t> ) * ( 1.101 * 2</a:t>
            </a:r>
            <a:r>
              <a:rPr lang="en-US" altLang="zh-TW" baseline="30000" dirty="0"/>
              <a:t>2</a:t>
            </a:r>
            <a:r>
              <a:rPr lang="en-US" altLang="zh-TW" dirty="0"/>
              <a:t> )</a:t>
            </a:r>
          </a:p>
          <a:p>
            <a:pPr marL="0" indent="0">
              <a:buNone/>
            </a:pPr>
            <a:r>
              <a:rPr lang="en-US" altLang="zh-TW" dirty="0"/>
              <a:t>= 11.1111011 * 2</a:t>
            </a:r>
            <a:r>
              <a:rPr lang="en-US" altLang="zh-TW" baseline="30000" dirty="0"/>
              <a:t>4</a:t>
            </a:r>
          </a:p>
          <a:p>
            <a:pPr marL="0" indent="0">
              <a:buNone/>
            </a:pPr>
            <a:r>
              <a:rPr lang="en-US" altLang="zh-TW" dirty="0"/>
              <a:t>= 1.</a:t>
            </a:r>
            <a:r>
              <a:rPr lang="en-US" altLang="zh-TW" dirty="0">
                <a:solidFill>
                  <a:srgbClr val="00B0F0"/>
                </a:solidFill>
              </a:rPr>
              <a:t>1111101</a:t>
            </a:r>
            <a:r>
              <a:rPr lang="en-US" altLang="zh-TW" dirty="0"/>
              <a:t>1 * 2</a:t>
            </a:r>
            <a:r>
              <a:rPr lang="en-US" altLang="zh-TW" baseline="30000" dirty="0"/>
              <a:t>(</a:t>
            </a:r>
            <a:r>
              <a:rPr lang="en-US" altLang="zh-TW" baseline="30000" dirty="0">
                <a:solidFill>
                  <a:srgbClr val="00B050"/>
                </a:solidFill>
              </a:rPr>
              <a:t>132</a:t>
            </a:r>
            <a:r>
              <a:rPr lang="en-US" altLang="zh-TW" baseline="30000" dirty="0"/>
              <a:t>-127)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>
                <a:sym typeface="Wingdings" panose="05000000000000000000" pitchFamily="2" charset="2"/>
              </a:rPr>
              <a:t> </a:t>
            </a:r>
            <a:r>
              <a:rPr lang="en-US" altLang="zh-TW" dirty="0">
                <a:solidFill>
                  <a:srgbClr val="FF0000"/>
                </a:solidFill>
                <a:sym typeface="Wingdings" panose="05000000000000000000" pitchFamily="2" charset="2"/>
              </a:rPr>
              <a:t>1</a:t>
            </a:r>
            <a:r>
              <a:rPr lang="en-US" altLang="zh-TW" dirty="0">
                <a:sym typeface="Wingdings" panose="05000000000000000000" pitchFamily="2" charset="2"/>
              </a:rPr>
              <a:t> </a:t>
            </a:r>
            <a:r>
              <a:rPr lang="en-US" altLang="zh-TW" dirty="0">
                <a:solidFill>
                  <a:srgbClr val="00B050"/>
                </a:solidFill>
                <a:sym typeface="Wingdings" panose="05000000000000000000" pitchFamily="2" charset="2"/>
              </a:rPr>
              <a:t>10000100</a:t>
            </a:r>
            <a:r>
              <a:rPr lang="en-US" altLang="zh-TW" dirty="0">
                <a:sym typeface="Wingdings" panose="05000000000000000000" pitchFamily="2" charset="2"/>
              </a:rPr>
              <a:t> </a:t>
            </a:r>
            <a:r>
              <a:rPr lang="en-US" altLang="zh-TW" dirty="0">
                <a:solidFill>
                  <a:srgbClr val="00B0F0"/>
                </a:solidFill>
                <a:sym typeface="Wingdings" panose="05000000000000000000" pitchFamily="2" charset="2"/>
              </a:rPr>
              <a:t>1111101</a:t>
            </a:r>
            <a:endParaRPr lang="en-US" altLang="zh-TW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672842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54A2-5C67-C83D-D21E-2920BAE48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9D6DC0-D7DD-D164-D886-FBD50AD4E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NVFP4-like – </a:t>
            </a:r>
            <a:r>
              <a:rPr lang="zh-TW" altLang="en-US" dirty="0"/>
              <a:t>加法</a:t>
            </a:r>
            <a:r>
              <a:rPr lang="en-US" altLang="zh-TW" dirty="0"/>
              <a:t> example2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ABB3B1-625F-A3DF-8EEA-F05D11D4E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8" y="1078350"/>
            <a:ext cx="11582401" cy="5665350"/>
          </a:xfrm>
        </p:spPr>
        <p:txBody>
          <a:bodyPr>
            <a:normAutofit lnSpcReduction="10000"/>
          </a:bodyPr>
          <a:lstStyle/>
          <a:p>
            <a:r>
              <a:rPr lang="en-US" altLang="zh-TW" dirty="0"/>
              <a:t>FP4 of a = 0 01 1; FP4 of b = 0 11 1</a:t>
            </a:r>
          </a:p>
          <a:p>
            <a:r>
              <a:rPr lang="en-US" altLang="zh-TW" dirty="0"/>
              <a:t>scale factor of a = 1 1001 010; scale factor of b = 0 0101 100</a:t>
            </a:r>
          </a:p>
          <a:p>
            <a:r>
              <a:rPr lang="en-US" altLang="zh-TW" dirty="0"/>
              <a:t>scale factor of bfloat16 = 0 10000001 1010000</a:t>
            </a:r>
          </a:p>
          <a:p>
            <a:pPr marL="0" indent="0">
              <a:buNone/>
            </a:pPr>
            <a:r>
              <a:rPr lang="en-US" altLang="zh-TW" dirty="0"/>
              <a:t>   (real a) + (real b)</a:t>
            </a:r>
          </a:p>
          <a:p>
            <a:pPr marL="0" indent="0">
              <a:buNone/>
            </a:pPr>
            <a:r>
              <a:rPr lang="en-US" altLang="zh-TW" dirty="0"/>
              <a:t>= [ (1.1 * 2</a:t>
            </a:r>
            <a:r>
              <a:rPr lang="en-US" altLang="zh-TW" baseline="30000" dirty="0"/>
              <a:t>(1-1)</a:t>
            </a:r>
            <a:r>
              <a:rPr lang="en-US" altLang="zh-TW" dirty="0"/>
              <a:t>) * (-1.01 * 2</a:t>
            </a:r>
            <a:r>
              <a:rPr lang="en-US" altLang="zh-TW" baseline="30000" dirty="0"/>
              <a:t>(9-7)</a:t>
            </a:r>
            <a:r>
              <a:rPr lang="en-US" altLang="zh-TW" dirty="0"/>
              <a:t>) + (1.1 * 2</a:t>
            </a:r>
            <a:r>
              <a:rPr lang="en-US" altLang="zh-TW" baseline="30000" dirty="0"/>
              <a:t>(3-1)</a:t>
            </a:r>
            <a:r>
              <a:rPr lang="en-US" altLang="zh-TW" dirty="0"/>
              <a:t>) * (1.1 * 2</a:t>
            </a:r>
            <a:r>
              <a:rPr lang="en-US" altLang="zh-TW" baseline="30000" dirty="0"/>
              <a:t>(5-7)</a:t>
            </a:r>
            <a:r>
              <a:rPr lang="en-US" altLang="zh-TW" dirty="0"/>
              <a:t>) ] * (1.101 * 2</a:t>
            </a:r>
            <a:r>
              <a:rPr lang="en-US" altLang="zh-TW" baseline="30000" dirty="0"/>
              <a:t>(129-127)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r>
              <a:rPr lang="en-US" altLang="zh-TW" dirty="0"/>
              <a:t>= [ </a:t>
            </a:r>
            <a:r>
              <a:rPr lang="en-US" altLang="zh-TW" dirty="0">
                <a:highlight>
                  <a:srgbClr val="FFFF00"/>
                </a:highlight>
              </a:rPr>
              <a:t>-1.111</a:t>
            </a:r>
            <a:r>
              <a:rPr lang="en-US" altLang="zh-TW" dirty="0"/>
              <a:t> * 2</a:t>
            </a:r>
            <a:r>
              <a:rPr lang="en-US" altLang="zh-TW" baseline="30000" dirty="0"/>
              <a:t>2</a:t>
            </a:r>
            <a:r>
              <a:rPr lang="en-US" altLang="zh-TW" dirty="0"/>
              <a:t> + 10.01 * 2</a:t>
            </a:r>
            <a:r>
              <a:rPr lang="en-US" altLang="zh-TW" baseline="30000" dirty="0"/>
              <a:t>0</a:t>
            </a:r>
            <a:r>
              <a:rPr lang="en-US" altLang="zh-TW" dirty="0"/>
              <a:t> ] * (1.101 * 2</a:t>
            </a:r>
            <a:r>
              <a:rPr lang="en-US" altLang="zh-TW" baseline="30000" dirty="0"/>
              <a:t>2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r>
              <a:rPr lang="en-US" altLang="zh-TW" dirty="0">
                <a:sym typeface="Wingdings" panose="05000000000000000000" pitchFamily="2" charset="2"/>
              </a:rPr>
              <a:t></a:t>
            </a:r>
            <a:r>
              <a:rPr lang="en-US" altLang="zh-TW" dirty="0"/>
              <a:t> [ </a:t>
            </a:r>
            <a:r>
              <a:rPr lang="en-US" altLang="zh-TW" dirty="0">
                <a:highlight>
                  <a:srgbClr val="FFFF00"/>
                </a:highlight>
              </a:rPr>
              <a:t>10.001</a:t>
            </a:r>
            <a:r>
              <a:rPr lang="en-US" altLang="zh-TW" dirty="0"/>
              <a:t> * 2</a:t>
            </a:r>
            <a:r>
              <a:rPr lang="en-US" altLang="zh-TW" baseline="30000" dirty="0"/>
              <a:t>2</a:t>
            </a:r>
            <a:r>
              <a:rPr lang="en-US" altLang="zh-TW" dirty="0"/>
              <a:t> + 0.1001 * 2</a:t>
            </a:r>
            <a:r>
              <a:rPr lang="en-US" altLang="zh-TW" baseline="30000" dirty="0"/>
              <a:t>2</a:t>
            </a:r>
            <a:r>
              <a:rPr lang="en-US" altLang="zh-TW" dirty="0"/>
              <a:t> ] * (1.101 * 2</a:t>
            </a:r>
            <a:r>
              <a:rPr lang="en-US" altLang="zh-TW" baseline="30000" dirty="0"/>
              <a:t>2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r>
              <a:rPr lang="en-US" altLang="zh-TW" dirty="0"/>
              <a:t>= ( </a:t>
            </a:r>
            <a:r>
              <a:rPr lang="en-US" altLang="zh-TW" dirty="0">
                <a:highlight>
                  <a:srgbClr val="00FFFF"/>
                </a:highlight>
              </a:rPr>
              <a:t>10.1011</a:t>
            </a:r>
            <a:r>
              <a:rPr lang="en-US" altLang="zh-TW" dirty="0"/>
              <a:t> * 2</a:t>
            </a:r>
            <a:r>
              <a:rPr lang="en-US" altLang="zh-TW" baseline="30000" dirty="0"/>
              <a:t>2</a:t>
            </a:r>
            <a:r>
              <a:rPr lang="en-US" altLang="zh-TW" dirty="0"/>
              <a:t>) * (1.101 * 2</a:t>
            </a:r>
            <a:r>
              <a:rPr lang="en-US" altLang="zh-TW" baseline="30000" dirty="0"/>
              <a:t>2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r>
              <a:rPr lang="en-US" altLang="zh-TW" dirty="0">
                <a:sym typeface="Wingdings" panose="05000000000000000000" pitchFamily="2" charset="2"/>
              </a:rPr>
              <a:t></a:t>
            </a:r>
            <a:r>
              <a:rPr lang="en-US" altLang="zh-TW" dirty="0"/>
              <a:t> </a:t>
            </a:r>
            <a:r>
              <a:rPr lang="en-US" altLang="zh-TW" dirty="0">
                <a:highlight>
                  <a:srgbClr val="00FFFF"/>
                </a:highlight>
              </a:rPr>
              <a:t>-1 * 1.0101</a:t>
            </a:r>
            <a:r>
              <a:rPr lang="en-US" altLang="zh-TW" dirty="0"/>
              <a:t> * 1.101 *2</a:t>
            </a:r>
            <a:r>
              <a:rPr lang="en-US" altLang="zh-TW" baseline="30000" dirty="0"/>
              <a:t>4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= -1 * 10.0010001 * 2</a:t>
            </a:r>
            <a:r>
              <a:rPr lang="en-US" altLang="zh-TW" baseline="30000" dirty="0"/>
              <a:t>2</a:t>
            </a:r>
          </a:p>
          <a:p>
            <a:pPr marL="0" indent="0">
              <a:buNone/>
            </a:pPr>
            <a:r>
              <a:rPr lang="en-US" altLang="zh-TW" dirty="0"/>
              <a:t>= </a:t>
            </a:r>
            <a:r>
              <a:rPr lang="en-US" altLang="zh-TW" dirty="0">
                <a:solidFill>
                  <a:srgbClr val="FF0000"/>
                </a:solidFill>
              </a:rPr>
              <a:t>-1</a:t>
            </a:r>
            <a:r>
              <a:rPr lang="en-US" altLang="zh-TW" dirty="0"/>
              <a:t> * 1.</a:t>
            </a:r>
            <a:r>
              <a:rPr lang="en-US" altLang="zh-TW" dirty="0">
                <a:solidFill>
                  <a:srgbClr val="00B0F0"/>
                </a:solidFill>
              </a:rPr>
              <a:t>0001000</a:t>
            </a:r>
            <a:r>
              <a:rPr lang="en-US" altLang="zh-TW" dirty="0"/>
              <a:t>1 * 2</a:t>
            </a:r>
            <a:r>
              <a:rPr lang="en-US" altLang="zh-TW" baseline="30000" dirty="0"/>
              <a:t>(</a:t>
            </a:r>
            <a:r>
              <a:rPr lang="en-US" altLang="zh-TW" baseline="30000" dirty="0">
                <a:solidFill>
                  <a:srgbClr val="00B050"/>
                </a:solidFill>
              </a:rPr>
              <a:t>130</a:t>
            </a:r>
            <a:r>
              <a:rPr lang="en-US" altLang="zh-TW" baseline="30000" dirty="0"/>
              <a:t>-127)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>
                <a:sym typeface="Wingdings" panose="05000000000000000000" pitchFamily="2" charset="2"/>
              </a:rPr>
              <a:t> </a:t>
            </a:r>
            <a:r>
              <a:rPr lang="en-US" altLang="zh-TW" dirty="0">
                <a:solidFill>
                  <a:srgbClr val="FF0000"/>
                </a:solidFill>
                <a:sym typeface="Wingdings" panose="05000000000000000000" pitchFamily="2" charset="2"/>
              </a:rPr>
              <a:t>1</a:t>
            </a:r>
            <a:r>
              <a:rPr lang="en-US" altLang="zh-TW" dirty="0">
                <a:sym typeface="Wingdings" panose="05000000000000000000" pitchFamily="2" charset="2"/>
              </a:rPr>
              <a:t> </a:t>
            </a:r>
            <a:r>
              <a:rPr lang="en-US" altLang="zh-TW" dirty="0">
                <a:solidFill>
                  <a:srgbClr val="00B050"/>
                </a:solidFill>
                <a:sym typeface="Wingdings" panose="05000000000000000000" pitchFamily="2" charset="2"/>
              </a:rPr>
              <a:t>10000010</a:t>
            </a:r>
            <a:r>
              <a:rPr lang="en-US" altLang="zh-TW" dirty="0">
                <a:sym typeface="Wingdings" panose="05000000000000000000" pitchFamily="2" charset="2"/>
              </a:rPr>
              <a:t> </a:t>
            </a:r>
            <a:r>
              <a:rPr lang="en-US" altLang="zh-TW" dirty="0">
                <a:solidFill>
                  <a:srgbClr val="00B0F0"/>
                </a:solidFill>
                <a:sym typeface="Wingdings" panose="05000000000000000000" pitchFamily="2" charset="2"/>
              </a:rPr>
              <a:t>0001000</a:t>
            </a:r>
            <a:endParaRPr lang="en-US" altLang="zh-TW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US" altLang="zh-TW" dirty="0"/>
          </a:p>
        </p:txBody>
      </p:sp>
      <p:sp>
        <p:nvSpPr>
          <p:cNvPr id="4" name="箭號: 弧形左彎 3">
            <a:extLst>
              <a:ext uri="{FF2B5EF4-FFF2-40B4-BE49-F238E27FC236}">
                <a16:creationId xmlns:a16="http://schemas.microsoft.com/office/drawing/2014/main" id="{2E65EA2F-B6D9-4315-B67E-2BE3D76BCE80}"/>
              </a:ext>
            </a:extLst>
          </p:cNvPr>
          <p:cNvSpPr/>
          <p:nvPr/>
        </p:nvSpPr>
        <p:spPr>
          <a:xfrm>
            <a:off x="7377112" y="3630037"/>
            <a:ext cx="257175" cy="561975"/>
          </a:xfrm>
          <a:prstGeom prst="curved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2B30107-C3F1-44B5-83C4-5013E16A7635}"/>
              </a:ext>
            </a:extLst>
          </p:cNvPr>
          <p:cNvSpPr txBox="1"/>
          <p:nvPr/>
        </p:nvSpPr>
        <p:spPr>
          <a:xfrm>
            <a:off x="7791450" y="3726359"/>
            <a:ext cx="2705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加負數，先取補數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A022693-D998-4E64-B77B-0E2F1F9142A6}"/>
              </a:ext>
            </a:extLst>
          </p:cNvPr>
          <p:cNvSpPr txBox="1"/>
          <p:nvPr/>
        </p:nvSpPr>
        <p:spPr>
          <a:xfrm>
            <a:off x="5579268" y="4714736"/>
            <a:ext cx="4110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接下來要做乘法 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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取補數，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-1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拿出來</a:t>
            </a:r>
          </a:p>
        </p:txBody>
      </p:sp>
      <p:sp>
        <p:nvSpPr>
          <p:cNvPr id="7" name="箭號: 弧形左彎 6">
            <a:extLst>
              <a:ext uri="{FF2B5EF4-FFF2-40B4-BE49-F238E27FC236}">
                <a16:creationId xmlns:a16="http://schemas.microsoft.com/office/drawing/2014/main" id="{1687BE47-EC9D-4887-B824-685C45065714}"/>
              </a:ext>
            </a:extLst>
          </p:cNvPr>
          <p:cNvSpPr/>
          <p:nvPr/>
        </p:nvSpPr>
        <p:spPr>
          <a:xfrm>
            <a:off x="5224462" y="4618415"/>
            <a:ext cx="257175" cy="561975"/>
          </a:xfrm>
          <a:prstGeom prst="curved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9478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23FB0F-BF08-40EC-ACBC-3458CC374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bloat16 </a:t>
            </a:r>
            <a:r>
              <a:rPr lang="zh-TW" altLang="en-US" dirty="0"/>
              <a:t>加法 </a:t>
            </a:r>
            <a:r>
              <a:rPr lang="en-US" altLang="zh-TW" dirty="0"/>
              <a:t>Diagram</a:t>
            </a:r>
            <a:endParaRPr lang="zh-TW" altLang="en-US" dirty="0"/>
          </a:p>
        </p:txBody>
      </p:sp>
      <p:sp>
        <p:nvSpPr>
          <p:cNvPr id="29" name="箭號: 弧形右彎 28">
            <a:extLst>
              <a:ext uri="{FF2B5EF4-FFF2-40B4-BE49-F238E27FC236}">
                <a16:creationId xmlns:a16="http://schemas.microsoft.com/office/drawing/2014/main" id="{D193C487-358A-425B-B5EF-C569F9A03BD6}"/>
              </a:ext>
            </a:extLst>
          </p:cNvPr>
          <p:cNvSpPr/>
          <p:nvPr/>
        </p:nvSpPr>
        <p:spPr>
          <a:xfrm rot="16200000">
            <a:off x="7331873" y="5136356"/>
            <a:ext cx="128587" cy="171452"/>
          </a:xfrm>
          <a:prstGeom prst="curved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94412DF3-B43E-4187-9D82-16F2538A0810}"/>
              </a:ext>
            </a:extLst>
          </p:cNvPr>
          <p:cNvSpPr txBox="1"/>
          <p:nvPr/>
        </p:nvSpPr>
        <p:spPr>
          <a:xfrm>
            <a:off x="7210425" y="5243513"/>
            <a:ext cx="335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solidFill>
                  <a:srgbClr val="FF0000"/>
                </a:solidFill>
              </a:rPr>
              <a:t>-1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  <p:pic>
        <p:nvPicPr>
          <p:cNvPr id="6" name="圖形 5">
            <a:extLst>
              <a:ext uri="{FF2B5EF4-FFF2-40B4-BE49-F238E27FC236}">
                <a16:creationId xmlns:a16="http://schemas.microsoft.com/office/drawing/2014/main" id="{12DA2FF2-EF0F-4B34-BD97-5678A66BB755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4730" b="604"/>
          <a:stretch/>
        </p:blipFill>
        <p:spPr>
          <a:xfrm>
            <a:off x="3090862" y="1190019"/>
            <a:ext cx="6124575" cy="5465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949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54A2-5C67-C83D-D21E-2920BAE48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9D6DC0-D7DD-D164-D886-FBD50AD4E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NVFP4-like – </a:t>
            </a:r>
            <a:r>
              <a:rPr lang="zh-TW" altLang="en-US" dirty="0"/>
              <a:t>乘法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ABB3B1-625F-A3DF-8EEA-F05D11D4E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將 </a:t>
            </a:r>
            <a:r>
              <a:rPr lang="en-US" altLang="zh-TW" dirty="0"/>
              <a:t>input</a:t>
            </a:r>
            <a:r>
              <a:rPr lang="en-US" altLang="zh-TW" baseline="-25000" dirty="0"/>
              <a:t>FP4</a:t>
            </a:r>
            <a:r>
              <a:rPr lang="en-US" altLang="zh-TW" dirty="0"/>
              <a:t> </a:t>
            </a:r>
            <a:r>
              <a:rPr lang="zh-TW" altLang="en-US" dirty="0"/>
              <a:t>換成 </a:t>
            </a:r>
            <a:r>
              <a:rPr lang="en-US" altLang="zh-TW" dirty="0"/>
              <a:t>input</a:t>
            </a:r>
            <a:r>
              <a:rPr lang="en-US" altLang="zh-TW" baseline="-25000" dirty="0"/>
              <a:t>bfloat16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將 </a:t>
            </a:r>
            <a:r>
              <a:rPr lang="en-US" altLang="zh-TW" dirty="0"/>
              <a:t>factor</a:t>
            </a:r>
            <a:r>
              <a:rPr lang="en-US" altLang="zh-TW" baseline="-25000" dirty="0"/>
              <a:t>1, FP8</a:t>
            </a:r>
            <a:r>
              <a:rPr lang="zh-TW" altLang="en-US" dirty="0"/>
              <a:t> 換成 </a:t>
            </a:r>
            <a:r>
              <a:rPr lang="en-US" altLang="zh-TW" dirty="0"/>
              <a:t>factor</a:t>
            </a:r>
            <a:r>
              <a:rPr lang="en-US" altLang="zh-TW" baseline="-25000" dirty="0"/>
              <a:t>1, bfloat16 </a:t>
            </a:r>
            <a:r>
              <a:rPr lang="zh-TW" altLang="en-US" dirty="0"/>
              <a:t>，並乘上 </a:t>
            </a:r>
            <a:r>
              <a:rPr lang="en-US" altLang="zh-TW" dirty="0"/>
              <a:t>input</a:t>
            </a:r>
            <a:r>
              <a:rPr lang="en-US" altLang="zh-TW" baseline="-25000" dirty="0"/>
              <a:t>bfloat16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再乘上 </a:t>
            </a:r>
            <a:r>
              <a:rPr lang="en-US" altLang="zh-TW" dirty="0"/>
              <a:t>factor</a:t>
            </a:r>
            <a:r>
              <a:rPr lang="en-US" altLang="zh-TW" baseline="-25000" dirty="0"/>
              <a:t>2, bfloat16</a:t>
            </a:r>
            <a:r>
              <a:rPr lang="zh-TW" altLang="en-US" dirty="0"/>
              <a:t> 得到 </a:t>
            </a:r>
            <a:r>
              <a:rPr lang="en-US" altLang="zh-TW" dirty="0" err="1"/>
              <a:t>input</a:t>
            </a:r>
            <a:r>
              <a:rPr lang="en-US" altLang="zh-TW" baseline="-25000" dirty="0" err="1"/>
              <a:t>real</a:t>
            </a:r>
            <a:r>
              <a:rPr lang="en-US" altLang="zh-TW" baseline="-25000" dirty="0"/>
              <a:t>, bfloat16</a:t>
            </a:r>
            <a:endParaRPr lang="en-US" altLang="zh-TW" dirty="0">
              <a:sym typeface="Wingdings" panose="05000000000000000000" pitchFamily="2" charset="2"/>
            </a:endParaRPr>
          </a:p>
          <a:p>
            <a:pPr marL="514350" indent="-514350">
              <a:buFont typeface="+mj-lt"/>
              <a:buAutoNum type="arabicPeriod"/>
            </a:pPr>
            <a:r>
              <a:rPr lang="zh-TW" altLang="en-US" dirty="0">
                <a:sym typeface="Wingdings" panose="05000000000000000000" pitchFamily="2" charset="2"/>
              </a:rPr>
              <a:t>還原成 </a:t>
            </a:r>
            <a:r>
              <a:rPr lang="en-US" altLang="zh-TW" dirty="0">
                <a:sym typeface="Wingdings" panose="05000000000000000000" pitchFamily="2" charset="2"/>
              </a:rPr>
              <a:t>1.Fraction (8-bit)</a:t>
            </a:r>
            <a:r>
              <a:rPr lang="en-US" altLang="zh-TW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a * b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轉成 </a:t>
            </a:r>
            <a:r>
              <a:rPr lang="en-US" altLang="zh-TW" dirty="0"/>
              <a:t>bfloat16 </a:t>
            </a:r>
            <a:r>
              <a:rPr lang="zh-TW" altLang="en-US" dirty="0"/>
              <a:t>格式</a:t>
            </a:r>
            <a:endParaRPr lang="en-US" altLang="zh-TW" dirty="0"/>
          </a:p>
          <a:p>
            <a:pPr marL="914400" lvl="1" indent="-514350">
              <a:buFont typeface="+mj-lt"/>
              <a:buAutoNum type="arabicPeriod"/>
            </a:pPr>
            <a:r>
              <a:rPr lang="zh-TW" altLang="en-US" dirty="0"/>
              <a:t>判斷正負</a:t>
            </a:r>
            <a:r>
              <a:rPr lang="en-US" altLang="zh-TW" dirty="0"/>
              <a:t>(sign</a:t>
            </a:r>
            <a:r>
              <a:rPr lang="en-US" altLang="zh-TW" baseline="-25000" dirty="0"/>
              <a:t>a</a:t>
            </a:r>
            <a:r>
              <a:rPr lang="en-US" altLang="zh-TW" baseline="30000" dirty="0"/>
              <a:t> </a:t>
            </a:r>
            <a:r>
              <a:rPr lang="en-US" altLang="zh-TW" dirty="0"/>
              <a:t>XOR </a:t>
            </a:r>
            <a:r>
              <a:rPr lang="en-US" altLang="zh-TW" dirty="0" err="1"/>
              <a:t>sign</a:t>
            </a:r>
            <a:r>
              <a:rPr lang="en-US" altLang="zh-TW" baseline="-25000" dirty="0" err="1"/>
              <a:t>b</a:t>
            </a:r>
            <a:r>
              <a:rPr lang="en-US" altLang="zh-TW" dirty="0"/>
              <a:t>)</a:t>
            </a:r>
            <a:r>
              <a:rPr lang="zh-TW" altLang="en-US" dirty="0"/>
              <a:t>，可得 </a:t>
            </a:r>
            <a:r>
              <a:rPr lang="en-US" altLang="zh-TW" dirty="0"/>
              <a:t>Sign</a:t>
            </a:r>
          </a:p>
          <a:p>
            <a:pPr marL="914400" lvl="1" indent="-514350">
              <a:buFont typeface="+mj-lt"/>
              <a:buAutoNum type="arabicPeriod"/>
            </a:pPr>
            <a:r>
              <a:rPr lang="zh-TW" altLang="en-US" dirty="0"/>
              <a:t>找到第一個 </a:t>
            </a:r>
            <a:r>
              <a:rPr lang="en-US" altLang="zh-TW" dirty="0"/>
              <a:t>1 </a:t>
            </a:r>
            <a:r>
              <a:rPr lang="zh-TW" altLang="en-US" dirty="0"/>
              <a:t>的位置，四捨五入，可得 </a:t>
            </a:r>
            <a:r>
              <a:rPr lang="en-US" altLang="zh-TW" dirty="0"/>
              <a:t>Fraction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altLang="zh-TW" dirty="0"/>
              <a:t>Exponent = </a:t>
            </a:r>
            <a:r>
              <a:rPr lang="en-US" altLang="zh-TW" dirty="0" err="1"/>
              <a:t>Exponent</a:t>
            </a:r>
            <a:r>
              <a:rPr lang="en-US" altLang="zh-TW" baseline="-25000" dirty="0" err="1"/>
              <a:t>a</a:t>
            </a:r>
            <a:r>
              <a:rPr lang="en-US" altLang="zh-TW" dirty="0"/>
              <a:t> + </a:t>
            </a:r>
            <a:r>
              <a:rPr lang="en-US" altLang="zh-TW" dirty="0" err="1"/>
              <a:t>Exponent</a:t>
            </a:r>
            <a:r>
              <a:rPr lang="en-US" altLang="zh-TW" baseline="-25000" dirty="0" err="1"/>
              <a:t>b</a:t>
            </a:r>
            <a:r>
              <a:rPr lang="en-US" altLang="zh-TW" dirty="0"/>
              <a:t> – 127 (+n, if </a:t>
            </a:r>
            <a:r>
              <a:rPr lang="zh-TW" altLang="en-US" dirty="0"/>
              <a:t>小數點左移 </a:t>
            </a:r>
            <a:r>
              <a:rPr lang="en-US" altLang="zh-TW" dirty="0"/>
              <a:t>n) </a:t>
            </a:r>
          </a:p>
          <a:p>
            <a:pPr marL="914400" lvl="1" indent="-514350">
              <a:buFont typeface="+mj-lt"/>
              <a:buAutoNum type="arabicPeriod"/>
            </a:pP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48929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54A2-5C67-C83D-D21E-2920BAE48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9D6DC0-D7DD-D164-D886-FBD50AD4E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NVFP4-like – </a:t>
            </a:r>
            <a:r>
              <a:rPr lang="zh-TW" altLang="en-US" dirty="0"/>
              <a:t>乘法</a:t>
            </a:r>
            <a:r>
              <a:rPr lang="en-US" altLang="zh-TW" dirty="0"/>
              <a:t> example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ABB3B1-625F-A3DF-8EEA-F05D11D4E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078350"/>
            <a:ext cx="10648952" cy="5779650"/>
          </a:xfrm>
        </p:spPr>
        <p:txBody>
          <a:bodyPr>
            <a:normAutofit lnSpcReduction="10000"/>
          </a:bodyPr>
          <a:lstStyle/>
          <a:p>
            <a:r>
              <a:rPr lang="en-US" altLang="zh-TW" dirty="0"/>
              <a:t>FP4 of a = 0 01 1; FP4 of b = 0 11 1</a:t>
            </a:r>
          </a:p>
          <a:p>
            <a:r>
              <a:rPr lang="en-US" altLang="zh-TW" dirty="0"/>
              <a:t>scale factor of a = 0 1001 010; scale factor of b = 0 0101 100</a:t>
            </a:r>
          </a:p>
          <a:p>
            <a:r>
              <a:rPr lang="en-US" altLang="zh-TW" dirty="0"/>
              <a:t>scale factor of bfloat16 = 0 10000001 1010000</a:t>
            </a:r>
          </a:p>
          <a:p>
            <a:pPr marL="0" indent="0">
              <a:buNone/>
            </a:pPr>
            <a:r>
              <a:rPr lang="en-US" altLang="zh-TW" dirty="0"/>
              <a:t>   (real a) </a:t>
            </a:r>
            <a:r>
              <a:rPr lang="zh-TW" altLang="en-US" dirty="0"/>
              <a:t>*</a:t>
            </a:r>
            <a:r>
              <a:rPr lang="en-US" altLang="zh-TW" dirty="0"/>
              <a:t> (real b)</a:t>
            </a:r>
          </a:p>
          <a:p>
            <a:pPr marL="0" indent="0">
              <a:buNone/>
            </a:pPr>
            <a:r>
              <a:rPr lang="en-US" altLang="zh-TW" dirty="0"/>
              <a:t>= [ (1.1 * 2</a:t>
            </a:r>
            <a:r>
              <a:rPr lang="en-US" altLang="zh-TW" baseline="30000" dirty="0"/>
              <a:t>(1-1)</a:t>
            </a:r>
            <a:r>
              <a:rPr lang="en-US" altLang="zh-TW" dirty="0"/>
              <a:t>) * (1.01 * 2</a:t>
            </a:r>
            <a:r>
              <a:rPr lang="en-US" altLang="zh-TW" baseline="30000" dirty="0"/>
              <a:t>(9-7)</a:t>
            </a:r>
            <a:r>
              <a:rPr lang="en-US" altLang="zh-TW" dirty="0"/>
              <a:t>) * (1.101 * 2</a:t>
            </a:r>
            <a:r>
              <a:rPr lang="en-US" altLang="zh-TW" baseline="30000" dirty="0"/>
              <a:t>(129-127)</a:t>
            </a:r>
            <a:r>
              <a:rPr lang="en-US" altLang="zh-TW" dirty="0"/>
              <a:t>) ]</a:t>
            </a:r>
            <a:r>
              <a:rPr lang="zh-TW" altLang="en-US" dirty="0"/>
              <a:t> *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  </a:t>
            </a:r>
            <a:r>
              <a:rPr lang="en-US" altLang="zh-TW" dirty="0"/>
              <a:t> [</a:t>
            </a:r>
            <a:r>
              <a:rPr lang="zh-TW" altLang="en-US" dirty="0"/>
              <a:t> </a:t>
            </a:r>
            <a:r>
              <a:rPr lang="en-US" altLang="zh-TW" dirty="0"/>
              <a:t>(1.1 * 2</a:t>
            </a:r>
            <a:r>
              <a:rPr lang="en-US" altLang="zh-TW" baseline="30000" dirty="0"/>
              <a:t>(3-1)</a:t>
            </a:r>
            <a:r>
              <a:rPr lang="en-US" altLang="zh-TW" dirty="0"/>
              <a:t>) * (1.1 * 2</a:t>
            </a:r>
            <a:r>
              <a:rPr lang="en-US" altLang="zh-TW" baseline="30000" dirty="0"/>
              <a:t>(5-7)</a:t>
            </a:r>
            <a:r>
              <a:rPr lang="en-US" altLang="zh-TW" dirty="0"/>
              <a:t>)  * (1.101 * 2</a:t>
            </a:r>
            <a:r>
              <a:rPr lang="en-US" altLang="zh-TW" baseline="30000" dirty="0"/>
              <a:t>(129-127)</a:t>
            </a:r>
            <a:r>
              <a:rPr lang="en-US" altLang="zh-TW" dirty="0"/>
              <a:t>) ]</a:t>
            </a:r>
          </a:p>
          <a:p>
            <a:pPr marL="0" indent="0">
              <a:buNone/>
            </a:pPr>
            <a:r>
              <a:rPr lang="en-US" altLang="zh-TW" dirty="0"/>
              <a:t>= [ 1.111 * 2</a:t>
            </a:r>
            <a:r>
              <a:rPr lang="en-US" altLang="zh-TW" baseline="30000" dirty="0"/>
              <a:t>2</a:t>
            </a:r>
            <a:r>
              <a:rPr lang="en-US" altLang="zh-TW" dirty="0"/>
              <a:t> * 10.01 * 2</a:t>
            </a:r>
            <a:r>
              <a:rPr lang="en-US" altLang="zh-TW" baseline="30000" dirty="0"/>
              <a:t>0</a:t>
            </a:r>
            <a:r>
              <a:rPr lang="en-US" altLang="zh-TW" dirty="0"/>
              <a:t> ] * ( 1.101 * 2</a:t>
            </a:r>
            <a:r>
              <a:rPr lang="en-US" altLang="zh-TW" baseline="30000" dirty="0"/>
              <a:t>2</a:t>
            </a:r>
            <a:r>
              <a:rPr lang="en-US" altLang="zh-TW" dirty="0"/>
              <a:t> )</a:t>
            </a:r>
            <a:r>
              <a:rPr lang="en-US" altLang="zh-TW" baseline="30000" dirty="0"/>
              <a:t>2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= [ 1.111 * 10.01 * 2</a:t>
            </a:r>
            <a:r>
              <a:rPr lang="en-US" altLang="zh-TW" baseline="30000" dirty="0"/>
              <a:t>2</a:t>
            </a:r>
            <a:r>
              <a:rPr lang="en-US" altLang="zh-TW" dirty="0"/>
              <a:t> ] * ( 1.101 * 2</a:t>
            </a:r>
            <a:r>
              <a:rPr lang="en-US" altLang="zh-TW" baseline="30000" dirty="0"/>
              <a:t>2</a:t>
            </a:r>
            <a:r>
              <a:rPr lang="en-US" altLang="zh-TW" dirty="0"/>
              <a:t> )</a:t>
            </a:r>
            <a:r>
              <a:rPr lang="en-US" altLang="zh-TW" baseline="30000" dirty="0"/>
              <a:t> 2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= ( 100.00111 * 2</a:t>
            </a:r>
            <a:r>
              <a:rPr lang="en-US" altLang="zh-TW" baseline="30000" dirty="0"/>
              <a:t>2</a:t>
            </a:r>
            <a:r>
              <a:rPr lang="en-US" altLang="zh-TW" dirty="0"/>
              <a:t> ) * ( 1.101 * 2</a:t>
            </a:r>
            <a:r>
              <a:rPr lang="en-US" altLang="zh-TW" baseline="30000" dirty="0"/>
              <a:t>2</a:t>
            </a:r>
            <a:r>
              <a:rPr lang="en-US" altLang="zh-TW" dirty="0"/>
              <a:t> )</a:t>
            </a:r>
            <a:r>
              <a:rPr lang="en-US" altLang="zh-TW" baseline="30000" dirty="0"/>
              <a:t> 2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= 1011.00100011111 * 2</a:t>
            </a:r>
            <a:r>
              <a:rPr lang="en-US" altLang="zh-TW" baseline="30000" dirty="0"/>
              <a:t>6</a:t>
            </a:r>
          </a:p>
          <a:p>
            <a:pPr marL="0" indent="0">
              <a:buNone/>
            </a:pPr>
            <a:r>
              <a:rPr lang="en-US" altLang="zh-TW" dirty="0"/>
              <a:t>= 1.</a:t>
            </a:r>
            <a:r>
              <a:rPr lang="en-US" altLang="zh-TW" dirty="0">
                <a:solidFill>
                  <a:srgbClr val="00B0F0"/>
                </a:solidFill>
              </a:rPr>
              <a:t>0110010</a:t>
            </a:r>
            <a:r>
              <a:rPr lang="en-US" altLang="zh-TW" dirty="0"/>
              <a:t>0011111 * 2</a:t>
            </a:r>
            <a:r>
              <a:rPr lang="en-US" altLang="zh-TW" baseline="30000" dirty="0"/>
              <a:t>(</a:t>
            </a:r>
            <a:r>
              <a:rPr lang="en-US" altLang="zh-TW" baseline="30000" dirty="0">
                <a:solidFill>
                  <a:srgbClr val="00B050"/>
                </a:solidFill>
              </a:rPr>
              <a:t>136</a:t>
            </a:r>
            <a:r>
              <a:rPr lang="en-US" altLang="zh-TW" baseline="30000" dirty="0"/>
              <a:t>-127)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>
                <a:sym typeface="Wingdings" panose="05000000000000000000" pitchFamily="2" charset="2"/>
              </a:rPr>
              <a:t> </a:t>
            </a:r>
            <a:r>
              <a:rPr lang="en-US" altLang="zh-TW" dirty="0">
                <a:solidFill>
                  <a:srgbClr val="FF0000"/>
                </a:solidFill>
                <a:sym typeface="Wingdings" panose="05000000000000000000" pitchFamily="2" charset="2"/>
              </a:rPr>
              <a:t>1</a:t>
            </a:r>
            <a:r>
              <a:rPr lang="en-US" altLang="zh-TW" dirty="0">
                <a:sym typeface="Wingdings" panose="05000000000000000000" pitchFamily="2" charset="2"/>
              </a:rPr>
              <a:t> </a:t>
            </a:r>
            <a:r>
              <a:rPr lang="en-US" altLang="zh-TW" dirty="0">
                <a:solidFill>
                  <a:srgbClr val="00B050"/>
                </a:solidFill>
                <a:sym typeface="Wingdings" panose="05000000000000000000" pitchFamily="2" charset="2"/>
              </a:rPr>
              <a:t>10001000</a:t>
            </a:r>
            <a:r>
              <a:rPr lang="en-US" altLang="zh-TW" dirty="0">
                <a:sym typeface="Wingdings" panose="05000000000000000000" pitchFamily="2" charset="2"/>
              </a:rPr>
              <a:t> </a:t>
            </a:r>
            <a:r>
              <a:rPr lang="en-US" altLang="zh-TW" dirty="0">
                <a:solidFill>
                  <a:srgbClr val="00B0F0"/>
                </a:solidFill>
                <a:sym typeface="Wingdings" panose="05000000000000000000" pitchFamily="2" charset="2"/>
              </a:rPr>
              <a:t>0110010</a:t>
            </a:r>
            <a:endParaRPr lang="en-US" altLang="zh-TW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750938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圖形 14">
            <a:extLst>
              <a:ext uri="{FF2B5EF4-FFF2-40B4-BE49-F238E27FC236}">
                <a16:creationId xmlns:a16="http://schemas.microsoft.com/office/drawing/2014/main" id="{6B62023C-33A7-465A-80B5-E0A05CCF3268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2794" b="24222"/>
          <a:stretch/>
        </p:blipFill>
        <p:spPr>
          <a:xfrm>
            <a:off x="1999204" y="1339983"/>
            <a:ext cx="8193592" cy="5346233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9A23FB0F-BF08-40EC-ACBC-3458CC374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bloat16 </a:t>
            </a:r>
            <a:r>
              <a:rPr lang="zh-TW" altLang="en-US" dirty="0"/>
              <a:t>乘法 </a:t>
            </a:r>
            <a:r>
              <a:rPr lang="en-US" altLang="zh-TW" dirty="0"/>
              <a:t>Diagram</a:t>
            </a:r>
            <a:endParaRPr lang="zh-TW" altLang="en-US" dirty="0"/>
          </a:p>
        </p:txBody>
      </p:sp>
      <p:sp>
        <p:nvSpPr>
          <p:cNvPr id="12" name="箭號: 弧形右彎 11">
            <a:extLst>
              <a:ext uri="{FF2B5EF4-FFF2-40B4-BE49-F238E27FC236}">
                <a16:creationId xmlns:a16="http://schemas.microsoft.com/office/drawing/2014/main" id="{0609BB4A-7FE4-4DAE-8F3E-14323203E304}"/>
              </a:ext>
            </a:extLst>
          </p:cNvPr>
          <p:cNvSpPr/>
          <p:nvPr/>
        </p:nvSpPr>
        <p:spPr>
          <a:xfrm rot="16200000" flipV="1">
            <a:off x="6923088" y="3763564"/>
            <a:ext cx="128587" cy="191295"/>
          </a:xfrm>
          <a:prstGeom prst="curved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FA585286-B71A-46BC-970F-FAB271A57392}"/>
              </a:ext>
            </a:extLst>
          </p:cNvPr>
          <p:cNvSpPr txBox="1"/>
          <p:nvPr/>
        </p:nvSpPr>
        <p:spPr>
          <a:xfrm>
            <a:off x="6815931" y="3923505"/>
            <a:ext cx="4206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solidFill>
                  <a:srgbClr val="FF0000"/>
                </a:solidFill>
              </a:rPr>
              <a:t>+1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5583615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5087</TotalTime>
  <Words>1134</Words>
  <Application>Microsoft Office PowerPoint</Application>
  <PresentationFormat>寬螢幕</PresentationFormat>
  <Paragraphs>113</Paragraphs>
  <Slides>14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5" baseType="lpstr">
      <vt:lpstr>佈景主題1</vt:lpstr>
      <vt:lpstr>2026 DCS Lab 07 相關知識介紹</vt:lpstr>
      <vt:lpstr>Floating Point</vt:lpstr>
      <vt:lpstr>Floating Point – bfloat16</vt:lpstr>
      <vt:lpstr>Floating Point – FP4</vt:lpstr>
      <vt:lpstr>Floating Point – FP8 (E4M3)</vt:lpstr>
      <vt:lpstr>What is NVFP4</vt:lpstr>
      <vt:lpstr>NVFP4-like</vt:lpstr>
      <vt:lpstr>NVFP4-like – 加法</vt:lpstr>
      <vt:lpstr>NVFP4-like – 加法 example1</vt:lpstr>
      <vt:lpstr>NVFP4-like – 加法 example2</vt:lpstr>
      <vt:lpstr>bloat16 加法 Diagram</vt:lpstr>
      <vt:lpstr>NVFP4-like – 乘法</vt:lpstr>
      <vt:lpstr>NVFP4-like – 乘法 example</vt:lpstr>
      <vt:lpstr>bloat16 乘法 Diagram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Lab01 Combinational Circuit</dc:title>
  <dc:creator>奕翔 賴</dc:creator>
  <cp:lastModifiedBy>陳欣怡</cp:lastModifiedBy>
  <cp:revision>235</cp:revision>
  <dcterms:created xsi:type="dcterms:W3CDTF">2025-01-19T07:33:42Z</dcterms:created>
  <dcterms:modified xsi:type="dcterms:W3CDTF">2026-04-30T06:04:34Z</dcterms:modified>
</cp:coreProperties>
</file>