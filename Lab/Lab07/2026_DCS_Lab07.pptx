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04" r:id="rId3"/>
    <p:sldId id="258" r:id="rId4"/>
    <p:sldId id="281" r:id="rId5"/>
    <p:sldId id="286" r:id="rId6"/>
    <p:sldId id="299" r:id="rId7"/>
    <p:sldId id="280" r:id="rId8"/>
    <p:sldId id="288" r:id="rId9"/>
    <p:sldId id="264" r:id="rId10"/>
    <p:sldId id="287" r:id="rId11"/>
    <p:sldId id="282" r:id="rId12"/>
    <p:sldId id="301" r:id="rId13"/>
    <p:sldId id="291" r:id="rId14"/>
    <p:sldId id="290" r:id="rId15"/>
    <p:sldId id="302" r:id="rId16"/>
    <p:sldId id="303" r:id="rId17"/>
    <p:sldId id="292" r:id="rId18"/>
    <p:sldId id="300" r:id="rId19"/>
    <p:sldId id="298" r:id="rId20"/>
    <p:sldId id="262" r:id="rId21"/>
    <p:sldId id="293" r:id="rId22"/>
    <p:sldId id="295" r:id="rId23"/>
    <p:sldId id="273" r:id="rId24"/>
    <p:sldId id="274" r:id="rId2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5E398E92-AED9-49AA-B9EF-502399504FC9}">
          <p14:sldIdLst>
            <p14:sldId id="256"/>
            <p14:sldId id="304"/>
          </p14:sldIdLst>
        </p14:section>
        <p14:section name="常見floating point格式" id="{F7BB5D08-4ADB-40E8-B3B8-477B4AA8E9D8}">
          <p14:sldIdLst>
            <p14:sldId id="258"/>
            <p14:sldId id="281"/>
            <p14:sldId id="286"/>
            <p14:sldId id="299"/>
          </p14:sldIdLst>
        </p14:section>
        <p14:section name="NVFP4介紹" id="{E2E050C5-8813-4164-A757-AEF04598C000}">
          <p14:sldIdLst>
            <p14:sldId id="280"/>
            <p14:sldId id="288"/>
          </p14:sldIdLst>
        </p14:section>
        <p14:section name="加法" id="{953031BD-26A5-4E1C-BA37-B70036EBCADD}">
          <p14:sldIdLst>
            <p14:sldId id="264"/>
            <p14:sldId id="287"/>
            <p14:sldId id="282"/>
            <p14:sldId id="301"/>
          </p14:sldIdLst>
        </p14:section>
        <p14:section name="乘法" id="{2F569F33-FD22-460A-850A-63ADB4C60507}">
          <p14:sldIdLst>
            <p14:sldId id="291"/>
            <p14:sldId id="290"/>
            <p14:sldId id="302"/>
          </p14:sldIdLst>
        </p14:section>
        <p14:section name="Lab07 實作" id="{7E88B512-D4AD-4D85-A3DD-2669C642D68B}">
          <p14:sldIdLst>
            <p14:sldId id="303"/>
            <p14:sldId id="292"/>
            <p14:sldId id="300"/>
            <p14:sldId id="298"/>
            <p14:sldId id="262"/>
            <p14:sldId id="293"/>
            <p14:sldId id="295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96" autoAdjust="0"/>
    <p:restoredTop sz="94660"/>
  </p:normalViewPr>
  <p:slideViewPr>
    <p:cSldViewPr snapToGrid="0">
      <p:cViewPr varScale="1">
        <p:scale>
          <a:sx n="65" d="100"/>
          <a:sy n="65" d="100"/>
        </p:scale>
        <p:origin x="102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接點 3"/>
          <p:cNvCxnSpPr/>
          <p:nvPr/>
        </p:nvCxnSpPr>
        <p:spPr>
          <a:xfrm>
            <a:off x="952501" y="3714750"/>
            <a:ext cx="11239500" cy="1588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>
            <a:normAutofit/>
          </a:bodyPr>
          <a:lstStyle>
            <a:lvl1pPr algn="ctr">
              <a:defRPr sz="3600">
                <a:latin typeface="+mj-lt"/>
                <a:cs typeface="Times New Roman" pitchFamily="18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9410736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tx1">
                    <a:tint val="75000"/>
                  </a:schemeClr>
                </a:solidFill>
                <a:latin typeface="+mn-lt"/>
                <a:cs typeface="Times New Roman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6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9E4BAB45-CC32-4EA4-861C-55A130FC9389}" type="datetimeFigureOut">
              <a:rPr lang="zh-TW" altLang="en-US" smtClean="0"/>
              <a:pPr/>
              <a:t>2026/4/30</a:t>
            </a:fld>
            <a:endParaRPr lang="zh-TW" altLang="en-US"/>
          </a:p>
        </p:txBody>
      </p:sp>
      <p:sp>
        <p:nvSpPr>
          <p:cNvPr id="7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endParaRPr lang="zh-TW" altLang="en-US"/>
          </a:p>
        </p:txBody>
      </p:sp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1026" name="Picture 2" descr="陽明交大新校徽終於出爐了複選4選1「長這樣」 - 生活- 自由時報電子報">
            <a:extLst>
              <a:ext uri="{FF2B5EF4-FFF2-40B4-BE49-F238E27FC236}">
                <a16:creationId xmlns:a16="http://schemas.microsoft.com/office/drawing/2014/main" id="{BA0283D1-4F0A-B54B-1A2C-3E62E6FF9C5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043"/>
          <a:stretch/>
        </p:blipFill>
        <p:spPr bwMode="auto">
          <a:xfrm>
            <a:off x="11119448" y="274068"/>
            <a:ext cx="1072551" cy="794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212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0371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1078350"/>
            <a:ext cx="10972800" cy="5279589"/>
          </a:xfrm>
        </p:spPr>
        <p:txBody>
          <a:bodyPr>
            <a:normAutofit/>
          </a:bodyPr>
          <a:lstStyle>
            <a:lvl1pPr>
              <a:defRPr sz="28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18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4BAB45-CC32-4EA4-861C-55A130FC9389}" type="datetimeFigureOut">
              <a:rPr lang="zh-TW" altLang="en-US" smtClean="0"/>
              <a:pPr/>
              <a:t>2026/4/30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0C49E2A3-7E15-EF96-83E4-BD2E3B19AE3F}"/>
              </a:ext>
            </a:extLst>
          </p:cNvPr>
          <p:cNvCxnSpPr>
            <a:cxnSpLocks/>
          </p:cNvCxnSpPr>
          <p:nvPr userDrawn="1"/>
        </p:nvCxnSpPr>
        <p:spPr>
          <a:xfrm>
            <a:off x="618226" y="1078351"/>
            <a:ext cx="10972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155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4BAB45-CC32-4EA4-861C-55A130FC9389}" type="datetimeFigureOut">
              <a:rPr lang="zh-TW" altLang="en-US" smtClean="0"/>
              <a:pPr/>
              <a:t>2026/4/30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4012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/>
        </p:nvCxnSpPr>
        <p:spPr>
          <a:xfrm>
            <a:off x="571501" y="1285875"/>
            <a:ext cx="11620500" cy="1588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357298"/>
            <a:ext cx="5384800" cy="49292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357298"/>
            <a:ext cx="5384800" cy="49292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9E4BAB45-CC32-4EA4-861C-55A130FC9389}" type="datetimeFigureOut">
              <a:rPr lang="zh-TW" altLang="en-US" smtClean="0"/>
              <a:pPr/>
              <a:t>2026/4/30</a:t>
            </a:fld>
            <a:endParaRPr lang="zh-TW" altLang="en-US"/>
          </a:p>
        </p:txBody>
      </p:sp>
      <p:sp>
        <p:nvSpPr>
          <p:cNvPr id="7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8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4363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接點 6"/>
          <p:cNvCxnSpPr/>
          <p:nvPr/>
        </p:nvCxnSpPr>
        <p:spPr>
          <a:xfrm>
            <a:off x="571501" y="1285875"/>
            <a:ext cx="11620500" cy="1588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357299"/>
            <a:ext cx="5386917" cy="57150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1928802"/>
            <a:ext cx="5386917" cy="442915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357299"/>
            <a:ext cx="5389033" cy="57150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1928802"/>
            <a:ext cx="5389033" cy="442915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9E4BAB45-CC32-4EA4-861C-55A130FC9389}" type="datetimeFigureOut">
              <a:rPr lang="zh-TW" altLang="en-US" smtClean="0"/>
              <a:pPr/>
              <a:t>2026/4/30</a:t>
            </a:fld>
            <a:endParaRPr lang="zh-TW" altLang="en-US"/>
          </a:p>
        </p:txBody>
      </p:sp>
      <p:sp>
        <p:nvSpPr>
          <p:cNvPr id="9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10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4624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9E4BAB45-CC32-4EA4-861C-55A130FC9389}" type="datetimeFigureOut">
              <a:rPr lang="zh-TW" altLang="en-US" smtClean="0"/>
              <a:pPr/>
              <a:t>2026/4/30</a:t>
            </a:fld>
            <a:endParaRPr lang="zh-TW" altLang="en-US"/>
          </a:p>
        </p:txBody>
      </p:sp>
      <p:sp>
        <p:nvSpPr>
          <p:cNvPr id="5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246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4BAB45-CC32-4EA4-861C-55A130FC9389}" type="datetimeFigureOut">
              <a:rPr lang="zh-TW" altLang="en-US" smtClean="0"/>
              <a:pPr/>
              <a:t>2026/4/30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4520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4BAB45-CC32-4EA4-861C-55A130FC9389}" type="datetimeFigureOut">
              <a:rPr lang="zh-TW" altLang="en-US" smtClean="0"/>
              <a:pPr/>
              <a:t>2026/4/30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6000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4BAB45-CC32-4EA4-861C-55A130FC9389}" type="datetimeFigureOut">
              <a:rPr lang="zh-TW" altLang="en-US" smtClean="0"/>
              <a:pPr/>
              <a:t>2026/4/30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7727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接點 3"/>
          <p:cNvCxnSpPr/>
          <p:nvPr/>
        </p:nvCxnSpPr>
        <p:spPr>
          <a:xfrm>
            <a:off x="571501" y="1285875"/>
            <a:ext cx="11620500" cy="1588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9E4BAB45-CC32-4EA4-861C-55A130FC9389}" type="datetimeFigureOut">
              <a:rPr lang="zh-TW" altLang="en-US" smtClean="0"/>
              <a:pPr/>
              <a:t>2026/4/30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0450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4BAB45-CC32-4EA4-861C-55A130FC9389}" type="datetimeFigureOut">
              <a:rPr lang="zh-TW" altLang="en-US" smtClean="0"/>
              <a:pPr/>
              <a:t>2026/4/30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0983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93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4099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609600" y="1357314"/>
            <a:ext cx="10972800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tint val="75000"/>
                  </a:schemeClr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</a:lstStyle>
          <a:p>
            <a:fld id="{9E4BAB45-CC32-4EA4-861C-55A130FC9389}" type="datetimeFigureOut">
              <a:rPr lang="zh-TW" altLang="en-US" smtClean="0"/>
              <a:pPr/>
              <a:t>2026/4/30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tint val="75000"/>
                  </a:schemeClr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2192000" cy="214290"/>
          </a:xfrm>
          <a:prstGeom prst="rect">
            <a:avLst/>
          </a:prstGeom>
          <a:gradFill flip="none" rotWithShape="1">
            <a:gsLst>
              <a:gs pos="12000">
                <a:schemeClr val="accent1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 extrusionH="57150">
              <a:bevelT w="57150" h="38100" prst="hardEdge"/>
            </a:sp3d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200" b="1" dirty="0">
                <a:ln w="12700">
                  <a:noFill/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itchFamily="18" charset="0"/>
                <a:cs typeface="Times New Roman" pitchFamily="18" charset="0"/>
              </a:rPr>
              <a:t>Platform Based Design Group</a:t>
            </a:r>
            <a:endParaRPr kumimoji="0" lang="zh-TW" altLang="en-US" sz="1200" b="1" dirty="0">
              <a:ln w="12700">
                <a:noFill/>
                <a:prstDash val="solid"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 rot="16200000">
            <a:off x="5988844" y="654844"/>
            <a:ext cx="214312" cy="1219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400" b="1" dirty="0">
                <a:latin typeface="Times New Roman" pitchFamily="18" charset="0"/>
                <a:cs typeface="Times New Roman" pitchFamily="18" charset="0"/>
              </a:rPr>
              <a:t>NYCU. EE. Hsinchu. Taiwan</a:t>
            </a:r>
            <a:endParaRPr kumimoji="0" lang="zh-TW" alt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" y="1500188"/>
            <a:ext cx="285751" cy="5357812"/>
          </a:xfrm>
          <a:prstGeom prst="rect">
            <a:avLst/>
          </a:prstGeom>
          <a:gradFill flip="none" rotWithShape="1">
            <a:gsLst>
              <a:gs pos="56000">
                <a:srgbClr val="92D050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tIns="3024000" bIns="468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400" dirty="0">
                <a:latin typeface="Times New Roman" pitchFamily="18" charset="0"/>
                <a:cs typeface="Times New Roman" pitchFamily="18" charset="0"/>
              </a:rPr>
              <a:t>VLSI Signal Processing Lab.</a:t>
            </a:r>
            <a:endParaRPr kumimoji="0" lang="zh-TW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748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+mj-lt"/>
          <a:ea typeface="微軟正黑體" panose="020B0604030504040204" pitchFamily="34" charset="-120"/>
          <a:cs typeface="微軟正黑體" panose="020B0604030504040204" pitchFamily="34" charset="-12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微軟正黑體" panose="020B0604030504040204" pitchFamily="34" charset="-120"/>
          <a:cs typeface="微軟正黑體" panose="020B0604030504040204" pitchFamily="34" charset="-12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rgbClr val="376092"/>
          </a:solidFill>
          <a:latin typeface="+mn-lt"/>
          <a:ea typeface="微軟正黑體" panose="020B0604030504040204" pitchFamily="34" charset="-120"/>
          <a:cs typeface="微軟正黑體" panose="020B0604030504040204" pitchFamily="34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rgbClr val="4F6228"/>
          </a:solidFill>
          <a:latin typeface="+mn-lt"/>
          <a:ea typeface="微軟正黑體" panose="020B0604030504040204" pitchFamily="34" charset="-120"/>
          <a:cs typeface="微軟正黑體" panose="020B0604030504040204" pitchFamily="34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rgbClr val="953735"/>
          </a:solidFill>
          <a:latin typeface="+mn-lt"/>
          <a:ea typeface="微軟正黑體" panose="020B0604030504040204" pitchFamily="34" charset="-120"/>
          <a:cs typeface="微軟正黑體" panose="020B0604030504040204" pitchFamily="34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ern="1200">
          <a:solidFill>
            <a:srgbClr val="E46C0A"/>
          </a:solidFill>
          <a:latin typeface="+mn-lt"/>
          <a:ea typeface="微軟正黑體" panose="020B0604030504040204" pitchFamily="34" charset="-120"/>
          <a:cs typeface="微軟正黑體" panose="020B0604030504040204" pitchFamily="34" charset="-12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xxactcorp.com/blog/hpc/what-is-fp8-fp6-fp4" TargetMode="External"/><Relationship Id="rId2" Type="http://schemas.openxmlformats.org/officeDocument/2006/relationships/hyperlink" Target="https://medium.com/@manyi.yim/bfloat16-vs-float32-vs-float16-back-to-the-basics-80d4aec49ca8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nvidia.cn/blog/introducing-nvfp4-for-efficient-and-accurate-low-precision-inference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E1000B-5139-1B80-B3C0-9A9B6ADEA9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Lab07</a:t>
            </a:r>
            <a:br>
              <a:rPr lang="en-US" altLang="zh-TW" dirty="0"/>
            </a:br>
            <a:r>
              <a:rPr lang="en-US" altLang="zh-TW" dirty="0"/>
              <a:t>Floating Point (NVFP4-like) Computation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A73D36D-D347-5114-82D8-82DD993734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張皓庭</a:t>
            </a:r>
          </a:p>
        </p:txBody>
      </p:sp>
    </p:spTree>
    <p:extLst>
      <p:ext uri="{BB962C8B-B14F-4D97-AF65-F5344CB8AC3E}">
        <p14:creationId xmlns:p14="http://schemas.microsoft.com/office/powerpoint/2010/main" val="2774015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BA44E6-9A8D-4BCD-AE84-98D6AB8E2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/>
              <a:t>2026</a:t>
            </a:r>
            <a:r>
              <a:rPr lang="zh-TW" altLang="en-US" cap="none" dirty="0"/>
              <a:t> </a:t>
            </a:r>
            <a:r>
              <a:rPr lang="en-US" altLang="zh-TW" cap="none" dirty="0"/>
              <a:t>DCS</a:t>
            </a:r>
            <a:r>
              <a:rPr lang="zh-TW" altLang="en-US" cap="none" dirty="0"/>
              <a:t> </a:t>
            </a:r>
            <a:r>
              <a:rPr lang="en-US" altLang="zh-TW" cap="none" dirty="0"/>
              <a:t>Lab 07 </a:t>
            </a:r>
            <a:r>
              <a:rPr lang="zh-TW" altLang="en-US" cap="none" dirty="0"/>
              <a:t>相關知識介紹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AE87917-A273-4B2F-9A71-2C4D6B1D07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3100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E731B-7158-8F1D-7BB8-EC56AD8D4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949725-BF48-751D-73B7-CBF5363B0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Floating Point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E0F903-1DF0-B3ED-761B-7C0BCFF81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5812094"/>
            <a:ext cx="10972800" cy="77126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zh-TW" altLang="en-US" sz="1800" dirty="0"/>
              <a:t>參考資料</a:t>
            </a:r>
            <a:r>
              <a:rPr lang="en-US" altLang="zh-TW" sz="1800" dirty="0"/>
              <a:t>:</a:t>
            </a:r>
            <a:r>
              <a:rPr lang="zh-TW" altLang="en-US" sz="1800" dirty="0"/>
              <a:t> </a:t>
            </a:r>
            <a:endParaRPr lang="en-US" altLang="zh-TW" sz="1800" dirty="0"/>
          </a:p>
          <a:p>
            <a:pPr marL="0" indent="0">
              <a:buNone/>
            </a:pPr>
            <a:r>
              <a:rPr lang="en-US" altLang="zh-TW" sz="1800" dirty="0">
                <a:hlinkClick r:id="rId2"/>
              </a:rPr>
              <a:t>https://medium.com/@manyi.yim/bfloat16-vs-float32-vs-float16-back-to-the-basics-80d4aec49ca8</a:t>
            </a:r>
            <a:endParaRPr lang="en-US" altLang="zh-TW" sz="1800" dirty="0"/>
          </a:p>
          <a:p>
            <a:pPr marL="0" indent="0">
              <a:buNone/>
            </a:pPr>
            <a:r>
              <a:rPr lang="en-US" altLang="zh-TW" sz="1800" dirty="0">
                <a:hlinkClick r:id="rId3"/>
              </a:rPr>
              <a:t>https://www.exxactcorp.com/blog/hpc/what-is-fp8-fp6-fp4</a:t>
            </a:r>
            <a:endParaRPr lang="en-US" altLang="zh-TW" sz="1800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5652900A-464C-4D18-B77D-7D7A57D733A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5" t="38232" r="1276" b="9366"/>
          <a:stretch/>
        </p:blipFill>
        <p:spPr>
          <a:xfrm>
            <a:off x="609599" y="1353185"/>
            <a:ext cx="9353551" cy="2510712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0259720D-88D6-4370-BF48-9C98521EF58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6" t="5945" r="42983" b="72305"/>
          <a:stretch/>
        </p:blipFill>
        <p:spPr>
          <a:xfrm>
            <a:off x="609600" y="4396841"/>
            <a:ext cx="5305426" cy="1042113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29DD830D-10AF-4E8C-A816-E8D569408F2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51" t="5730" r="18601" b="50630"/>
          <a:stretch/>
        </p:blipFill>
        <p:spPr>
          <a:xfrm>
            <a:off x="7048500" y="2590127"/>
            <a:ext cx="3981450" cy="1463111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FEC1CF44-3BF6-4A1A-8BBA-DD3009019B0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27" t="19325" r="18131" b="19864"/>
          <a:stretch/>
        </p:blipFill>
        <p:spPr>
          <a:xfrm>
            <a:off x="7048500" y="4364013"/>
            <a:ext cx="2847975" cy="142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046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FB58E3-D1B7-407D-A205-43BBC7BC8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Floating Point</a:t>
            </a:r>
            <a:r>
              <a:rPr lang="zh-TW" altLang="en-US" dirty="0"/>
              <a:t> </a:t>
            </a:r>
            <a:r>
              <a:rPr lang="en-US" altLang="zh-TW" dirty="0"/>
              <a:t>– bfloat16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FCE4CF-6BD7-4BA3-BCEE-D0BDAD60F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78349"/>
            <a:ext cx="11458575" cy="5614551"/>
          </a:xfrm>
        </p:spPr>
        <p:txBody>
          <a:bodyPr>
            <a:normAutofit/>
          </a:bodyPr>
          <a:lstStyle/>
          <a:p>
            <a:r>
              <a:rPr lang="en-US" altLang="zh-TW" dirty="0"/>
              <a:t>Sign: 0 </a:t>
            </a:r>
            <a:r>
              <a:rPr lang="zh-TW" altLang="en-US" dirty="0"/>
              <a:t>代表正，</a:t>
            </a:r>
            <a:r>
              <a:rPr lang="en-US" altLang="zh-TW" dirty="0"/>
              <a:t>1</a:t>
            </a:r>
            <a:r>
              <a:rPr lang="zh-TW" altLang="en-US" dirty="0"/>
              <a:t> 代表負</a:t>
            </a:r>
            <a:endParaRPr lang="en-US" altLang="zh-TW" dirty="0"/>
          </a:p>
          <a:p>
            <a:r>
              <a:rPr lang="en-US" altLang="zh-TW" dirty="0"/>
              <a:t>Exponent: 2</a:t>
            </a:r>
            <a:r>
              <a:rPr lang="zh-TW" altLang="en-US" dirty="0"/>
              <a:t> 的幾次方</a:t>
            </a:r>
            <a:endParaRPr lang="en-US" altLang="zh-TW" dirty="0"/>
          </a:p>
          <a:p>
            <a:r>
              <a:rPr lang="en-US" altLang="zh-TW" dirty="0"/>
              <a:t>Fraction (mantissa): </a:t>
            </a:r>
            <a:r>
              <a:rPr lang="zh-TW" altLang="en-US" dirty="0"/>
              <a:t>小數點後的值 </a:t>
            </a:r>
            <a:r>
              <a:rPr lang="en-US" altLang="zh-TW" dirty="0"/>
              <a:t>(1.fraction)</a:t>
            </a:r>
          </a:p>
          <a:p>
            <a:r>
              <a:rPr lang="zh-TW" altLang="en-US" dirty="0"/>
              <a:t>公式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(-1)</a:t>
            </a:r>
            <a:r>
              <a:rPr lang="en-US" altLang="zh-TW" baseline="30000" dirty="0"/>
              <a:t>Sign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r>
              <a:rPr lang="en-US" altLang="zh-TW" baseline="30000" dirty="0"/>
              <a:t>(Exponent-</a:t>
            </a:r>
            <a:r>
              <a:rPr lang="en-US" altLang="zh-TW" baseline="30000" dirty="0">
                <a:highlight>
                  <a:srgbClr val="FFFF00"/>
                </a:highlight>
              </a:rPr>
              <a:t>127</a:t>
            </a:r>
            <a:r>
              <a:rPr lang="en-US" altLang="zh-TW" baseline="30000" dirty="0"/>
              <a:t>)</a:t>
            </a:r>
            <a:r>
              <a:rPr lang="zh-TW" altLang="en-US" baseline="30000" dirty="0"/>
              <a:t> 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1.Fraction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Example:</a:t>
            </a:r>
          </a:p>
          <a:p>
            <a:r>
              <a:rPr lang="zh-TW" altLang="en-US" dirty="0"/>
              <a:t> </a:t>
            </a:r>
            <a:r>
              <a:rPr lang="en-US" altLang="zh-TW" dirty="0"/>
              <a:t>1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FFC000"/>
                </a:solidFill>
              </a:rPr>
              <a:t>0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00B050"/>
                </a:solidFill>
              </a:rPr>
              <a:t>01111111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0000000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(-1)</a:t>
            </a:r>
            <a:r>
              <a:rPr lang="en-US" altLang="zh-TW" baseline="30000" dirty="0">
                <a:solidFill>
                  <a:srgbClr val="FFC000"/>
                </a:solidFill>
              </a:rPr>
              <a:t>0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r>
              <a:rPr lang="en-US" altLang="zh-TW" baseline="30000" dirty="0"/>
              <a:t>(</a:t>
            </a:r>
            <a:r>
              <a:rPr lang="en-US" altLang="zh-TW" baseline="30000" dirty="0">
                <a:solidFill>
                  <a:srgbClr val="00B050"/>
                </a:solidFill>
              </a:rPr>
              <a:t>127</a:t>
            </a:r>
            <a:r>
              <a:rPr lang="en-US" altLang="zh-TW" baseline="30000" dirty="0"/>
              <a:t>-127)</a:t>
            </a:r>
            <a:r>
              <a:rPr lang="zh-TW" altLang="en-US" baseline="30000" dirty="0"/>
              <a:t> 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1.</a:t>
            </a:r>
            <a:r>
              <a:rPr lang="en-US" altLang="zh-TW" dirty="0">
                <a:solidFill>
                  <a:srgbClr val="FF0000"/>
                </a:solidFill>
              </a:rPr>
              <a:t>0000000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-3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FFC000"/>
                </a:solidFill>
              </a:rPr>
              <a:t>1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00B050"/>
                </a:solidFill>
              </a:rPr>
              <a:t>10000000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1000000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(-1)</a:t>
            </a:r>
            <a:r>
              <a:rPr lang="en-US" altLang="zh-TW" baseline="30000" dirty="0">
                <a:solidFill>
                  <a:srgbClr val="FFC000"/>
                </a:solidFill>
              </a:rPr>
              <a:t>1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r>
              <a:rPr lang="en-US" altLang="zh-TW" baseline="30000" dirty="0"/>
              <a:t>(</a:t>
            </a:r>
            <a:r>
              <a:rPr lang="en-US" altLang="zh-TW" baseline="30000" dirty="0">
                <a:solidFill>
                  <a:srgbClr val="00B050"/>
                </a:solidFill>
              </a:rPr>
              <a:t>128</a:t>
            </a:r>
            <a:r>
              <a:rPr lang="en-US" altLang="zh-TW" baseline="30000" dirty="0"/>
              <a:t>-127)</a:t>
            </a:r>
            <a:r>
              <a:rPr lang="zh-TW" altLang="en-US" baseline="30000" dirty="0"/>
              <a:t> 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1.</a:t>
            </a:r>
            <a:r>
              <a:rPr lang="en-US" altLang="zh-TW" dirty="0">
                <a:solidFill>
                  <a:srgbClr val="FF0000"/>
                </a:solidFill>
              </a:rPr>
              <a:t>1000000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/>
              <a:t>Issue: LLM(Large Language Model, e.g. </a:t>
            </a:r>
            <a:r>
              <a:rPr lang="en-US" altLang="zh-TW" dirty="0" err="1"/>
              <a:t>ChatGPT</a:t>
            </a:r>
            <a:r>
              <a:rPr lang="en-US" altLang="zh-TW" dirty="0"/>
              <a:t>)</a:t>
            </a:r>
            <a:r>
              <a:rPr lang="zh-TW" altLang="en-US" dirty="0"/>
              <a:t> 中，</a:t>
            </a:r>
            <a:r>
              <a:rPr lang="en-US" altLang="zh-TW" dirty="0"/>
              <a:t>memory</a:t>
            </a:r>
            <a:r>
              <a:rPr lang="zh-TW" altLang="en-US" dirty="0"/>
              <a:t> 需求大，若改用 </a:t>
            </a:r>
            <a:r>
              <a:rPr lang="en-US" altLang="zh-TW" dirty="0"/>
              <a:t>INT4</a:t>
            </a:r>
            <a:r>
              <a:rPr lang="zh-TW" altLang="en-US" dirty="0"/>
              <a:t>、</a:t>
            </a:r>
            <a:r>
              <a:rPr lang="en-US" altLang="zh-TW" dirty="0"/>
              <a:t>INT8</a:t>
            </a:r>
            <a:r>
              <a:rPr lang="zh-TW" altLang="en-US" dirty="0"/>
              <a:t> 來計算，精度又會太低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E94EF21-8030-4F4D-AFCB-733ADD17C1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6" t="5945" r="47890" b="72305"/>
          <a:stretch/>
        </p:blipFill>
        <p:spPr>
          <a:xfrm>
            <a:off x="6688421" y="676494"/>
            <a:ext cx="5136866" cy="110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30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FB58E3-D1B7-407D-A205-43BBC7BC8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Floating Point</a:t>
            </a:r>
            <a:r>
              <a:rPr lang="zh-TW" altLang="en-US" dirty="0"/>
              <a:t> </a:t>
            </a:r>
            <a:r>
              <a:rPr lang="en-US" altLang="zh-TW" dirty="0"/>
              <a:t>– FP4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FCE4CF-6BD7-4BA3-BCEE-D0BDAD60F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78350"/>
            <a:ext cx="11458575" cy="5505012"/>
          </a:xfrm>
        </p:spPr>
        <p:txBody>
          <a:bodyPr>
            <a:normAutofit/>
          </a:bodyPr>
          <a:lstStyle/>
          <a:p>
            <a:r>
              <a:rPr lang="en-US" altLang="zh-TW" dirty="0"/>
              <a:t>Sign: 0 </a:t>
            </a:r>
            <a:r>
              <a:rPr lang="zh-TW" altLang="en-US" dirty="0"/>
              <a:t>代表正，</a:t>
            </a:r>
            <a:r>
              <a:rPr lang="en-US" altLang="zh-TW" dirty="0"/>
              <a:t>1</a:t>
            </a:r>
            <a:r>
              <a:rPr lang="zh-TW" altLang="en-US" dirty="0"/>
              <a:t> 代表負</a:t>
            </a:r>
            <a:endParaRPr lang="en-US" altLang="zh-TW" dirty="0"/>
          </a:p>
          <a:p>
            <a:r>
              <a:rPr lang="en-US" altLang="zh-TW" dirty="0"/>
              <a:t>Exponent: 2</a:t>
            </a:r>
            <a:r>
              <a:rPr lang="zh-TW" altLang="en-US" dirty="0"/>
              <a:t> 的幾次方</a:t>
            </a:r>
            <a:endParaRPr lang="en-US" altLang="zh-TW" dirty="0"/>
          </a:p>
          <a:p>
            <a:r>
              <a:rPr lang="en-US" altLang="zh-TW" dirty="0"/>
              <a:t>Fraction (mantissa): </a:t>
            </a:r>
            <a:r>
              <a:rPr lang="zh-TW" altLang="en-US" dirty="0"/>
              <a:t>小數點後的值 </a:t>
            </a:r>
            <a:r>
              <a:rPr lang="en-US" altLang="zh-TW" dirty="0"/>
              <a:t>(1.fraction)</a:t>
            </a:r>
          </a:p>
          <a:p>
            <a:r>
              <a:rPr lang="zh-TW" altLang="en-US" dirty="0"/>
              <a:t>公式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(-1)</a:t>
            </a:r>
            <a:r>
              <a:rPr lang="en-US" altLang="zh-TW" baseline="30000" dirty="0"/>
              <a:t>Sign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r>
              <a:rPr lang="en-US" altLang="zh-TW" baseline="30000" dirty="0"/>
              <a:t>(Exponent-</a:t>
            </a:r>
            <a:r>
              <a:rPr lang="en-US" altLang="zh-TW" baseline="30000" dirty="0">
                <a:highlight>
                  <a:srgbClr val="FFFF00"/>
                </a:highlight>
              </a:rPr>
              <a:t>1</a:t>
            </a:r>
            <a:r>
              <a:rPr lang="en-US" altLang="zh-TW" baseline="30000" dirty="0"/>
              <a:t>)</a:t>
            </a:r>
            <a:r>
              <a:rPr lang="zh-TW" altLang="en-US" baseline="30000" dirty="0"/>
              <a:t> 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1.Fraction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Example:</a:t>
            </a:r>
          </a:p>
          <a:p>
            <a:r>
              <a:rPr lang="zh-TW" altLang="en-US" dirty="0"/>
              <a:t> </a:t>
            </a:r>
            <a:r>
              <a:rPr lang="en-US" altLang="zh-TW" dirty="0"/>
              <a:t>1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FFC000"/>
                </a:solidFill>
              </a:rPr>
              <a:t>0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00B050"/>
                </a:solidFill>
              </a:rPr>
              <a:t>01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0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(-1)</a:t>
            </a:r>
            <a:r>
              <a:rPr lang="en-US" altLang="zh-TW" baseline="30000" dirty="0">
                <a:solidFill>
                  <a:srgbClr val="FFC000"/>
                </a:solidFill>
              </a:rPr>
              <a:t>0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r>
              <a:rPr lang="en-US" altLang="zh-TW" baseline="30000" dirty="0"/>
              <a:t>(</a:t>
            </a:r>
            <a:r>
              <a:rPr lang="en-US" altLang="zh-TW" baseline="30000" dirty="0">
                <a:solidFill>
                  <a:srgbClr val="00B050"/>
                </a:solidFill>
              </a:rPr>
              <a:t>1</a:t>
            </a:r>
            <a:r>
              <a:rPr lang="en-US" altLang="zh-TW" baseline="30000" dirty="0"/>
              <a:t>-1)</a:t>
            </a:r>
            <a:r>
              <a:rPr lang="zh-TW" altLang="en-US" baseline="30000" dirty="0"/>
              <a:t> 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1.</a:t>
            </a:r>
            <a:r>
              <a:rPr lang="en-US" altLang="zh-TW" dirty="0">
                <a:solidFill>
                  <a:srgbClr val="FF0000"/>
                </a:solidFill>
              </a:rPr>
              <a:t>0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-3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FFC000"/>
                </a:solidFill>
              </a:rPr>
              <a:t>1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00B050"/>
                </a:solidFill>
              </a:rPr>
              <a:t>10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1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(-1)</a:t>
            </a:r>
            <a:r>
              <a:rPr lang="en-US" altLang="zh-TW" baseline="30000" dirty="0">
                <a:solidFill>
                  <a:srgbClr val="FFC000"/>
                </a:solidFill>
              </a:rPr>
              <a:t>1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r>
              <a:rPr lang="en-US" altLang="zh-TW" baseline="30000" dirty="0"/>
              <a:t>(</a:t>
            </a:r>
            <a:r>
              <a:rPr lang="en-US" altLang="zh-TW" baseline="30000" dirty="0">
                <a:solidFill>
                  <a:srgbClr val="00B050"/>
                </a:solidFill>
              </a:rPr>
              <a:t>2</a:t>
            </a:r>
            <a:r>
              <a:rPr lang="en-US" altLang="zh-TW" baseline="30000" dirty="0"/>
              <a:t>-1)</a:t>
            </a:r>
            <a:r>
              <a:rPr lang="zh-TW" altLang="en-US" baseline="30000" dirty="0"/>
              <a:t> 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1.</a:t>
            </a:r>
            <a:r>
              <a:rPr lang="en-US" altLang="zh-TW" dirty="0">
                <a:solidFill>
                  <a:srgbClr val="FF0000"/>
                </a:solidFill>
              </a:rPr>
              <a:t>1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9A4A82D-D6B2-4054-8BA9-F5DE5749F1B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27" t="19325" r="18131" b="19864"/>
          <a:stretch/>
        </p:blipFill>
        <p:spPr>
          <a:xfrm>
            <a:off x="8382000" y="1249337"/>
            <a:ext cx="3200400" cy="159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2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FB58E3-D1B7-407D-A205-43BBC7BC8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Floating Point</a:t>
            </a:r>
            <a:r>
              <a:rPr lang="zh-TW" altLang="en-US" dirty="0"/>
              <a:t> </a:t>
            </a:r>
            <a:r>
              <a:rPr lang="en-US" altLang="zh-TW" dirty="0"/>
              <a:t>– FP8 (E4M3)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FCE4CF-6BD7-4BA3-BCEE-D0BDAD60F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78350"/>
            <a:ext cx="11458575" cy="5505012"/>
          </a:xfrm>
        </p:spPr>
        <p:txBody>
          <a:bodyPr>
            <a:normAutofit/>
          </a:bodyPr>
          <a:lstStyle/>
          <a:p>
            <a:r>
              <a:rPr lang="en-US" altLang="zh-TW" dirty="0"/>
              <a:t>Sign: 0 </a:t>
            </a:r>
            <a:r>
              <a:rPr lang="zh-TW" altLang="en-US" dirty="0"/>
              <a:t>代表正，</a:t>
            </a:r>
            <a:r>
              <a:rPr lang="en-US" altLang="zh-TW" dirty="0"/>
              <a:t>1</a:t>
            </a:r>
            <a:r>
              <a:rPr lang="zh-TW" altLang="en-US" dirty="0"/>
              <a:t> 代表負</a:t>
            </a:r>
            <a:endParaRPr lang="en-US" altLang="zh-TW" dirty="0"/>
          </a:p>
          <a:p>
            <a:r>
              <a:rPr lang="en-US" altLang="zh-TW" dirty="0"/>
              <a:t>Exponent: 2</a:t>
            </a:r>
            <a:r>
              <a:rPr lang="zh-TW" altLang="en-US" dirty="0"/>
              <a:t> 的幾次方</a:t>
            </a:r>
            <a:endParaRPr lang="en-US" altLang="zh-TW" dirty="0"/>
          </a:p>
          <a:p>
            <a:r>
              <a:rPr lang="en-US" altLang="zh-TW" dirty="0"/>
              <a:t>Fraction (mantissa): </a:t>
            </a:r>
            <a:r>
              <a:rPr lang="zh-TW" altLang="en-US" dirty="0"/>
              <a:t>小數點後的值 </a:t>
            </a:r>
            <a:r>
              <a:rPr lang="en-US" altLang="zh-TW" dirty="0"/>
              <a:t>(1.fraction)</a:t>
            </a:r>
          </a:p>
          <a:p>
            <a:r>
              <a:rPr lang="zh-TW" altLang="en-US" dirty="0"/>
              <a:t>公式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(-1)</a:t>
            </a:r>
            <a:r>
              <a:rPr lang="en-US" altLang="zh-TW" baseline="30000" dirty="0"/>
              <a:t>Sign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r>
              <a:rPr lang="en-US" altLang="zh-TW" baseline="30000" dirty="0"/>
              <a:t>(Exponent-</a:t>
            </a:r>
            <a:r>
              <a:rPr lang="en-US" altLang="zh-TW" baseline="30000" dirty="0">
                <a:highlight>
                  <a:srgbClr val="FFFF00"/>
                </a:highlight>
              </a:rPr>
              <a:t>7</a:t>
            </a:r>
            <a:r>
              <a:rPr lang="en-US" altLang="zh-TW" baseline="30000" dirty="0"/>
              <a:t>)</a:t>
            </a:r>
            <a:r>
              <a:rPr lang="zh-TW" altLang="en-US" baseline="30000" dirty="0"/>
              <a:t> 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1.Fraction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Example:</a:t>
            </a:r>
          </a:p>
          <a:p>
            <a:r>
              <a:rPr lang="zh-TW" altLang="en-US" dirty="0"/>
              <a:t> </a:t>
            </a:r>
            <a:r>
              <a:rPr lang="en-US" altLang="zh-TW" dirty="0"/>
              <a:t>1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FFC000"/>
                </a:solidFill>
              </a:rPr>
              <a:t>0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00B050"/>
                </a:solidFill>
              </a:rPr>
              <a:t>0111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000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(-1)</a:t>
            </a:r>
            <a:r>
              <a:rPr lang="en-US" altLang="zh-TW" baseline="30000" dirty="0">
                <a:solidFill>
                  <a:srgbClr val="FFC000"/>
                </a:solidFill>
              </a:rPr>
              <a:t>0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r>
              <a:rPr lang="en-US" altLang="zh-TW" baseline="30000" dirty="0"/>
              <a:t>(</a:t>
            </a:r>
            <a:r>
              <a:rPr lang="en-US" altLang="zh-TW" baseline="30000" dirty="0">
                <a:solidFill>
                  <a:srgbClr val="00B050"/>
                </a:solidFill>
              </a:rPr>
              <a:t>7</a:t>
            </a:r>
            <a:r>
              <a:rPr lang="en-US" altLang="zh-TW" baseline="30000" dirty="0"/>
              <a:t>-7)</a:t>
            </a:r>
            <a:r>
              <a:rPr lang="zh-TW" altLang="en-US" baseline="30000" dirty="0"/>
              <a:t> 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1.</a:t>
            </a:r>
            <a:r>
              <a:rPr lang="en-US" altLang="zh-TW" dirty="0">
                <a:solidFill>
                  <a:srgbClr val="FF0000"/>
                </a:solidFill>
              </a:rPr>
              <a:t>000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-6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FFC000"/>
                </a:solidFill>
              </a:rPr>
              <a:t>1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00B050"/>
                </a:solidFill>
              </a:rPr>
              <a:t>1001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010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(-1)</a:t>
            </a:r>
            <a:r>
              <a:rPr lang="en-US" altLang="zh-TW" baseline="30000" dirty="0">
                <a:solidFill>
                  <a:srgbClr val="FFC000"/>
                </a:solidFill>
              </a:rPr>
              <a:t>1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r>
              <a:rPr lang="en-US" altLang="zh-TW" baseline="30000" dirty="0"/>
              <a:t>(</a:t>
            </a:r>
            <a:r>
              <a:rPr lang="en-US" altLang="zh-TW" baseline="30000" dirty="0">
                <a:solidFill>
                  <a:srgbClr val="00B050"/>
                </a:solidFill>
              </a:rPr>
              <a:t>9</a:t>
            </a:r>
            <a:r>
              <a:rPr lang="en-US" altLang="zh-TW" baseline="30000" dirty="0"/>
              <a:t>-7)</a:t>
            </a:r>
            <a:r>
              <a:rPr lang="zh-TW" altLang="en-US" baseline="30000" dirty="0"/>
              <a:t> 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1.</a:t>
            </a:r>
            <a:r>
              <a:rPr lang="en-US" altLang="zh-TW" dirty="0">
                <a:solidFill>
                  <a:srgbClr val="FF0000"/>
                </a:solidFill>
              </a:rPr>
              <a:t>010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2FA825B-B654-4683-B67C-D77ED22422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51" t="5730" r="18601" b="50630"/>
          <a:stretch/>
        </p:blipFill>
        <p:spPr>
          <a:xfrm>
            <a:off x="7884352" y="1304925"/>
            <a:ext cx="4095305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447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F3A2E5-F2C3-4246-BD69-F021D5F7C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What is NVFP4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3232A13-7CCF-42A4-B8FE-A326C8F21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NVIDIA </a:t>
            </a:r>
            <a:r>
              <a:rPr lang="zh-TW" altLang="en-US" dirty="0"/>
              <a:t>設計之 </a:t>
            </a:r>
            <a:r>
              <a:rPr lang="en-US" altLang="zh-TW" dirty="0"/>
              <a:t>4-bit low precision </a:t>
            </a:r>
            <a:r>
              <a:rPr lang="zh-TW" altLang="en-US" dirty="0"/>
              <a:t>格式</a:t>
            </a:r>
            <a:endParaRPr lang="en-US" altLang="zh-TW" dirty="0"/>
          </a:p>
          <a:p>
            <a:r>
              <a:rPr lang="en-US" altLang="zh-TW" dirty="0"/>
              <a:t>Enhance throughput, lower memory bandwidth</a:t>
            </a:r>
          </a:p>
          <a:p>
            <a:r>
              <a:rPr lang="en-US" altLang="zh-TW" dirty="0"/>
              <a:t>Reduce quantization error by “scaling”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9229FCF-2FA0-49A0-A935-E57F8E7CC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667219"/>
            <a:ext cx="8096249" cy="3614245"/>
          </a:xfrm>
          <a:prstGeom prst="rect">
            <a:avLst/>
          </a:prstGeom>
        </p:spPr>
      </p:pic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5F97D3A6-AF6E-4CA9-ACD6-F60E9BEE0FE7}"/>
              </a:ext>
            </a:extLst>
          </p:cNvPr>
          <p:cNvSpPr txBox="1">
            <a:spLocks/>
          </p:cNvSpPr>
          <p:nvPr/>
        </p:nvSpPr>
        <p:spPr bwMode="auto">
          <a:xfrm>
            <a:off x="609600" y="6247112"/>
            <a:ext cx="10972800" cy="472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  <a:cs typeface="微軟正黑體" panose="020B0604030504040204" pitchFamily="34" charset="-12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rgbClr val="376092"/>
                </a:solidFill>
                <a:latin typeface="+mn-lt"/>
                <a:ea typeface="微軟正黑體" panose="020B0604030504040204" pitchFamily="34" charset="-120"/>
                <a:cs typeface="微軟正黑體" panose="020B0604030504040204" pitchFamily="34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rgbClr val="4F6228"/>
                </a:solidFill>
                <a:latin typeface="+mn-lt"/>
                <a:ea typeface="微軟正黑體" panose="020B0604030504040204" pitchFamily="34" charset="-120"/>
                <a:cs typeface="微軟正黑體" panose="020B0604030504040204" pitchFamily="34" charset="-12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rgbClr val="953735"/>
                </a:solidFill>
                <a:latin typeface="+mn-lt"/>
                <a:ea typeface="微軟正黑體" panose="020B0604030504040204" pitchFamily="34" charset="-120"/>
                <a:cs typeface="微軟正黑體" panose="020B0604030504040204" pitchFamily="34" charset="-12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rgbClr val="E46C0A"/>
                </a:solidFill>
                <a:latin typeface="+mn-lt"/>
                <a:ea typeface="微軟正黑體" panose="020B0604030504040204" pitchFamily="34" charset="-120"/>
                <a:cs typeface="微軟正黑體" panose="020B0604030504040204" pitchFamily="34" charset="-12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zh-TW" altLang="en-US" sz="1800" dirty="0"/>
              <a:t>參考資料</a:t>
            </a:r>
            <a:r>
              <a:rPr lang="en-US" altLang="zh-TW" sz="1800" dirty="0"/>
              <a:t>:</a:t>
            </a:r>
            <a:r>
              <a:rPr lang="zh-TW" altLang="en-US" sz="1800" dirty="0"/>
              <a:t> </a:t>
            </a:r>
            <a:r>
              <a:rPr lang="en-US" altLang="zh-TW" sz="1800" dirty="0">
                <a:hlinkClick r:id="rId3"/>
              </a:rPr>
              <a:t>https://developer.nvidia.cn/blog/introducing-nvfp4-for-efficient-and-accurate-low-precision-inference/</a:t>
            </a:r>
            <a:endParaRPr lang="en-US" altLang="zh-TW" sz="1800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754797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8AC83-1082-E9ED-AAA8-4D6BA5EB2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642D30-2997-7052-7CC1-3B075E767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NVFP4-like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6B55AB1-50DF-8E42-A2C2-16073A5550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078350"/>
                <a:ext cx="11197897" cy="5279589"/>
              </a:xfrm>
            </p:spPr>
            <p:txBody>
              <a:bodyPr/>
              <a:lstStyle/>
              <a:p>
                <a:r>
                  <a:rPr lang="zh-TW" altLang="en-US" dirty="0"/>
                  <a:t>為了讓同學更簡單地實作 </a:t>
                </a:r>
                <a:r>
                  <a:rPr lang="en-US" altLang="zh-TW" dirty="0"/>
                  <a:t>NVFP4</a:t>
                </a:r>
                <a:r>
                  <a:rPr lang="zh-TW" altLang="en-US" dirty="0"/>
                  <a:t> ，採用 </a:t>
                </a:r>
                <a:r>
                  <a:rPr lang="en-US" altLang="zh-TW" dirty="0"/>
                  <a:t>NVFP4-like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(FP32 </a:t>
                </a:r>
                <a:r>
                  <a:rPr lang="en-US" altLang="zh-TW" dirty="0">
                    <a:sym typeface="Wingdings" panose="05000000000000000000" pitchFamily="2" charset="2"/>
                  </a:rPr>
                  <a:t> bfloat16</a:t>
                </a:r>
                <a:r>
                  <a:rPr lang="en-US" altLang="zh-TW" dirty="0"/>
                  <a:t>)</a:t>
                </a:r>
              </a:p>
              <a:p>
                <a:r>
                  <a:rPr lang="zh-TW" altLang="en-US" dirty="0"/>
                  <a:t>計算過程中不含 </a:t>
                </a:r>
                <a:r>
                  <a:rPr lang="en-US" altLang="zh-TW" dirty="0"/>
                  <a:t>subnormal / </a:t>
                </a:r>
                <a:r>
                  <a:rPr lang="en-US" altLang="zh-TW" dirty="0" err="1"/>
                  <a:t>NaN</a:t>
                </a:r>
                <a:r>
                  <a:rPr lang="en-US" altLang="zh-TW" dirty="0"/>
                  <a:t> / Inf</a:t>
                </a:r>
                <a:r>
                  <a:rPr lang="zh-TW" altLang="en-US" dirty="0"/>
                  <a:t>，也就是 </a:t>
                </a:r>
                <a:r>
                  <a:rPr lang="en-US" altLang="zh-TW" dirty="0"/>
                  <a:t>E </a:t>
                </a:r>
                <a:r>
                  <a:rPr lang="zh-TW" altLang="en-US" dirty="0"/>
                  <a:t>不會全為 </a:t>
                </a:r>
                <a:r>
                  <a:rPr lang="en-US" altLang="zh-TW" dirty="0"/>
                  <a:t>0</a:t>
                </a:r>
                <a:r>
                  <a:rPr lang="zh-TW" altLang="en-US" dirty="0"/>
                  <a:t> 或全為 </a:t>
                </a:r>
                <a:r>
                  <a:rPr lang="en-US" altLang="zh-TW" dirty="0"/>
                  <a:t>1</a:t>
                </a:r>
              </a:p>
              <a:p>
                <a:r>
                  <a:rPr lang="en-US" altLang="zh-TW" dirty="0" err="1">
                    <a:solidFill>
                      <a:srgbClr val="FF0000"/>
                    </a:solidFill>
                  </a:rPr>
                  <a:t>x</a:t>
                </a:r>
                <a:r>
                  <a:rPr lang="en-US" altLang="zh-TW" baseline="-25000" dirty="0" err="1">
                    <a:solidFill>
                      <a:srgbClr val="FF0000"/>
                    </a:solidFill>
                  </a:rPr>
                  <a:t>real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</m:oMath>
                </a14:m>
                <a:r>
                  <a:rPr lang="en-US" altLang="zh-TW" dirty="0">
                    <a:solidFill>
                      <a:srgbClr val="FF0000"/>
                    </a:solidFill>
                  </a:rPr>
                  <a:t> (x</a:t>
                </a:r>
                <a:r>
                  <a:rPr lang="en-US" altLang="zh-TW" baseline="-25000" dirty="0">
                    <a:solidFill>
                      <a:srgbClr val="FF0000"/>
                    </a:solidFill>
                  </a:rPr>
                  <a:t>FP4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) * (factor</a:t>
                </a:r>
                <a:r>
                  <a:rPr lang="en-US" altLang="zh-TW" baseline="-25000" dirty="0">
                    <a:solidFill>
                      <a:srgbClr val="FF0000"/>
                    </a:solidFill>
                  </a:rPr>
                  <a:t>FP8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) * (factor</a:t>
                </a:r>
                <a:r>
                  <a:rPr lang="en-US" altLang="zh-TW" baseline="-25000" dirty="0">
                    <a:solidFill>
                      <a:srgbClr val="FF0000"/>
                    </a:solidFill>
                  </a:rPr>
                  <a:t>bfloat16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)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6B55AB1-50DF-8E42-A2C2-16073A5550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078350"/>
                <a:ext cx="11197897" cy="5279589"/>
              </a:xfrm>
              <a:blipFill>
                <a:blip r:embed="rId2"/>
                <a:stretch>
                  <a:fillRect l="-980" t="-1501" r="-2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>
            <a:extLst>
              <a:ext uri="{FF2B5EF4-FFF2-40B4-BE49-F238E27FC236}">
                <a16:creationId xmlns:a16="http://schemas.microsoft.com/office/drawing/2014/main" id="{5CCF2D31-DDB5-46FE-A07D-C6D11B28E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724151"/>
            <a:ext cx="8662154" cy="3866872"/>
          </a:xfrm>
          <a:prstGeom prst="rect">
            <a:avLst/>
          </a:prstGeom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C0977351-30DE-4725-975D-92C2B70026D7}"/>
              </a:ext>
            </a:extLst>
          </p:cNvPr>
          <p:cNvSpPr/>
          <p:nvPr/>
        </p:nvSpPr>
        <p:spPr>
          <a:xfrm>
            <a:off x="6610350" y="4261996"/>
            <a:ext cx="2661404" cy="76329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D787D20-3F52-4D4E-98BD-63329529D21C}"/>
              </a:ext>
            </a:extLst>
          </p:cNvPr>
          <p:cNvSpPr txBox="1"/>
          <p:nvPr/>
        </p:nvSpPr>
        <p:spPr>
          <a:xfrm>
            <a:off x="8019722" y="3123742"/>
            <a:ext cx="3787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本次實作中，此部分改用 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bfloat16</a:t>
            </a:r>
            <a:endParaRPr lang="zh-TW" altLang="en-US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57082D15-4752-49A2-8E16-F22969574282}"/>
              </a:ext>
            </a:extLst>
          </p:cNvPr>
          <p:cNvCxnSpPr>
            <a:cxnSpLocks/>
          </p:cNvCxnSpPr>
          <p:nvPr/>
        </p:nvCxnSpPr>
        <p:spPr>
          <a:xfrm flipV="1">
            <a:off x="8956799" y="3499782"/>
            <a:ext cx="539626" cy="85508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6143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54A2-5C67-C83D-D21E-2920BAE48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9D6DC0-D7DD-D164-D886-FBD50AD4E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NVFP4-like – </a:t>
            </a:r>
            <a:r>
              <a:rPr lang="zh-TW" altLang="en-US" dirty="0"/>
              <a:t>加法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ABB3B1-625F-A3DF-8EEA-F05D11D4E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78350"/>
            <a:ext cx="10972800" cy="527482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將 </a:t>
            </a:r>
            <a:r>
              <a:rPr lang="en-US" altLang="zh-TW" dirty="0"/>
              <a:t>input</a:t>
            </a:r>
            <a:r>
              <a:rPr lang="en-US" altLang="zh-TW" baseline="-25000" dirty="0"/>
              <a:t>FP4</a:t>
            </a:r>
            <a:r>
              <a:rPr lang="en-US" altLang="zh-TW" dirty="0"/>
              <a:t> </a:t>
            </a:r>
            <a:r>
              <a:rPr lang="zh-TW" altLang="en-US" dirty="0"/>
              <a:t>換成 </a:t>
            </a:r>
            <a:r>
              <a:rPr lang="en-US" altLang="zh-TW" dirty="0"/>
              <a:t>input</a:t>
            </a:r>
            <a:r>
              <a:rPr lang="en-US" altLang="zh-TW" baseline="-25000" dirty="0"/>
              <a:t>bfloat16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將 </a:t>
            </a:r>
            <a:r>
              <a:rPr lang="en-US" altLang="zh-TW" dirty="0"/>
              <a:t>factor</a:t>
            </a:r>
            <a:r>
              <a:rPr lang="en-US" altLang="zh-TW" baseline="-25000" dirty="0"/>
              <a:t>1, FP8</a:t>
            </a:r>
            <a:r>
              <a:rPr lang="zh-TW" altLang="en-US" dirty="0"/>
              <a:t> 換成 </a:t>
            </a:r>
            <a:r>
              <a:rPr lang="en-US" altLang="zh-TW" dirty="0"/>
              <a:t>factor</a:t>
            </a:r>
            <a:r>
              <a:rPr lang="en-US" altLang="zh-TW" baseline="-25000" dirty="0"/>
              <a:t>1, bfloat16 </a:t>
            </a:r>
            <a:r>
              <a:rPr lang="zh-TW" altLang="en-US" dirty="0"/>
              <a:t>，並乘上 </a:t>
            </a:r>
            <a:r>
              <a:rPr lang="en-US" altLang="zh-TW" dirty="0"/>
              <a:t>input</a:t>
            </a:r>
            <a:r>
              <a:rPr lang="en-US" altLang="zh-TW" baseline="-25000" dirty="0"/>
              <a:t>bfloat16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再乘上 </a:t>
            </a:r>
            <a:r>
              <a:rPr lang="en-US" altLang="zh-TW" dirty="0"/>
              <a:t>factor</a:t>
            </a:r>
            <a:r>
              <a:rPr lang="en-US" altLang="zh-TW" baseline="-25000" dirty="0"/>
              <a:t>2, bfloat16</a:t>
            </a:r>
            <a:r>
              <a:rPr lang="zh-TW" altLang="en-US" dirty="0"/>
              <a:t> 得到 </a:t>
            </a:r>
            <a:r>
              <a:rPr lang="en-US" altLang="zh-TW" dirty="0" err="1"/>
              <a:t>input</a:t>
            </a:r>
            <a:r>
              <a:rPr lang="en-US" altLang="zh-TW" baseline="-25000" dirty="0" err="1"/>
              <a:t>real</a:t>
            </a:r>
            <a:r>
              <a:rPr lang="en-US" altLang="zh-TW" baseline="-25000" dirty="0"/>
              <a:t>, bfloat16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>
                <a:sym typeface="Wingdings" panose="05000000000000000000" pitchFamily="2" charset="2"/>
              </a:rPr>
              <a:t>還原成 </a:t>
            </a:r>
            <a:r>
              <a:rPr lang="en-US" altLang="zh-TW" dirty="0">
                <a:sym typeface="Wingdings" panose="05000000000000000000" pitchFamily="2" charset="2"/>
              </a:rPr>
              <a:t>1.Fraction (8-bit)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對齊小數點 </a:t>
            </a:r>
            <a:r>
              <a:rPr lang="en-US" altLang="zh-TW" dirty="0"/>
              <a:t>(right shift</a:t>
            </a:r>
            <a:r>
              <a:rPr lang="zh-TW" altLang="en-US" dirty="0"/>
              <a:t> 小的數，對齊大的數</a:t>
            </a:r>
            <a:r>
              <a:rPr lang="en-US" altLang="zh-TW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對齊後把 </a:t>
            </a:r>
            <a:r>
              <a:rPr lang="en-US" altLang="zh-TW" dirty="0"/>
              <a:t>significand </a:t>
            </a:r>
            <a:r>
              <a:rPr lang="zh-TW" altLang="en-US" dirty="0"/>
              <a:t>轉成二補數 </a:t>
            </a:r>
            <a:r>
              <a:rPr lang="en-US" altLang="zh-TW" dirty="0"/>
              <a:t>(</a:t>
            </a:r>
            <a:r>
              <a:rPr lang="zh-TW" altLang="en-US" dirty="0"/>
              <a:t>依 </a:t>
            </a:r>
            <a:r>
              <a:rPr lang="en-US" altLang="zh-TW" dirty="0"/>
              <a:t>sign </a:t>
            </a:r>
            <a:r>
              <a:rPr lang="zh-TW" altLang="en-US" dirty="0"/>
              <a:t>決定是否取補數</a:t>
            </a:r>
            <a:r>
              <a:rPr lang="en-US" altLang="zh-TW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sum = a + b</a:t>
            </a:r>
          </a:p>
          <a:p>
            <a:pPr marL="914400" lvl="1" indent="-514350">
              <a:buFont typeface="+mj-lt"/>
              <a:buAutoNum type="arabicPeriod"/>
            </a:pPr>
            <a:r>
              <a:rPr lang="zh-TW" altLang="en-US" dirty="0"/>
              <a:t>判斷正負，可得 </a:t>
            </a:r>
            <a:r>
              <a:rPr lang="en-US" altLang="zh-TW" dirty="0"/>
              <a:t>Sign</a:t>
            </a:r>
          </a:p>
          <a:p>
            <a:pPr marL="914400" lvl="1" indent="-514350">
              <a:buFont typeface="+mj-lt"/>
              <a:buAutoNum type="arabicPeriod"/>
            </a:pPr>
            <a:r>
              <a:rPr lang="zh-TW" altLang="en-US" dirty="0"/>
              <a:t>找到第一個 </a:t>
            </a:r>
            <a:r>
              <a:rPr lang="en-US" altLang="zh-TW" dirty="0"/>
              <a:t>1 </a:t>
            </a:r>
            <a:r>
              <a:rPr lang="zh-TW" altLang="en-US" dirty="0"/>
              <a:t>的位置，四捨五入，可得 </a:t>
            </a:r>
            <a:r>
              <a:rPr lang="en-US" altLang="zh-TW" dirty="0"/>
              <a:t>Fraction</a:t>
            </a:r>
          </a:p>
          <a:p>
            <a:pPr marL="914400" lvl="1" indent="-514350">
              <a:buFont typeface="+mj-lt"/>
              <a:buAutoNum type="arabicPeriod"/>
            </a:pPr>
            <a:r>
              <a:rPr lang="zh-TW" altLang="en-US" dirty="0"/>
              <a:t>根據小數點移動多少，就把大的數的 </a:t>
            </a:r>
            <a:r>
              <a:rPr lang="en-US" altLang="zh-TW" dirty="0"/>
              <a:t>Exponent </a:t>
            </a:r>
            <a:r>
              <a:rPr lang="zh-TW" altLang="en-US" dirty="0"/>
              <a:t>加減多少</a:t>
            </a:r>
            <a:endParaRPr lang="en-US" altLang="zh-TW" dirty="0"/>
          </a:p>
          <a:p>
            <a:pPr marL="914400" lvl="1" indent="-514350">
              <a:buFont typeface="+mj-lt"/>
              <a:buAutoNum type="arabicPeriod"/>
            </a:pP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30924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54A2-5C67-C83D-D21E-2920BAE48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9D6DC0-D7DD-D164-D886-FBD50AD4E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NVFP4-like – </a:t>
            </a:r>
            <a:r>
              <a:rPr lang="zh-TW" altLang="en-US" dirty="0"/>
              <a:t>加法</a:t>
            </a:r>
            <a:r>
              <a:rPr lang="en-US" altLang="zh-TW" dirty="0"/>
              <a:t> example1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ABB3B1-625F-A3DF-8EEA-F05D11D4E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1078350"/>
            <a:ext cx="11582401" cy="5505012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FP4 of a = 0 01 1; FP4 of b = 0 11 1</a:t>
            </a:r>
          </a:p>
          <a:p>
            <a:r>
              <a:rPr lang="en-US" altLang="zh-TW" dirty="0"/>
              <a:t>scale factor of a = 0 1001 010; scale factor of b = 0 0101 100</a:t>
            </a:r>
          </a:p>
          <a:p>
            <a:r>
              <a:rPr lang="en-US" altLang="zh-TW" dirty="0"/>
              <a:t>scale factor of bfloat16 = 0 10000001 1010000</a:t>
            </a:r>
          </a:p>
          <a:p>
            <a:pPr marL="0" indent="0">
              <a:buNone/>
            </a:pPr>
            <a:r>
              <a:rPr lang="en-US" altLang="zh-TW" dirty="0"/>
              <a:t>   (real a) + (real b)</a:t>
            </a:r>
          </a:p>
          <a:p>
            <a:pPr marL="0" indent="0">
              <a:buNone/>
            </a:pPr>
            <a:r>
              <a:rPr lang="en-US" altLang="zh-TW" dirty="0"/>
              <a:t>= [ (1.1 * 2</a:t>
            </a:r>
            <a:r>
              <a:rPr lang="en-US" altLang="zh-TW" baseline="30000" dirty="0"/>
              <a:t>(1-1)</a:t>
            </a:r>
            <a:r>
              <a:rPr lang="en-US" altLang="zh-TW" dirty="0"/>
              <a:t>) * (1.01 * 2</a:t>
            </a:r>
            <a:r>
              <a:rPr lang="en-US" altLang="zh-TW" baseline="30000" dirty="0"/>
              <a:t>(9-7)</a:t>
            </a:r>
            <a:r>
              <a:rPr lang="en-US" altLang="zh-TW" dirty="0"/>
              <a:t>) + (1.1 * 2</a:t>
            </a:r>
            <a:r>
              <a:rPr lang="en-US" altLang="zh-TW" baseline="30000" dirty="0"/>
              <a:t>(3-1)</a:t>
            </a:r>
            <a:r>
              <a:rPr lang="en-US" altLang="zh-TW" dirty="0"/>
              <a:t>) * (1.1 * 2</a:t>
            </a:r>
            <a:r>
              <a:rPr lang="en-US" altLang="zh-TW" baseline="30000" dirty="0"/>
              <a:t>(5-7)</a:t>
            </a:r>
            <a:r>
              <a:rPr lang="en-US" altLang="zh-TW" dirty="0"/>
              <a:t>) ] * (1.101 * 2</a:t>
            </a:r>
            <a:r>
              <a:rPr lang="en-US" altLang="zh-TW" baseline="30000" dirty="0"/>
              <a:t>(129-127)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r>
              <a:rPr lang="en-US" altLang="zh-TW" dirty="0"/>
              <a:t>= [ 1.111 * 2</a:t>
            </a:r>
            <a:r>
              <a:rPr lang="en-US" altLang="zh-TW" baseline="30000" dirty="0"/>
              <a:t>2</a:t>
            </a:r>
            <a:r>
              <a:rPr lang="en-US" altLang="zh-TW" dirty="0"/>
              <a:t> + 10.01 * 2</a:t>
            </a:r>
            <a:r>
              <a:rPr lang="en-US" altLang="zh-TW" baseline="30000" dirty="0"/>
              <a:t>0</a:t>
            </a:r>
            <a:r>
              <a:rPr lang="en-US" altLang="zh-TW" dirty="0"/>
              <a:t> ] * ( 1.101 * 2</a:t>
            </a:r>
            <a:r>
              <a:rPr lang="en-US" altLang="zh-TW" baseline="30000" dirty="0"/>
              <a:t>2</a:t>
            </a:r>
            <a:r>
              <a:rPr lang="en-US" altLang="zh-TW" dirty="0"/>
              <a:t> )</a:t>
            </a:r>
          </a:p>
          <a:p>
            <a:pPr marL="0" indent="0">
              <a:buNone/>
            </a:pPr>
            <a:r>
              <a:rPr lang="en-US" altLang="zh-TW" dirty="0"/>
              <a:t>= [ 1.111 * 2</a:t>
            </a:r>
            <a:r>
              <a:rPr lang="en-US" altLang="zh-TW" baseline="30000" dirty="0"/>
              <a:t>2</a:t>
            </a:r>
            <a:r>
              <a:rPr lang="en-US" altLang="zh-TW" dirty="0"/>
              <a:t> + 0.1001 * 2</a:t>
            </a:r>
            <a:r>
              <a:rPr lang="en-US" altLang="zh-TW" baseline="30000" dirty="0"/>
              <a:t>2</a:t>
            </a:r>
            <a:r>
              <a:rPr lang="en-US" altLang="zh-TW" dirty="0"/>
              <a:t> ] * ( 1.101 * 2</a:t>
            </a:r>
            <a:r>
              <a:rPr lang="en-US" altLang="zh-TW" baseline="30000" dirty="0"/>
              <a:t>2</a:t>
            </a:r>
            <a:r>
              <a:rPr lang="en-US" altLang="zh-TW" dirty="0"/>
              <a:t> )</a:t>
            </a:r>
          </a:p>
          <a:p>
            <a:pPr marL="0" indent="0">
              <a:buNone/>
            </a:pPr>
            <a:r>
              <a:rPr lang="en-US" altLang="zh-TW" dirty="0"/>
              <a:t>= ( 10.0111 * 2</a:t>
            </a:r>
            <a:r>
              <a:rPr lang="en-US" altLang="zh-TW" baseline="30000" dirty="0"/>
              <a:t>2</a:t>
            </a:r>
            <a:r>
              <a:rPr lang="en-US" altLang="zh-TW" dirty="0"/>
              <a:t> ) * ( 1.101 * 2</a:t>
            </a:r>
            <a:r>
              <a:rPr lang="en-US" altLang="zh-TW" baseline="30000" dirty="0"/>
              <a:t>2</a:t>
            </a:r>
            <a:r>
              <a:rPr lang="en-US" altLang="zh-TW" dirty="0"/>
              <a:t> )</a:t>
            </a:r>
          </a:p>
          <a:p>
            <a:pPr marL="0" indent="0">
              <a:buNone/>
            </a:pPr>
            <a:r>
              <a:rPr lang="en-US" altLang="zh-TW" dirty="0"/>
              <a:t>= 11.1111011 * 2</a:t>
            </a:r>
            <a:r>
              <a:rPr lang="en-US" altLang="zh-TW" baseline="30000" dirty="0"/>
              <a:t>4</a:t>
            </a:r>
          </a:p>
          <a:p>
            <a:pPr marL="0" indent="0">
              <a:buNone/>
            </a:pPr>
            <a:r>
              <a:rPr lang="en-US" altLang="zh-TW" dirty="0"/>
              <a:t>= 1.</a:t>
            </a:r>
            <a:r>
              <a:rPr lang="en-US" altLang="zh-TW" dirty="0">
                <a:solidFill>
                  <a:srgbClr val="00B0F0"/>
                </a:solidFill>
              </a:rPr>
              <a:t>1111101</a:t>
            </a:r>
            <a:r>
              <a:rPr lang="en-US" altLang="zh-TW" dirty="0"/>
              <a:t>1 * 2</a:t>
            </a:r>
            <a:r>
              <a:rPr lang="en-US" altLang="zh-TW" baseline="30000" dirty="0"/>
              <a:t>(</a:t>
            </a:r>
            <a:r>
              <a:rPr lang="en-US" altLang="zh-TW" baseline="30000" dirty="0">
                <a:solidFill>
                  <a:srgbClr val="00B050"/>
                </a:solidFill>
              </a:rPr>
              <a:t>132</a:t>
            </a:r>
            <a:r>
              <a:rPr lang="en-US" altLang="zh-TW" baseline="30000" dirty="0"/>
              <a:t>-127)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>
                <a:sym typeface="Wingdings" panose="05000000000000000000" pitchFamily="2" charset="2"/>
              </a:rPr>
              <a:t> </a:t>
            </a:r>
            <a:r>
              <a:rPr lang="en-US" altLang="zh-TW" dirty="0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r>
              <a:rPr lang="en-US" altLang="zh-TW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olidFill>
                  <a:srgbClr val="00B050"/>
                </a:solidFill>
                <a:sym typeface="Wingdings" panose="05000000000000000000" pitchFamily="2" charset="2"/>
              </a:rPr>
              <a:t>10000100</a:t>
            </a:r>
            <a:r>
              <a:rPr lang="en-US" altLang="zh-TW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olidFill>
                  <a:srgbClr val="00B0F0"/>
                </a:solidFill>
                <a:sym typeface="Wingdings" panose="05000000000000000000" pitchFamily="2" charset="2"/>
              </a:rPr>
              <a:t>1111101</a:t>
            </a:r>
            <a:endParaRPr lang="en-US" altLang="zh-TW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72842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54A2-5C67-C83D-D21E-2920BAE48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9D6DC0-D7DD-D164-D886-FBD50AD4E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NVFP4-like – </a:t>
            </a:r>
            <a:r>
              <a:rPr lang="zh-TW" altLang="en-US" dirty="0"/>
              <a:t>加法</a:t>
            </a:r>
            <a:r>
              <a:rPr lang="en-US" altLang="zh-TW" dirty="0"/>
              <a:t> example2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ABB3B1-625F-A3DF-8EEA-F05D11D4E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1078350"/>
            <a:ext cx="11582401" cy="5665350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FP4 of a = 0 01 1; FP4 of b = 0 11 1</a:t>
            </a:r>
          </a:p>
          <a:p>
            <a:r>
              <a:rPr lang="en-US" altLang="zh-TW" dirty="0"/>
              <a:t>scale factor of a = 1 1001 010; scale factor of b = 0 0101 100</a:t>
            </a:r>
          </a:p>
          <a:p>
            <a:r>
              <a:rPr lang="en-US" altLang="zh-TW" dirty="0"/>
              <a:t>scale factor of bfloat16 = 0 10000001 1010000</a:t>
            </a:r>
          </a:p>
          <a:p>
            <a:pPr marL="0" indent="0">
              <a:buNone/>
            </a:pPr>
            <a:r>
              <a:rPr lang="en-US" altLang="zh-TW" dirty="0"/>
              <a:t>   (real a) + (real b)</a:t>
            </a:r>
          </a:p>
          <a:p>
            <a:pPr marL="0" indent="0">
              <a:buNone/>
            </a:pPr>
            <a:r>
              <a:rPr lang="en-US" altLang="zh-TW" dirty="0"/>
              <a:t>= [ (1.1 * 2</a:t>
            </a:r>
            <a:r>
              <a:rPr lang="en-US" altLang="zh-TW" baseline="30000" dirty="0"/>
              <a:t>(1-1)</a:t>
            </a:r>
            <a:r>
              <a:rPr lang="en-US" altLang="zh-TW" dirty="0"/>
              <a:t>) * (-1.01 * 2</a:t>
            </a:r>
            <a:r>
              <a:rPr lang="en-US" altLang="zh-TW" baseline="30000" dirty="0"/>
              <a:t>(9-7)</a:t>
            </a:r>
            <a:r>
              <a:rPr lang="en-US" altLang="zh-TW" dirty="0"/>
              <a:t>) + (1.1 * 2</a:t>
            </a:r>
            <a:r>
              <a:rPr lang="en-US" altLang="zh-TW" baseline="30000" dirty="0"/>
              <a:t>(3-1)</a:t>
            </a:r>
            <a:r>
              <a:rPr lang="en-US" altLang="zh-TW" dirty="0"/>
              <a:t>) * (1.1 * 2</a:t>
            </a:r>
            <a:r>
              <a:rPr lang="en-US" altLang="zh-TW" baseline="30000" dirty="0"/>
              <a:t>(5-7)</a:t>
            </a:r>
            <a:r>
              <a:rPr lang="en-US" altLang="zh-TW" dirty="0"/>
              <a:t>) ] * (1.101 * 2</a:t>
            </a:r>
            <a:r>
              <a:rPr lang="en-US" altLang="zh-TW" baseline="30000" dirty="0"/>
              <a:t>(129-127)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r>
              <a:rPr lang="en-US" altLang="zh-TW" dirty="0"/>
              <a:t>= [ </a:t>
            </a:r>
            <a:r>
              <a:rPr lang="en-US" altLang="zh-TW" dirty="0">
                <a:highlight>
                  <a:srgbClr val="FFFF00"/>
                </a:highlight>
              </a:rPr>
              <a:t>-1.111</a:t>
            </a:r>
            <a:r>
              <a:rPr lang="en-US" altLang="zh-TW" dirty="0"/>
              <a:t> * 2</a:t>
            </a:r>
            <a:r>
              <a:rPr lang="en-US" altLang="zh-TW" baseline="30000" dirty="0"/>
              <a:t>2</a:t>
            </a:r>
            <a:r>
              <a:rPr lang="en-US" altLang="zh-TW" dirty="0"/>
              <a:t> + 10.01 * 2</a:t>
            </a:r>
            <a:r>
              <a:rPr lang="en-US" altLang="zh-TW" baseline="30000" dirty="0"/>
              <a:t>0</a:t>
            </a:r>
            <a:r>
              <a:rPr lang="en-US" altLang="zh-TW" dirty="0"/>
              <a:t> ] * (1.101 * 2</a:t>
            </a:r>
            <a:r>
              <a:rPr lang="en-US" altLang="zh-TW" baseline="30000" dirty="0"/>
              <a:t>2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r>
              <a:rPr lang="en-US" altLang="zh-TW" dirty="0">
                <a:sym typeface="Wingdings" panose="05000000000000000000" pitchFamily="2" charset="2"/>
              </a:rPr>
              <a:t></a:t>
            </a:r>
            <a:r>
              <a:rPr lang="en-US" altLang="zh-TW" dirty="0"/>
              <a:t> [ </a:t>
            </a:r>
            <a:r>
              <a:rPr lang="en-US" altLang="zh-TW" dirty="0">
                <a:highlight>
                  <a:srgbClr val="FFFF00"/>
                </a:highlight>
              </a:rPr>
              <a:t>10.001</a:t>
            </a:r>
            <a:r>
              <a:rPr lang="en-US" altLang="zh-TW" dirty="0"/>
              <a:t> * 2</a:t>
            </a:r>
            <a:r>
              <a:rPr lang="en-US" altLang="zh-TW" baseline="30000" dirty="0"/>
              <a:t>2</a:t>
            </a:r>
            <a:r>
              <a:rPr lang="en-US" altLang="zh-TW" dirty="0"/>
              <a:t> + 0.1001 * 2</a:t>
            </a:r>
            <a:r>
              <a:rPr lang="en-US" altLang="zh-TW" baseline="30000" dirty="0"/>
              <a:t>2</a:t>
            </a:r>
            <a:r>
              <a:rPr lang="en-US" altLang="zh-TW" dirty="0"/>
              <a:t> ] * (1.101 * 2</a:t>
            </a:r>
            <a:r>
              <a:rPr lang="en-US" altLang="zh-TW" baseline="30000" dirty="0"/>
              <a:t>2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r>
              <a:rPr lang="en-US" altLang="zh-TW" dirty="0"/>
              <a:t>= ( </a:t>
            </a:r>
            <a:r>
              <a:rPr lang="en-US" altLang="zh-TW" dirty="0">
                <a:highlight>
                  <a:srgbClr val="00FFFF"/>
                </a:highlight>
              </a:rPr>
              <a:t>10.1011</a:t>
            </a:r>
            <a:r>
              <a:rPr lang="en-US" altLang="zh-TW" dirty="0"/>
              <a:t> * 2</a:t>
            </a:r>
            <a:r>
              <a:rPr lang="en-US" altLang="zh-TW" baseline="30000" dirty="0"/>
              <a:t>2</a:t>
            </a:r>
            <a:r>
              <a:rPr lang="en-US" altLang="zh-TW" dirty="0"/>
              <a:t>) * (1.101 * 2</a:t>
            </a:r>
            <a:r>
              <a:rPr lang="en-US" altLang="zh-TW" baseline="30000" dirty="0"/>
              <a:t>2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r>
              <a:rPr lang="en-US" altLang="zh-TW" dirty="0">
                <a:sym typeface="Wingdings" panose="05000000000000000000" pitchFamily="2" charset="2"/>
              </a:rPr>
              <a:t></a:t>
            </a:r>
            <a:r>
              <a:rPr lang="en-US" altLang="zh-TW" dirty="0"/>
              <a:t> </a:t>
            </a:r>
            <a:r>
              <a:rPr lang="en-US" altLang="zh-TW" dirty="0">
                <a:highlight>
                  <a:srgbClr val="00FFFF"/>
                </a:highlight>
              </a:rPr>
              <a:t>-1 * 1.0101</a:t>
            </a:r>
            <a:r>
              <a:rPr lang="en-US" altLang="zh-TW" dirty="0"/>
              <a:t> * 1.101 *2</a:t>
            </a:r>
            <a:r>
              <a:rPr lang="en-US" altLang="zh-TW" baseline="30000" dirty="0"/>
              <a:t>4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= -1 * 10.0010001 * 2</a:t>
            </a:r>
            <a:r>
              <a:rPr lang="en-US" altLang="zh-TW" baseline="30000" dirty="0"/>
              <a:t>2</a:t>
            </a:r>
          </a:p>
          <a:p>
            <a:pPr marL="0" indent="0">
              <a:buNone/>
            </a:pPr>
            <a:r>
              <a:rPr lang="en-US" altLang="zh-TW" dirty="0"/>
              <a:t>= </a:t>
            </a:r>
            <a:r>
              <a:rPr lang="en-US" altLang="zh-TW" dirty="0">
                <a:solidFill>
                  <a:srgbClr val="FF0000"/>
                </a:solidFill>
              </a:rPr>
              <a:t>-1</a:t>
            </a:r>
            <a:r>
              <a:rPr lang="en-US" altLang="zh-TW" dirty="0"/>
              <a:t> * 1.</a:t>
            </a:r>
            <a:r>
              <a:rPr lang="en-US" altLang="zh-TW" dirty="0">
                <a:solidFill>
                  <a:srgbClr val="00B0F0"/>
                </a:solidFill>
              </a:rPr>
              <a:t>0001000</a:t>
            </a:r>
            <a:r>
              <a:rPr lang="en-US" altLang="zh-TW" dirty="0"/>
              <a:t>1 * 2</a:t>
            </a:r>
            <a:r>
              <a:rPr lang="en-US" altLang="zh-TW" baseline="30000" dirty="0"/>
              <a:t>(</a:t>
            </a:r>
            <a:r>
              <a:rPr lang="en-US" altLang="zh-TW" baseline="30000" dirty="0">
                <a:solidFill>
                  <a:srgbClr val="00B050"/>
                </a:solidFill>
              </a:rPr>
              <a:t>130</a:t>
            </a:r>
            <a:r>
              <a:rPr lang="en-US" altLang="zh-TW" baseline="30000" dirty="0"/>
              <a:t>-127)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>
                <a:sym typeface="Wingdings" panose="05000000000000000000" pitchFamily="2" charset="2"/>
              </a:rPr>
              <a:t> </a:t>
            </a:r>
            <a:r>
              <a:rPr lang="en-US" altLang="zh-TW" dirty="0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r>
              <a:rPr lang="en-US" altLang="zh-TW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olidFill>
                  <a:srgbClr val="00B050"/>
                </a:solidFill>
                <a:sym typeface="Wingdings" panose="05000000000000000000" pitchFamily="2" charset="2"/>
              </a:rPr>
              <a:t>10000010</a:t>
            </a:r>
            <a:r>
              <a:rPr lang="en-US" altLang="zh-TW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olidFill>
                  <a:srgbClr val="00B0F0"/>
                </a:solidFill>
                <a:sym typeface="Wingdings" panose="05000000000000000000" pitchFamily="2" charset="2"/>
              </a:rPr>
              <a:t>0001000</a:t>
            </a:r>
            <a:endParaRPr lang="en-US" altLang="zh-TW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altLang="zh-TW" dirty="0"/>
          </a:p>
        </p:txBody>
      </p:sp>
      <p:sp>
        <p:nvSpPr>
          <p:cNvPr id="4" name="箭號: 弧形左彎 3">
            <a:extLst>
              <a:ext uri="{FF2B5EF4-FFF2-40B4-BE49-F238E27FC236}">
                <a16:creationId xmlns:a16="http://schemas.microsoft.com/office/drawing/2014/main" id="{2E65EA2F-B6D9-4315-B67E-2BE3D76BCE80}"/>
              </a:ext>
            </a:extLst>
          </p:cNvPr>
          <p:cNvSpPr/>
          <p:nvPr/>
        </p:nvSpPr>
        <p:spPr>
          <a:xfrm>
            <a:off x="7377112" y="3630037"/>
            <a:ext cx="257175" cy="561975"/>
          </a:xfrm>
          <a:prstGeom prst="curved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2B30107-C3F1-44B5-83C4-5013E16A7635}"/>
              </a:ext>
            </a:extLst>
          </p:cNvPr>
          <p:cNvSpPr txBox="1"/>
          <p:nvPr/>
        </p:nvSpPr>
        <p:spPr>
          <a:xfrm>
            <a:off x="7791450" y="3726359"/>
            <a:ext cx="270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加負數，先取補數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A022693-D998-4E64-B77B-0E2F1F9142A6}"/>
              </a:ext>
            </a:extLst>
          </p:cNvPr>
          <p:cNvSpPr txBox="1"/>
          <p:nvPr/>
        </p:nvSpPr>
        <p:spPr>
          <a:xfrm>
            <a:off x="5579268" y="4714736"/>
            <a:ext cx="4110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接下來要做乘法 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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取補數，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-1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拿出來</a:t>
            </a:r>
          </a:p>
        </p:txBody>
      </p:sp>
      <p:sp>
        <p:nvSpPr>
          <p:cNvPr id="7" name="箭號: 弧形左彎 6">
            <a:extLst>
              <a:ext uri="{FF2B5EF4-FFF2-40B4-BE49-F238E27FC236}">
                <a16:creationId xmlns:a16="http://schemas.microsoft.com/office/drawing/2014/main" id="{1687BE47-EC9D-4887-B824-685C45065714}"/>
              </a:ext>
            </a:extLst>
          </p:cNvPr>
          <p:cNvSpPr/>
          <p:nvPr/>
        </p:nvSpPr>
        <p:spPr>
          <a:xfrm>
            <a:off x="5224462" y="4618415"/>
            <a:ext cx="257175" cy="561975"/>
          </a:xfrm>
          <a:prstGeom prst="curved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9478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23FB0F-BF08-40EC-ACBC-3458CC374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bloat16 </a:t>
            </a:r>
            <a:r>
              <a:rPr lang="zh-TW" altLang="en-US" dirty="0"/>
              <a:t>加法 </a:t>
            </a:r>
            <a:r>
              <a:rPr lang="en-US" altLang="zh-TW" dirty="0"/>
              <a:t>Diagram</a:t>
            </a:r>
            <a:endParaRPr lang="zh-TW" altLang="en-US" dirty="0"/>
          </a:p>
        </p:txBody>
      </p:sp>
      <p:sp>
        <p:nvSpPr>
          <p:cNvPr id="29" name="箭號: 弧形右彎 28">
            <a:extLst>
              <a:ext uri="{FF2B5EF4-FFF2-40B4-BE49-F238E27FC236}">
                <a16:creationId xmlns:a16="http://schemas.microsoft.com/office/drawing/2014/main" id="{D193C487-358A-425B-B5EF-C569F9A03BD6}"/>
              </a:ext>
            </a:extLst>
          </p:cNvPr>
          <p:cNvSpPr/>
          <p:nvPr/>
        </p:nvSpPr>
        <p:spPr>
          <a:xfrm rot="16200000">
            <a:off x="7331873" y="5136356"/>
            <a:ext cx="128587" cy="171452"/>
          </a:xfrm>
          <a:prstGeom prst="curved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4412DF3-B43E-4187-9D82-16F2538A0810}"/>
              </a:ext>
            </a:extLst>
          </p:cNvPr>
          <p:cNvSpPr txBox="1"/>
          <p:nvPr/>
        </p:nvSpPr>
        <p:spPr>
          <a:xfrm>
            <a:off x="7210425" y="5243513"/>
            <a:ext cx="335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solidFill>
                  <a:srgbClr val="FF0000"/>
                </a:solidFill>
              </a:rPr>
              <a:t>-1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pic>
        <p:nvPicPr>
          <p:cNvPr id="6" name="圖形 5">
            <a:extLst>
              <a:ext uri="{FF2B5EF4-FFF2-40B4-BE49-F238E27FC236}">
                <a16:creationId xmlns:a16="http://schemas.microsoft.com/office/drawing/2014/main" id="{12DA2FF2-EF0F-4B34-BD97-5678A66BB7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4730" b="604"/>
          <a:stretch/>
        </p:blipFill>
        <p:spPr>
          <a:xfrm>
            <a:off x="3090862" y="1190019"/>
            <a:ext cx="6124575" cy="5465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949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54A2-5C67-C83D-D21E-2920BAE48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9D6DC0-D7DD-D164-D886-FBD50AD4E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NVFP4-like – </a:t>
            </a:r>
            <a:r>
              <a:rPr lang="zh-TW" altLang="en-US" dirty="0"/>
              <a:t>乘法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ABB3B1-625F-A3DF-8EEA-F05D11D4E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將 </a:t>
            </a:r>
            <a:r>
              <a:rPr lang="en-US" altLang="zh-TW" dirty="0"/>
              <a:t>input</a:t>
            </a:r>
            <a:r>
              <a:rPr lang="en-US" altLang="zh-TW" baseline="-25000" dirty="0"/>
              <a:t>FP4</a:t>
            </a:r>
            <a:r>
              <a:rPr lang="en-US" altLang="zh-TW" dirty="0"/>
              <a:t> </a:t>
            </a:r>
            <a:r>
              <a:rPr lang="zh-TW" altLang="en-US" dirty="0"/>
              <a:t>換成 </a:t>
            </a:r>
            <a:r>
              <a:rPr lang="en-US" altLang="zh-TW" dirty="0"/>
              <a:t>input</a:t>
            </a:r>
            <a:r>
              <a:rPr lang="en-US" altLang="zh-TW" baseline="-25000" dirty="0"/>
              <a:t>bfloat16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將 </a:t>
            </a:r>
            <a:r>
              <a:rPr lang="en-US" altLang="zh-TW" dirty="0"/>
              <a:t>factor</a:t>
            </a:r>
            <a:r>
              <a:rPr lang="en-US" altLang="zh-TW" baseline="-25000" dirty="0"/>
              <a:t>1, FP8</a:t>
            </a:r>
            <a:r>
              <a:rPr lang="zh-TW" altLang="en-US" dirty="0"/>
              <a:t> 換成 </a:t>
            </a:r>
            <a:r>
              <a:rPr lang="en-US" altLang="zh-TW" dirty="0"/>
              <a:t>factor</a:t>
            </a:r>
            <a:r>
              <a:rPr lang="en-US" altLang="zh-TW" baseline="-25000" dirty="0"/>
              <a:t>1, bfloat16 </a:t>
            </a:r>
            <a:r>
              <a:rPr lang="zh-TW" altLang="en-US" dirty="0"/>
              <a:t>，並乘上 </a:t>
            </a:r>
            <a:r>
              <a:rPr lang="en-US" altLang="zh-TW" dirty="0"/>
              <a:t>input</a:t>
            </a:r>
            <a:r>
              <a:rPr lang="en-US" altLang="zh-TW" baseline="-25000" dirty="0"/>
              <a:t>bfloat16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再乘上 </a:t>
            </a:r>
            <a:r>
              <a:rPr lang="en-US" altLang="zh-TW" dirty="0"/>
              <a:t>factor</a:t>
            </a:r>
            <a:r>
              <a:rPr lang="en-US" altLang="zh-TW" baseline="-25000" dirty="0"/>
              <a:t>2, bfloat16</a:t>
            </a:r>
            <a:r>
              <a:rPr lang="zh-TW" altLang="en-US" dirty="0"/>
              <a:t> 得到 </a:t>
            </a:r>
            <a:r>
              <a:rPr lang="en-US" altLang="zh-TW" dirty="0" err="1"/>
              <a:t>input</a:t>
            </a:r>
            <a:r>
              <a:rPr lang="en-US" altLang="zh-TW" baseline="-25000" dirty="0" err="1"/>
              <a:t>real</a:t>
            </a:r>
            <a:r>
              <a:rPr lang="en-US" altLang="zh-TW" baseline="-25000" dirty="0"/>
              <a:t>, bfloat16</a:t>
            </a:r>
            <a:endParaRPr lang="en-US" altLang="zh-TW" dirty="0">
              <a:sym typeface="Wingdings" panose="05000000000000000000" pitchFamily="2" charset="2"/>
            </a:endParaRPr>
          </a:p>
          <a:p>
            <a:pPr marL="514350" indent="-514350">
              <a:buFont typeface="+mj-lt"/>
              <a:buAutoNum type="arabicPeriod"/>
            </a:pPr>
            <a:r>
              <a:rPr lang="zh-TW" altLang="en-US" dirty="0">
                <a:sym typeface="Wingdings" panose="05000000000000000000" pitchFamily="2" charset="2"/>
              </a:rPr>
              <a:t>還原成 </a:t>
            </a:r>
            <a:r>
              <a:rPr lang="en-US" altLang="zh-TW" dirty="0">
                <a:sym typeface="Wingdings" panose="05000000000000000000" pitchFamily="2" charset="2"/>
              </a:rPr>
              <a:t>1.Fraction (8-bit)</a:t>
            </a:r>
            <a:r>
              <a:rPr lang="en-US" altLang="zh-TW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a * b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轉成 </a:t>
            </a:r>
            <a:r>
              <a:rPr lang="en-US" altLang="zh-TW" dirty="0"/>
              <a:t>bfloat16 </a:t>
            </a:r>
            <a:r>
              <a:rPr lang="zh-TW" altLang="en-US" dirty="0"/>
              <a:t>格式</a:t>
            </a:r>
            <a:endParaRPr lang="en-US" altLang="zh-TW" dirty="0"/>
          </a:p>
          <a:p>
            <a:pPr marL="914400" lvl="1" indent="-514350">
              <a:buFont typeface="+mj-lt"/>
              <a:buAutoNum type="arabicPeriod"/>
            </a:pPr>
            <a:r>
              <a:rPr lang="zh-TW" altLang="en-US" dirty="0"/>
              <a:t>判斷正負</a:t>
            </a:r>
            <a:r>
              <a:rPr lang="en-US" altLang="zh-TW" dirty="0"/>
              <a:t>(sign</a:t>
            </a:r>
            <a:r>
              <a:rPr lang="en-US" altLang="zh-TW" baseline="-25000" dirty="0"/>
              <a:t>a</a:t>
            </a:r>
            <a:r>
              <a:rPr lang="en-US" altLang="zh-TW" baseline="30000" dirty="0"/>
              <a:t> </a:t>
            </a:r>
            <a:r>
              <a:rPr lang="en-US" altLang="zh-TW" dirty="0"/>
              <a:t>XOR </a:t>
            </a:r>
            <a:r>
              <a:rPr lang="en-US" altLang="zh-TW" dirty="0" err="1"/>
              <a:t>sign</a:t>
            </a:r>
            <a:r>
              <a:rPr lang="en-US" altLang="zh-TW" baseline="-25000" dirty="0" err="1"/>
              <a:t>b</a:t>
            </a:r>
            <a:r>
              <a:rPr lang="en-US" altLang="zh-TW" dirty="0"/>
              <a:t>)</a:t>
            </a:r>
            <a:r>
              <a:rPr lang="zh-TW" altLang="en-US" dirty="0"/>
              <a:t>，可得 </a:t>
            </a:r>
            <a:r>
              <a:rPr lang="en-US" altLang="zh-TW" dirty="0"/>
              <a:t>Sign</a:t>
            </a:r>
          </a:p>
          <a:p>
            <a:pPr marL="914400" lvl="1" indent="-514350">
              <a:buFont typeface="+mj-lt"/>
              <a:buAutoNum type="arabicPeriod"/>
            </a:pPr>
            <a:r>
              <a:rPr lang="zh-TW" altLang="en-US" dirty="0"/>
              <a:t>找到第一個 </a:t>
            </a:r>
            <a:r>
              <a:rPr lang="en-US" altLang="zh-TW" dirty="0"/>
              <a:t>1 </a:t>
            </a:r>
            <a:r>
              <a:rPr lang="zh-TW" altLang="en-US" dirty="0"/>
              <a:t>的位置，四捨五入，可得 </a:t>
            </a:r>
            <a:r>
              <a:rPr lang="en-US" altLang="zh-TW" dirty="0"/>
              <a:t>Fraction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altLang="zh-TW" dirty="0"/>
              <a:t>Exponent = </a:t>
            </a:r>
            <a:r>
              <a:rPr lang="en-US" altLang="zh-TW" dirty="0" err="1"/>
              <a:t>Exponent</a:t>
            </a:r>
            <a:r>
              <a:rPr lang="en-US" altLang="zh-TW" baseline="-25000" dirty="0" err="1"/>
              <a:t>a</a:t>
            </a:r>
            <a:r>
              <a:rPr lang="en-US" altLang="zh-TW" dirty="0"/>
              <a:t> + </a:t>
            </a:r>
            <a:r>
              <a:rPr lang="en-US" altLang="zh-TW" dirty="0" err="1"/>
              <a:t>Exponent</a:t>
            </a:r>
            <a:r>
              <a:rPr lang="en-US" altLang="zh-TW" baseline="-25000" dirty="0" err="1"/>
              <a:t>b</a:t>
            </a:r>
            <a:r>
              <a:rPr lang="en-US" altLang="zh-TW" dirty="0"/>
              <a:t> – 127 (+n, if </a:t>
            </a:r>
            <a:r>
              <a:rPr lang="zh-TW" altLang="en-US" dirty="0"/>
              <a:t>小數點左移 </a:t>
            </a:r>
            <a:r>
              <a:rPr lang="en-US" altLang="zh-TW" dirty="0"/>
              <a:t>n) </a:t>
            </a:r>
          </a:p>
          <a:p>
            <a:pPr marL="914400" lvl="1" indent="-514350">
              <a:buFont typeface="+mj-lt"/>
              <a:buAutoNum type="arabicPeriod"/>
            </a:pP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48929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54A2-5C67-C83D-D21E-2920BAE48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9D6DC0-D7DD-D164-D886-FBD50AD4E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NVFP4-like – </a:t>
            </a:r>
            <a:r>
              <a:rPr lang="zh-TW" altLang="en-US" dirty="0"/>
              <a:t>乘法</a:t>
            </a:r>
            <a:r>
              <a:rPr lang="en-US" altLang="zh-TW" dirty="0"/>
              <a:t> example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ABB3B1-625F-A3DF-8EEA-F05D11D4E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78350"/>
            <a:ext cx="10648952" cy="5779650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FP4 of a = 0 01 1; FP4 of b = 0 11 1</a:t>
            </a:r>
          </a:p>
          <a:p>
            <a:r>
              <a:rPr lang="en-US" altLang="zh-TW" dirty="0"/>
              <a:t>scale factor of a = 0 1001 010; scale factor of b = 0 0101 100</a:t>
            </a:r>
          </a:p>
          <a:p>
            <a:r>
              <a:rPr lang="en-US" altLang="zh-TW" dirty="0"/>
              <a:t>scale factor of bfloat16 = 0 10000001 1010000</a:t>
            </a:r>
          </a:p>
          <a:p>
            <a:pPr marL="0" indent="0">
              <a:buNone/>
            </a:pPr>
            <a:r>
              <a:rPr lang="en-US" altLang="zh-TW" dirty="0"/>
              <a:t>   (real a) </a:t>
            </a:r>
            <a:r>
              <a:rPr lang="zh-TW" altLang="en-US" dirty="0"/>
              <a:t>*</a:t>
            </a:r>
            <a:r>
              <a:rPr lang="en-US" altLang="zh-TW" dirty="0"/>
              <a:t> (real b)</a:t>
            </a:r>
          </a:p>
          <a:p>
            <a:pPr marL="0" indent="0">
              <a:buNone/>
            </a:pPr>
            <a:r>
              <a:rPr lang="en-US" altLang="zh-TW" dirty="0"/>
              <a:t>= [ (1.1 * 2</a:t>
            </a:r>
            <a:r>
              <a:rPr lang="en-US" altLang="zh-TW" baseline="30000" dirty="0"/>
              <a:t>(1-1)</a:t>
            </a:r>
            <a:r>
              <a:rPr lang="en-US" altLang="zh-TW" dirty="0"/>
              <a:t>) * (1.01 * 2</a:t>
            </a:r>
            <a:r>
              <a:rPr lang="en-US" altLang="zh-TW" baseline="30000" dirty="0"/>
              <a:t>(9-7)</a:t>
            </a:r>
            <a:r>
              <a:rPr lang="en-US" altLang="zh-TW" dirty="0"/>
              <a:t>) * (1.101 * 2</a:t>
            </a:r>
            <a:r>
              <a:rPr lang="en-US" altLang="zh-TW" baseline="30000" dirty="0"/>
              <a:t>(129-127)</a:t>
            </a:r>
            <a:r>
              <a:rPr lang="en-US" altLang="zh-TW" dirty="0"/>
              <a:t>) ]</a:t>
            </a:r>
            <a:r>
              <a:rPr lang="zh-TW" altLang="en-US" dirty="0"/>
              <a:t> *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  </a:t>
            </a:r>
            <a:r>
              <a:rPr lang="en-US" altLang="zh-TW" dirty="0"/>
              <a:t> [</a:t>
            </a:r>
            <a:r>
              <a:rPr lang="zh-TW" altLang="en-US" dirty="0"/>
              <a:t> </a:t>
            </a:r>
            <a:r>
              <a:rPr lang="en-US" altLang="zh-TW" dirty="0"/>
              <a:t>(1.1 * 2</a:t>
            </a:r>
            <a:r>
              <a:rPr lang="en-US" altLang="zh-TW" baseline="30000" dirty="0"/>
              <a:t>(3-1)</a:t>
            </a:r>
            <a:r>
              <a:rPr lang="en-US" altLang="zh-TW" dirty="0"/>
              <a:t>) * (1.1 * 2</a:t>
            </a:r>
            <a:r>
              <a:rPr lang="en-US" altLang="zh-TW" baseline="30000" dirty="0"/>
              <a:t>(5-7)</a:t>
            </a:r>
            <a:r>
              <a:rPr lang="en-US" altLang="zh-TW" dirty="0"/>
              <a:t>)  * (1.101 * 2</a:t>
            </a:r>
            <a:r>
              <a:rPr lang="en-US" altLang="zh-TW" baseline="30000" dirty="0"/>
              <a:t>(129-127)</a:t>
            </a:r>
            <a:r>
              <a:rPr lang="en-US" altLang="zh-TW" dirty="0"/>
              <a:t>) ]</a:t>
            </a:r>
          </a:p>
          <a:p>
            <a:pPr marL="0" indent="0">
              <a:buNone/>
            </a:pPr>
            <a:r>
              <a:rPr lang="en-US" altLang="zh-TW" dirty="0"/>
              <a:t>= [ 1.111 * 2</a:t>
            </a:r>
            <a:r>
              <a:rPr lang="en-US" altLang="zh-TW" baseline="30000" dirty="0"/>
              <a:t>2</a:t>
            </a:r>
            <a:r>
              <a:rPr lang="en-US" altLang="zh-TW" dirty="0"/>
              <a:t> * 10.01 * 2</a:t>
            </a:r>
            <a:r>
              <a:rPr lang="en-US" altLang="zh-TW" baseline="30000" dirty="0"/>
              <a:t>0</a:t>
            </a:r>
            <a:r>
              <a:rPr lang="en-US" altLang="zh-TW" dirty="0"/>
              <a:t> ] * ( 1.101 * 2</a:t>
            </a:r>
            <a:r>
              <a:rPr lang="en-US" altLang="zh-TW" baseline="30000" dirty="0"/>
              <a:t>2</a:t>
            </a:r>
            <a:r>
              <a:rPr lang="en-US" altLang="zh-TW" dirty="0"/>
              <a:t> )</a:t>
            </a:r>
            <a:r>
              <a:rPr lang="en-US" altLang="zh-TW" baseline="30000" dirty="0"/>
              <a:t>2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= [ 1.111 * 10.01 * 2</a:t>
            </a:r>
            <a:r>
              <a:rPr lang="en-US" altLang="zh-TW" baseline="30000" dirty="0"/>
              <a:t>2</a:t>
            </a:r>
            <a:r>
              <a:rPr lang="en-US" altLang="zh-TW" dirty="0"/>
              <a:t> ] * ( 1.101 * 2</a:t>
            </a:r>
            <a:r>
              <a:rPr lang="en-US" altLang="zh-TW" baseline="30000" dirty="0"/>
              <a:t>2</a:t>
            </a:r>
            <a:r>
              <a:rPr lang="en-US" altLang="zh-TW" dirty="0"/>
              <a:t> )</a:t>
            </a:r>
            <a:r>
              <a:rPr lang="en-US" altLang="zh-TW" baseline="30000" dirty="0"/>
              <a:t> 2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= ( 100.00111 * 2</a:t>
            </a:r>
            <a:r>
              <a:rPr lang="en-US" altLang="zh-TW" baseline="30000" dirty="0"/>
              <a:t>2</a:t>
            </a:r>
            <a:r>
              <a:rPr lang="en-US" altLang="zh-TW" dirty="0"/>
              <a:t> ) * ( 1.101 * 2</a:t>
            </a:r>
            <a:r>
              <a:rPr lang="en-US" altLang="zh-TW" baseline="30000" dirty="0"/>
              <a:t>2</a:t>
            </a:r>
            <a:r>
              <a:rPr lang="en-US" altLang="zh-TW" dirty="0"/>
              <a:t> )</a:t>
            </a:r>
            <a:r>
              <a:rPr lang="en-US" altLang="zh-TW" baseline="30000" dirty="0"/>
              <a:t> 2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= 1011.00100011111 * 2</a:t>
            </a:r>
            <a:r>
              <a:rPr lang="en-US" altLang="zh-TW" baseline="30000" dirty="0"/>
              <a:t>6</a:t>
            </a:r>
          </a:p>
          <a:p>
            <a:pPr marL="0" indent="0">
              <a:buNone/>
            </a:pPr>
            <a:r>
              <a:rPr lang="en-US" altLang="zh-TW" dirty="0"/>
              <a:t>= 1.</a:t>
            </a:r>
            <a:r>
              <a:rPr lang="en-US" altLang="zh-TW" dirty="0">
                <a:solidFill>
                  <a:srgbClr val="00B0F0"/>
                </a:solidFill>
              </a:rPr>
              <a:t>0110010</a:t>
            </a:r>
            <a:r>
              <a:rPr lang="en-US" altLang="zh-TW" dirty="0"/>
              <a:t>0011111 * 2</a:t>
            </a:r>
            <a:r>
              <a:rPr lang="en-US" altLang="zh-TW" baseline="30000" dirty="0"/>
              <a:t>(</a:t>
            </a:r>
            <a:r>
              <a:rPr lang="en-US" altLang="zh-TW" baseline="30000" dirty="0">
                <a:solidFill>
                  <a:srgbClr val="00B050"/>
                </a:solidFill>
              </a:rPr>
              <a:t>136</a:t>
            </a:r>
            <a:r>
              <a:rPr lang="en-US" altLang="zh-TW" baseline="30000" dirty="0"/>
              <a:t>-127)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>
                <a:sym typeface="Wingdings" panose="05000000000000000000" pitchFamily="2" charset="2"/>
              </a:rPr>
              <a:t> </a:t>
            </a:r>
            <a:r>
              <a:rPr lang="en-US" altLang="zh-TW" dirty="0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r>
              <a:rPr lang="en-US" altLang="zh-TW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olidFill>
                  <a:srgbClr val="00B050"/>
                </a:solidFill>
                <a:sym typeface="Wingdings" panose="05000000000000000000" pitchFamily="2" charset="2"/>
              </a:rPr>
              <a:t>10001000</a:t>
            </a:r>
            <a:r>
              <a:rPr lang="en-US" altLang="zh-TW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olidFill>
                  <a:srgbClr val="00B0F0"/>
                </a:solidFill>
                <a:sym typeface="Wingdings" panose="05000000000000000000" pitchFamily="2" charset="2"/>
              </a:rPr>
              <a:t>0110010</a:t>
            </a:r>
            <a:endParaRPr lang="en-US" altLang="zh-TW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50938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形 14">
            <a:extLst>
              <a:ext uri="{FF2B5EF4-FFF2-40B4-BE49-F238E27FC236}">
                <a16:creationId xmlns:a16="http://schemas.microsoft.com/office/drawing/2014/main" id="{6B62023C-33A7-465A-80B5-E0A05CCF32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2794" b="24222"/>
          <a:stretch/>
        </p:blipFill>
        <p:spPr>
          <a:xfrm>
            <a:off x="1999204" y="1339983"/>
            <a:ext cx="8193592" cy="5346233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9A23FB0F-BF08-40EC-ACBC-3458CC374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bloat16 </a:t>
            </a:r>
            <a:r>
              <a:rPr lang="zh-TW" altLang="en-US" dirty="0"/>
              <a:t>乘法 </a:t>
            </a:r>
            <a:r>
              <a:rPr lang="en-US" altLang="zh-TW" dirty="0"/>
              <a:t>Diagram</a:t>
            </a:r>
            <a:endParaRPr lang="zh-TW" altLang="en-US" dirty="0"/>
          </a:p>
        </p:txBody>
      </p:sp>
      <p:sp>
        <p:nvSpPr>
          <p:cNvPr id="12" name="箭號: 弧形右彎 11">
            <a:extLst>
              <a:ext uri="{FF2B5EF4-FFF2-40B4-BE49-F238E27FC236}">
                <a16:creationId xmlns:a16="http://schemas.microsoft.com/office/drawing/2014/main" id="{0609BB4A-7FE4-4DAE-8F3E-14323203E304}"/>
              </a:ext>
            </a:extLst>
          </p:cNvPr>
          <p:cNvSpPr/>
          <p:nvPr/>
        </p:nvSpPr>
        <p:spPr>
          <a:xfrm rot="16200000" flipV="1">
            <a:off x="6923088" y="3763564"/>
            <a:ext cx="128587" cy="191295"/>
          </a:xfrm>
          <a:prstGeom prst="curved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A585286-B71A-46BC-970F-FAB271A57392}"/>
              </a:ext>
            </a:extLst>
          </p:cNvPr>
          <p:cNvSpPr txBox="1"/>
          <p:nvPr/>
        </p:nvSpPr>
        <p:spPr>
          <a:xfrm>
            <a:off x="6815931" y="3923505"/>
            <a:ext cx="4206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solidFill>
                  <a:srgbClr val="FF0000"/>
                </a:solidFill>
              </a:rPr>
              <a:t>+1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5583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424543-058B-44BE-B8A4-76EE817B6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/>
              <a:t>2026</a:t>
            </a:r>
            <a:r>
              <a:rPr lang="zh-TW" altLang="en-US" cap="none" dirty="0"/>
              <a:t> </a:t>
            </a:r>
            <a:r>
              <a:rPr lang="en-US" altLang="zh-TW" cap="none" dirty="0"/>
              <a:t>DCS</a:t>
            </a:r>
            <a:r>
              <a:rPr lang="zh-TW" altLang="en-US" cap="none" dirty="0"/>
              <a:t> </a:t>
            </a:r>
            <a:r>
              <a:rPr lang="en-US" altLang="zh-TW" cap="none" dirty="0"/>
              <a:t>Lab 07 </a:t>
            </a:r>
            <a:r>
              <a:rPr lang="zh-TW" altLang="en-US" cap="none" dirty="0"/>
              <a:t>實作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2C8A24D-D1C5-4E41-B3D1-AB37135142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84080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8AC83-1082-E9ED-AAA8-4D6BA5EB2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642D30-2997-7052-7CC1-3B075E767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Lab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6B55AB1-50DF-8E42-A2C2-16073A5550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078350"/>
                <a:ext cx="10972800" cy="5505012"/>
              </a:xfrm>
            </p:spPr>
            <p:txBody>
              <a:bodyPr>
                <a:normAutofit/>
              </a:bodyPr>
              <a:lstStyle/>
              <a:p>
                <a:r>
                  <a:rPr lang="zh-TW" altLang="en-US" dirty="0"/>
                  <a:t>每組測資 </a:t>
                </a:r>
                <a:r>
                  <a:rPr lang="en-US" altLang="zh-TW" dirty="0"/>
                  <a:t>(</a:t>
                </a:r>
                <a:r>
                  <a:rPr lang="zh-TW" altLang="en-US" dirty="0"/>
                  <a:t>共有 </a:t>
                </a:r>
                <a:r>
                  <a:rPr lang="en-US" altLang="zh-TW" dirty="0"/>
                  <a:t>8 </a:t>
                </a:r>
                <a:r>
                  <a:rPr lang="zh-TW" altLang="en-US" dirty="0"/>
                  <a:t>個 </a:t>
                </a:r>
                <a:r>
                  <a:rPr lang="en-US" altLang="zh-TW" dirty="0"/>
                  <a:t>data)</a:t>
                </a:r>
                <a:r>
                  <a:rPr lang="zh-TW" altLang="en-US" dirty="0"/>
                  <a:t> 共用一個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FP8</a:t>
                </a:r>
                <a:r>
                  <a:rPr lang="zh-TW" alt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scaling</a:t>
                </a:r>
                <a:r>
                  <a:rPr lang="zh-TW" alt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factor</a:t>
                </a:r>
              </a:p>
              <a:p>
                <a:r>
                  <a:rPr lang="zh-TW" altLang="en-US" dirty="0"/>
                  <a:t>每組測資 </a:t>
                </a:r>
                <a:r>
                  <a:rPr lang="en-US" altLang="zh-TW" dirty="0"/>
                  <a:t>(</a:t>
                </a:r>
                <a:r>
                  <a:rPr lang="zh-TW" altLang="en-US" dirty="0"/>
                  <a:t>共有 </a:t>
                </a:r>
                <a:r>
                  <a:rPr lang="en-US" altLang="zh-TW" dirty="0"/>
                  <a:t>8 </a:t>
                </a:r>
                <a:r>
                  <a:rPr lang="zh-TW" altLang="en-US" dirty="0"/>
                  <a:t>個 </a:t>
                </a:r>
                <a:r>
                  <a:rPr lang="en-US" altLang="zh-TW" dirty="0"/>
                  <a:t>data) </a:t>
                </a:r>
                <a:r>
                  <a:rPr lang="zh-TW" altLang="en-US" dirty="0"/>
                  <a:t>共用一個 </a:t>
                </a:r>
                <a:r>
                  <a:rPr lang="en-US" altLang="zh-TW" dirty="0">
                    <a:solidFill>
                      <a:srgbClr val="00B050"/>
                    </a:solidFill>
                  </a:rPr>
                  <a:t>bfloat16</a:t>
                </a:r>
                <a:r>
                  <a:rPr lang="zh-TW" alt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B050"/>
                    </a:solidFill>
                  </a:rPr>
                  <a:t>scaling factor</a:t>
                </a:r>
              </a:p>
              <a:p>
                <a:r>
                  <a:rPr lang="zh-TW" altLang="en-US" dirty="0"/>
                  <a:t>為了方便計算，本次 </a:t>
                </a:r>
                <a:r>
                  <a:rPr lang="en-US" altLang="zh-TW" dirty="0"/>
                  <a:t>bfloat16 scaling factor </a:t>
                </a:r>
                <a:r>
                  <a:rPr lang="zh-TW" altLang="en-US" dirty="0"/>
                  <a:t>直接設定為 </a:t>
                </a:r>
                <a:r>
                  <a:rPr lang="en-US" altLang="zh-TW" dirty="0"/>
                  <a:t>0.5</a:t>
                </a:r>
                <a:r>
                  <a:rPr lang="en-US" altLang="zh-TW" baseline="-25000" dirty="0"/>
                  <a:t>decimal</a:t>
                </a:r>
                <a:r>
                  <a:rPr lang="zh-TW" altLang="en-US" dirty="0"/>
                  <a:t>，也就是以下的 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𝑏𝑓</m:t>
                    </m:r>
                    <m:r>
                      <a:rPr lang="en-US" altLang="zh-TW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16 </m:t>
                    </m:r>
                    <m:r>
                      <a:rPr lang="en-US" altLang="zh-TW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𝑠𝑓</m:t>
                    </m:r>
                  </m:oMath>
                </a14:m>
                <a:r>
                  <a:rPr lang="zh-TW" alt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B050"/>
                    </a:solidFill>
                  </a:rPr>
                  <a:t>= 0.5</a:t>
                </a:r>
                <a:r>
                  <a:rPr lang="en-US" altLang="zh-TW" baseline="-25000" dirty="0">
                    <a:solidFill>
                      <a:srgbClr val="00B050"/>
                    </a:solidFill>
                  </a:rPr>
                  <a:t>decimal</a:t>
                </a:r>
                <a:endParaRPr lang="en-US" altLang="zh-TW" dirty="0">
                  <a:solidFill>
                    <a:srgbClr val="00B050"/>
                  </a:solidFill>
                </a:endParaRPr>
              </a:p>
              <a:p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sz="2400" dirty="0"/>
                  <a:t>   </a:t>
                </a:r>
                <a:r>
                  <a:rPr lang="en-US" altLang="zh-TW" sz="2400" i="1" dirty="0" err="1"/>
                  <a:t>out_data</a:t>
                </a:r>
                <a:r>
                  <a:rPr lang="en-US" altLang="zh-TW" sz="2400" i="1" dirty="0"/>
                  <a:t> </a:t>
                </a:r>
                <a:r>
                  <a:rPr lang="en-US" altLang="zh-TW" sz="2400" b="1" dirty="0"/>
                  <a:t>(</a:t>
                </a:r>
                <a:r>
                  <a:rPr lang="zh-TW" altLang="en-US" sz="2400" b="1" dirty="0"/>
                  <a:t>本次 </a:t>
                </a:r>
                <a:r>
                  <a:rPr lang="en-US" altLang="zh-TW" sz="2400" b="1" dirty="0"/>
                  <a:t>Lab </a:t>
                </a:r>
                <a:r>
                  <a:rPr lang="zh-TW" altLang="en-US" sz="2400" b="1" dirty="0"/>
                  <a:t>的 </a:t>
                </a:r>
                <a:r>
                  <a:rPr lang="en-US" altLang="zh-TW" sz="2400" b="1" dirty="0"/>
                  <a:t>output)</a:t>
                </a:r>
              </a:p>
              <a:p>
                <a:pPr marL="0" indent="0">
                  <a:buNone/>
                </a:pPr>
                <a:r>
                  <a:rPr lang="en-US" altLang="zh-TW" sz="220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TW" altLang="en-US" sz="2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  <m:t>𝑟𝑒𝑎𝑙</m:t>
                        </m:r>
                        <m: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TW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  <m:t> ∗</m:t>
                        </m:r>
                        <m:sSub>
                          <m:sSubPr>
                            <m:ctrlPr>
                              <a:rPr lang="en-US" altLang="zh-TW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200" b="0" i="1" smtClean="0">
                                <a:latin typeface="Cambria Math" panose="02040503050406030204" pitchFamily="18" charset="0"/>
                              </a:rPr>
                              <m:t>𝑟𝑒𝑎𝑙</m:t>
                            </m:r>
                            <m:r>
                              <a:rPr lang="en-US" altLang="zh-TW" sz="2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22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zh-TW" sz="2200" dirty="0"/>
              </a:p>
              <a:p>
                <a:pPr marL="0" indent="0">
                  <a:buNone/>
                </a:pPr>
                <a:r>
                  <a:rPr lang="en-US" altLang="zh-TW" sz="220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TW" altLang="en-US" sz="2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ctrlPr>
                              <a:rPr lang="en-US" altLang="zh-TW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altLang="zh-TW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200" b="0" i="1" smtClean="0">
                                    <a:latin typeface="Cambria Math" panose="02040503050406030204" pitchFamily="18" charset="0"/>
                                  </a:rPr>
                                  <m:t>𝐹𝑃</m:t>
                                </m:r>
                                <m:r>
                                  <a:rPr lang="en-US" altLang="zh-TW" sz="2200" b="0" i="1" smtClean="0">
                                    <a:latin typeface="Cambria Math" panose="02040503050406030204" pitchFamily="18" charset="0"/>
                                  </a:rPr>
                                  <m:t>4 </m:t>
                                </m:r>
                                <m:sSub>
                                  <m:sSubPr>
                                    <m:ctrlPr>
                                      <a:rPr lang="en-US" altLang="zh-TW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sz="22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TW" sz="22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US" altLang="zh-TW" sz="2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𝐹𝑃</m:t>
                                </m:r>
                                <m:r>
                                  <a:rPr lang="en-US" altLang="zh-TW" sz="2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8 </m:t>
                                </m:r>
                                <m:sSub>
                                  <m:sSubPr>
                                    <m:ctrlPr>
                                      <a:rPr lang="en-US" altLang="zh-TW" sz="2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𝑠𝑓</m:t>
                                    </m:r>
                                  </m:e>
                                  <m:sub>
                                    <m:r>
                                      <a:rPr lang="en-US" altLang="zh-TW" sz="2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zh-TW" sz="2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sz="22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US" altLang="zh-TW" sz="22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𝑏𝑓</m:t>
                                </m:r>
                                <m:r>
                                  <a:rPr lang="en-US" altLang="zh-TW" sz="22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16 </m:t>
                                </m:r>
                                <m:r>
                                  <a:rPr lang="en-US" altLang="zh-TW" sz="22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𝑠𝑓</m:t>
                                </m:r>
                              </m:e>
                            </m:d>
                            <m:r>
                              <a:rPr lang="en-US" altLang="zh-TW" sz="22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sSub>
                              <m:sSubPr>
                                <m:ctrlPr>
                                  <a:rPr lang="en-US" altLang="zh-TW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sz="2200" b="0" i="1" smtClean="0">
                                    <a:latin typeface="Cambria Math" panose="02040503050406030204" pitchFamily="18" charset="0"/>
                                  </a:rPr>
                                  <m:t>𝐹𝑃</m:t>
                                </m:r>
                                <m:r>
                                  <a:rPr lang="en-US" altLang="zh-TW" sz="2200" b="0" i="1" smtClean="0">
                                    <a:latin typeface="Cambria Math" panose="02040503050406030204" pitchFamily="18" charset="0"/>
                                  </a:rPr>
                                  <m:t>4 </m:t>
                                </m:r>
                                <m:r>
                                  <a:rPr lang="en-US" altLang="zh-TW" sz="22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TW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TW" sz="2200" i="1">
                                <a:latin typeface="Cambria Math" panose="02040503050406030204" pitchFamily="18" charset="0"/>
                              </a:rPr>
                              <m:t> ∗</m:t>
                            </m:r>
                            <m:r>
                              <a:rPr lang="en-US" altLang="zh-TW" sz="2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𝐹𝑃</m:t>
                            </m:r>
                            <m:r>
                              <a:rPr lang="en-US" altLang="zh-TW" sz="2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sSub>
                              <m:sSubPr>
                                <m:ctrlPr>
                                  <a:rPr lang="en-US" altLang="zh-TW" sz="2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TW" sz="2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𝑠𝑓</m:t>
                                </m:r>
                              </m:e>
                              <m:sub>
                                <m:r>
                                  <a:rPr lang="en-US" altLang="zh-TW" sz="2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zh-TW" sz="2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sz="22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US" altLang="zh-TW" sz="22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𝑏𝑓</m:t>
                            </m:r>
                            <m:r>
                              <a:rPr lang="en-US" altLang="zh-TW" sz="22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16 </m:t>
                            </m:r>
                            <m:r>
                              <a:rPr lang="en-US" altLang="zh-TW" sz="22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𝑠𝑓</m:t>
                            </m:r>
                          </m:e>
                        </m:d>
                        <m: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  <m:t> )</m:t>
                        </m:r>
                      </m:e>
                    </m:nary>
                  </m:oMath>
                </a14:m>
                <a:r>
                  <a:rPr lang="zh-TW" altLang="en-US" sz="2200" dirty="0"/>
                  <a:t> </a:t>
                </a:r>
                <a:endParaRPr lang="en-US" altLang="zh-TW" sz="2200" dirty="0"/>
              </a:p>
              <a:p>
                <a:pPr marL="0" indent="0">
                  <a:buNone/>
                </a:pPr>
                <a:r>
                  <a:rPr lang="en-US" altLang="zh-TW" sz="220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TW" altLang="en-US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2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TW" sz="22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US" altLang="zh-TW" sz="2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en-US" altLang="zh-TW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8 </m:t>
                        </m:r>
                        <m:sSub>
                          <m:sSubPr>
                            <m:ctrlPr>
                              <a:rPr lang="en-US" altLang="zh-TW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𝑠𝑓</m:t>
                            </m:r>
                          </m:e>
                          <m:sub>
                            <m:r>
                              <a:rPr lang="en-US" altLang="zh-TW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TW" sz="2200" dirty="0"/>
                          <m:t> </m:t>
                        </m:r>
                        <m:r>
                          <a:rPr lang="en-US" altLang="zh-TW" sz="2200" i="1">
                            <a:latin typeface="Cambria Math" panose="02040503050406030204" pitchFamily="18" charset="0"/>
                          </a:rPr>
                          <m:t>∗</m:t>
                        </m:r>
                        <m:sSup>
                          <m:sSupPr>
                            <m:ctrlPr>
                              <a:rPr lang="en-US" altLang="zh-TW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TW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2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𝑏𝑓</m:t>
                                </m:r>
                                <m:r>
                                  <a:rPr lang="en-US" altLang="zh-TW" sz="22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16 </m:t>
                                </m:r>
                                <m:r>
                                  <a:rPr lang="en-US" altLang="zh-TW" sz="22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𝑠𝑓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TW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  <m:t> ∗ </m:t>
                        </m:r>
                        <m:r>
                          <a:rPr lang="en-US" altLang="zh-TW" sz="2200" i="1"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en-US" altLang="zh-TW" sz="2200" i="1">
                            <a:latin typeface="Cambria Math" panose="02040503050406030204" pitchFamily="18" charset="0"/>
                          </a:rPr>
                          <m:t>4 </m:t>
                        </m:r>
                        <m:sSub>
                          <m:sSubPr>
                            <m:ctrlPr>
                              <a:rPr lang="en-US" altLang="zh-TW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2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2200" i="1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US" altLang="zh-TW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200" i="1">
                                <a:latin typeface="Cambria Math" panose="02040503050406030204" pitchFamily="18" charset="0"/>
                              </a:rPr>
                              <m:t>𝐹𝑃</m:t>
                            </m:r>
                            <m:r>
                              <a:rPr lang="en-US" altLang="zh-TW" sz="2200" i="1">
                                <a:latin typeface="Cambria Math" panose="02040503050406030204" pitchFamily="18" charset="0"/>
                              </a:rPr>
                              <m:t>4 </m:t>
                            </m:r>
                            <m:r>
                              <a:rPr lang="en-US" altLang="zh-TW" sz="22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22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zh-TW" altLang="en-US" sz="2200" dirty="0"/>
                  <a:t> </a:t>
                </a:r>
                <a:endParaRPr lang="en-US" altLang="zh-TW" sz="2200" dirty="0"/>
              </a:p>
              <a:p>
                <a:pPr marL="0" indent="0">
                  <a:buNone/>
                </a:pPr>
                <a:endParaRPr lang="zh-TW" altLang="en-US" sz="2200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6B55AB1-50DF-8E42-A2C2-16073A5550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078350"/>
                <a:ext cx="10972800" cy="5505012"/>
              </a:xfrm>
              <a:blipFill>
                <a:blip r:embed="rId2"/>
                <a:stretch>
                  <a:fillRect l="-2000" t="-13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430C3CD3-18F8-4D63-B66F-FA7E04C34036}"/>
              </a:ext>
            </a:extLst>
          </p:cNvPr>
          <p:cNvSpPr/>
          <p:nvPr/>
        </p:nvSpPr>
        <p:spPr>
          <a:xfrm>
            <a:off x="1534086" y="4073245"/>
            <a:ext cx="914400" cy="3092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4472312-B3B1-49F8-AA01-ACB39AD69DC8}"/>
              </a:ext>
            </a:extLst>
          </p:cNvPr>
          <p:cNvSpPr/>
          <p:nvPr/>
        </p:nvSpPr>
        <p:spPr>
          <a:xfrm>
            <a:off x="1616636" y="4471239"/>
            <a:ext cx="3609414" cy="3654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1A437A9-A114-4EFE-ABBA-4298951CE451}"/>
              </a:ext>
            </a:extLst>
          </p:cNvPr>
          <p:cNvSpPr/>
          <p:nvPr/>
        </p:nvSpPr>
        <p:spPr>
          <a:xfrm>
            <a:off x="2663639" y="4073245"/>
            <a:ext cx="914400" cy="30928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C998B85-3F6F-4D02-B23E-35C912E39012}"/>
              </a:ext>
            </a:extLst>
          </p:cNvPr>
          <p:cNvSpPr/>
          <p:nvPr/>
        </p:nvSpPr>
        <p:spPr>
          <a:xfrm>
            <a:off x="5432986" y="4471239"/>
            <a:ext cx="3609414" cy="36540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星形: 五角 4">
            <a:extLst>
              <a:ext uri="{FF2B5EF4-FFF2-40B4-BE49-F238E27FC236}">
                <a16:creationId xmlns:a16="http://schemas.microsoft.com/office/drawing/2014/main" id="{416E7D30-7DA7-4984-9484-7A0FA1E5155A}"/>
              </a:ext>
            </a:extLst>
          </p:cNvPr>
          <p:cNvSpPr/>
          <p:nvPr/>
        </p:nvSpPr>
        <p:spPr>
          <a:xfrm rot="20134047">
            <a:off x="527926" y="3396324"/>
            <a:ext cx="296696" cy="296696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30F0D09B-894A-4FFB-BA5A-4AB43857CD0B}"/>
              </a:ext>
            </a:extLst>
          </p:cNvPr>
          <p:cNvCxnSpPr>
            <a:cxnSpLocks/>
          </p:cNvCxnSpPr>
          <p:nvPr/>
        </p:nvCxnSpPr>
        <p:spPr>
          <a:xfrm flipH="1" flipV="1">
            <a:off x="1981200" y="5248276"/>
            <a:ext cx="10086" cy="82544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63A08C5-A916-445C-B1D6-6B14EDD053BD}"/>
              </a:ext>
            </a:extLst>
          </p:cNvPr>
          <p:cNvSpPr txBox="1"/>
          <p:nvPr/>
        </p:nvSpPr>
        <p:spPr>
          <a:xfrm>
            <a:off x="1103785" y="6064195"/>
            <a:ext cx="14433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每筆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Pattern</a:t>
            </a:r>
          </a:p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只給一次</a:t>
            </a: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1A8834FC-F961-4565-9D6C-EE4BE886E70E}"/>
              </a:ext>
            </a:extLst>
          </p:cNvPr>
          <p:cNvCxnSpPr>
            <a:cxnSpLocks/>
          </p:cNvCxnSpPr>
          <p:nvPr/>
        </p:nvCxnSpPr>
        <p:spPr>
          <a:xfrm flipV="1">
            <a:off x="3352800" y="5248275"/>
            <a:ext cx="0" cy="40005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4C58253-D73D-4DA2-8673-ADD754D3FB4D}"/>
              </a:ext>
            </a:extLst>
          </p:cNvPr>
          <p:cNvSpPr txBox="1"/>
          <p:nvPr/>
        </p:nvSpPr>
        <p:spPr>
          <a:xfrm>
            <a:off x="2514788" y="5685252"/>
            <a:ext cx="1813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固定為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0.5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因此不需要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read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8B1B290A-B40E-439B-84A0-47A94205E29E}"/>
              </a:ext>
            </a:extLst>
          </p:cNvPr>
          <p:cNvCxnSpPr>
            <a:cxnSpLocks/>
          </p:cNvCxnSpPr>
          <p:nvPr/>
        </p:nvCxnSpPr>
        <p:spPr>
          <a:xfrm flipV="1">
            <a:off x="4857750" y="5172075"/>
            <a:ext cx="0" cy="4000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1B2EADBB-5A33-46BB-AC95-72E9DE451F02}"/>
              </a:ext>
            </a:extLst>
          </p:cNvPr>
          <p:cNvCxnSpPr>
            <a:cxnSpLocks/>
          </p:cNvCxnSpPr>
          <p:nvPr/>
        </p:nvCxnSpPr>
        <p:spPr>
          <a:xfrm flipV="1">
            <a:off x="5943600" y="5172075"/>
            <a:ext cx="0" cy="4000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13821BC4-3744-4F69-82A3-D76056B21384}"/>
              </a:ext>
            </a:extLst>
          </p:cNvPr>
          <p:cNvSpPr txBox="1"/>
          <p:nvPr/>
        </p:nvSpPr>
        <p:spPr>
          <a:xfrm>
            <a:off x="4531474" y="5600700"/>
            <a:ext cx="1803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每筆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Pattern</a:t>
            </a:r>
          </a:p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連續給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cycle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5778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13" grpId="0" animBg="1"/>
      <p:bldP spid="13" grpId="1" animBg="1"/>
      <p:bldP spid="14" grpId="0" animBg="1"/>
      <p:bldP spid="14" grpId="1" animBg="1"/>
      <p:bldP spid="17" grpId="0" animBg="1"/>
      <p:bldP spid="17" grpId="1" animBg="1"/>
      <p:bldP spid="11" grpId="0"/>
      <p:bldP spid="18" grpId="0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3B2E28-0C31-44EF-A497-02DEAA577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Lab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70D59B1-E878-4769-ACFE-6A03601BE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78350"/>
            <a:ext cx="10972800" cy="5331975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Data Example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Hint</a:t>
            </a:r>
          </a:p>
          <a:p>
            <a:r>
              <a:rPr lang="zh-TW" altLang="en-US" dirty="0"/>
              <a:t>將 </a:t>
            </a:r>
            <a:r>
              <a:rPr lang="en-US" altLang="zh-TW" dirty="0"/>
              <a:t>Data</a:t>
            </a:r>
            <a:r>
              <a:rPr lang="zh-TW" altLang="en-US" dirty="0"/>
              <a:t> 對齊至 </a:t>
            </a:r>
            <a:r>
              <a:rPr lang="en-US" altLang="zh-TW" dirty="0"/>
              <a:t>bf16</a:t>
            </a:r>
            <a:r>
              <a:rPr lang="zh-TW" altLang="en-US" dirty="0"/>
              <a:t> 格式再處理計算</a:t>
            </a:r>
            <a:endParaRPr lang="en-US" altLang="zh-TW" dirty="0"/>
          </a:p>
          <a:p>
            <a:r>
              <a:rPr lang="zh-TW" altLang="en-US" dirty="0"/>
              <a:t>盡量讓誤差達到最小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FFF87E2F-FF4F-4AA5-932F-965EF7EED9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729955"/>
              </p:ext>
            </p:extLst>
          </p:nvPr>
        </p:nvGraphicFramePr>
        <p:xfrm>
          <a:off x="609600" y="1743075"/>
          <a:ext cx="10639425" cy="180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9657">
                  <a:extLst>
                    <a:ext uri="{9D8B030D-6E8A-4147-A177-3AD203B41FA5}">
                      <a16:colId xmlns:a16="http://schemas.microsoft.com/office/drawing/2014/main" val="3583244809"/>
                    </a:ext>
                  </a:extLst>
                </a:gridCol>
                <a:gridCol w="1825494">
                  <a:extLst>
                    <a:ext uri="{9D8B030D-6E8A-4147-A177-3AD203B41FA5}">
                      <a16:colId xmlns:a16="http://schemas.microsoft.com/office/drawing/2014/main" val="3379054911"/>
                    </a:ext>
                  </a:extLst>
                </a:gridCol>
                <a:gridCol w="2839977">
                  <a:extLst>
                    <a:ext uri="{9D8B030D-6E8A-4147-A177-3AD203B41FA5}">
                      <a16:colId xmlns:a16="http://schemas.microsoft.com/office/drawing/2014/main" val="4113349659"/>
                    </a:ext>
                  </a:extLst>
                </a:gridCol>
                <a:gridCol w="4694297">
                  <a:extLst>
                    <a:ext uri="{9D8B030D-6E8A-4147-A177-3AD203B41FA5}">
                      <a16:colId xmlns:a16="http://schemas.microsoft.com/office/drawing/2014/main" val="3234392233"/>
                    </a:ext>
                  </a:extLst>
                </a:gridCol>
              </a:tblGrid>
              <a:tr h="452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Format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Bias Exponent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X</a:t>
                      </a:r>
                      <a:r>
                        <a:rPr lang="en-US" altLang="zh-TW" sz="2000" baseline="-25000" dirty="0" err="1"/>
                        <a:t>format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X</a:t>
                      </a:r>
                      <a:r>
                        <a:rPr lang="en-US" altLang="zh-TW" sz="2000" baseline="-25000" dirty="0" err="1"/>
                        <a:t>real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291296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FP4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rgbClr val="00B0F0"/>
                          </a:solidFill>
                        </a:rPr>
                        <a:t>0 </a:t>
                      </a:r>
                      <a:r>
                        <a:rPr lang="en-US" altLang="zh-TW" sz="2000" dirty="0">
                          <a:solidFill>
                            <a:srgbClr val="00B050"/>
                          </a:solidFill>
                        </a:rPr>
                        <a:t>11 </a:t>
                      </a:r>
                      <a:r>
                        <a:rPr lang="en-US" altLang="zh-TW" sz="20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(-1)</a:t>
                      </a:r>
                      <a:r>
                        <a:rPr lang="en-US" altLang="zh-TW" sz="2000" baseline="30000" dirty="0">
                          <a:solidFill>
                            <a:srgbClr val="00B0F0"/>
                          </a:solidFill>
                        </a:rPr>
                        <a:t>0</a:t>
                      </a:r>
                      <a:r>
                        <a:rPr lang="en-US" altLang="zh-TW" sz="2000" dirty="0"/>
                        <a:t> * 2</a:t>
                      </a:r>
                      <a:r>
                        <a:rPr lang="en-US" altLang="zh-TW" sz="2000" baseline="30000" dirty="0"/>
                        <a:t>(</a:t>
                      </a:r>
                      <a:r>
                        <a:rPr lang="en-US" altLang="zh-TW" sz="2000" baseline="30000" dirty="0">
                          <a:solidFill>
                            <a:srgbClr val="00B050"/>
                          </a:solidFill>
                        </a:rPr>
                        <a:t>3</a:t>
                      </a:r>
                      <a:r>
                        <a:rPr lang="en-US" altLang="zh-TW" sz="2000" baseline="30000" dirty="0"/>
                        <a:t>-1)</a:t>
                      </a:r>
                      <a:r>
                        <a:rPr lang="en-US" altLang="zh-TW" sz="2000" dirty="0"/>
                        <a:t> * (1.</a:t>
                      </a:r>
                      <a:r>
                        <a:rPr lang="en-US" altLang="zh-TW" sz="20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zh-TW" sz="200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6865872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FP8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rgbClr val="00B0F0"/>
                          </a:solidFill>
                        </a:rPr>
                        <a:t>0 </a:t>
                      </a:r>
                      <a:r>
                        <a:rPr lang="en-US" altLang="zh-TW" sz="2000" dirty="0">
                          <a:solidFill>
                            <a:srgbClr val="00B050"/>
                          </a:solidFill>
                        </a:rPr>
                        <a:t>1101 </a:t>
                      </a:r>
                      <a:r>
                        <a:rPr lang="en-US" altLang="zh-TW" sz="2000" dirty="0">
                          <a:solidFill>
                            <a:srgbClr val="FF0000"/>
                          </a:solidFill>
                        </a:rPr>
                        <a:t>010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(-1)</a:t>
                      </a:r>
                      <a:r>
                        <a:rPr lang="en-US" altLang="zh-TW" sz="2000" baseline="30000" dirty="0">
                          <a:solidFill>
                            <a:srgbClr val="00B0F0"/>
                          </a:solidFill>
                        </a:rPr>
                        <a:t>0</a:t>
                      </a:r>
                      <a:r>
                        <a:rPr lang="en-US" altLang="zh-TW" sz="2000" dirty="0"/>
                        <a:t> * 2</a:t>
                      </a:r>
                      <a:r>
                        <a:rPr lang="en-US" altLang="zh-TW" sz="2000" baseline="30000" dirty="0"/>
                        <a:t>(</a:t>
                      </a:r>
                      <a:r>
                        <a:rPr lang="en-US" altLang="zh-TW" sz="2000" baseline="30000" dirty="0">
                          <a:solidFill>
                            <a:srgbClr val="00B050"/>
                          </a:solidFill>
                        </a:rPr>
                        <a:t>13</a:t>
                      </a:r>
                      <a:r>
                        <a:rPr lang="en-US" altLang="zh-TW" sz="2000" baseline="30000" dirty="0"/>
                        <a:t>-7)</a:t>
                      </a:r>
                      <a:r>
                        <a:rPr lang="en-US" altLang="zh-TW" sz="2000" dirty="0"/>
                        <a:t> * (1.</a:t>
                      </a:r>
                      <a:r>
                        <a:rPr lang="en-US" altLang="zh-TW" sz="2000" dirty="0">
                          <a:solidFill>
                            <a:srgbClr val="FF0000"/>
                          </a:solidFill>
                        </a:rPr>
                        <a:t>010</a:t>
                      </a:r>
                      <a:r>
                        <a:rPr lang="en-US" altLang="zh-TW" sz="200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6109012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bf16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127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rgbClr val="00B0F0"/>
                          </a:solidFill>
                        </a:rPr>
                        <a:t>1</a:t>
                      </a:r>
                      <a:r>
                        <a:rPr lang="en-US" altLang="zh-TW" sz="2000" dirty="0"/>
                        <a:t> </a:t>
                      </a:r>
                      <a:r>
                        <a:rPr lang="en-US" altLang="zh-TW" sz="2000" dirty="0">
                          <a:solidFill>
                            <a:srgbClr val="00B050"/>
                          </a:solidFill>
                        </a:rPr>
                        <a:t>10000111</a:t>
                      </a:r>
                      <a:r>
                        <a:rPr lang="en-US" altLang="zh-TW" sz="2000" dirty="0"/>
                        <a:t> </a:t>
                      </a:r>
                      <a:r>
                        <a:rPr lang="en-US" altLang="zh-TW" sz="2000" dirty="0">
                          <a:solidFill>
                            <a:srgbClr val="FF0000"/>
                          </a:solidFill>
                        </a:rPr>
                        <a:t>0011010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(-1)</a:t>
                      </a:r>
                      <a:r>
                        <a:rPr lang="en-US" altLang="zh-TW" sz="2000" baseline="30000" dirty="0">
                          <a:solidFill>
                            <a:srgbClr val="00B0F0"/>
                          </a:solidFill>
                        </a:rPr>
                        <a:t>1</a:t>
                      </a:r>
                      <a:r>
                        <a:rPr lang="en-US" altLang="zh-TW" sz="2000" dirty="0"/>
                        <a:t> * 2</a:t>
                      </a:r>
                      <a:r>
                        <a:rPr lang="en-US" altLang="zh-TW" sz="2000" baseline="30000" dirty="0"/>
                        <a:t>(</a:t>
                      </a:r>
                      <a:r>
                        <a:rPr lang="en-US" altLang="zh-TW" sz="2000" baseline="30000" dirty="0">
                          <a:solidFill>
                            <a:srgbClr val="00B050"/>
                          </a:solidFill>
                        </a:rPr>
                        <a:t>135</a:t>
                      </a:r>
                      <a:r>
                        <a:rPr lang="en-US" altLang="zh-TW" sz="2000" baseline="30000" dirty="0"/>
                        <a:t>-127)</a:t>
                      </a:r>
                      <a:r>
                        <a:rPr lang="en-US" altLang="zh-TW" sz="2000" dirty="0"/>
                        <a:t> * (1.</a:t>
                      </a:r>
                      <a:r>
                        <a:rPr lang="en-US" altLang="zh-TW" sz="2000" dirty="0">
                          <a:solidFill>
                            <a:srgbClr val="FF0000"/>
                          </a:solidFill>
                        </a:rPr>
                        <a:t>0011010</a:t>
                      </a:r>
                      <a:r>
                        <a:rPr lang="en-US" altLang="zh-TW" sz="200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2862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3016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8AC83-1082-E9ED-AAA8-4D6BA5EB2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642D30-2997-7052-7CC1-3B075E767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NVfpc.sv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B55AB1-50DF-8E42-A2C2-16073A555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78350"/>
            <a:ext cx="11310937" cy="5279589"/>
          </a:xfrm>
        </p:spPr>
        <p:txBody>
          <a:bodyPr/>
          <a:lstStyle/>
          <a:p>
            <a:endParaRPr lang="zh-TW" altLang="en-US" dirty="0"/>
          </a:p>
        </p:txBody>
      </p:sp>
      <p:graphicFrame>
        <p:nvGraphicFramePr>
          <p:cNvPr id="11" name="內容版面配置區 3">
            <a:extLst>
              <a:ext uri="{FF2B5EF4-FFF2-40B4-BE49-F238E27FC236}">
                <a16:creationId xmlns:a16="http://schemas.microsoft.com/office/drawing/2014/main" id="{469448CC-7502-461A-A9A7-D97DA139ED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5808636"/>
              </p:ext>
            </p:extLst>
          </p:nvPr>
        </p:nvGraphicFramePr>
        <p:xfrm>
          <a:off x="2063455" y="1704926"/>
          <a:ext cx="8403219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9157">
                  <a:extLst>
                    <a:ext uri="{9D8B030D-6E8A-4147-A177-3AD203B41FA5}">
                      <a16:colId xmlns:a16="http://schemas.microsoft.com/office/drawing/2014/main" val="4203003005"/>
                    </a:ext>
                  </a:extLst>
                </a:gridCol>
                <a:gridCol w="1169766">
                  <a:extLst>
                    <a:ext uri="{9D8B030D-6E8A-4147-A177-3AD203B41FA5}">
                      <a16:colId xmlns:a16="http://schemas.microsoft.com/office/drawing/2014/main" val="3705501661"/>
                    </a:ext>
                  </a:extLst>
                </a:gridCol>
                <a:gridCol w="5574296">
                  <a:extLst>
                    <a:ext uri="{9D8B030D-6E8A-4147-A177-3AD203B41FA5}">
                      <a16:colId xmlns:a16="http://schemas.microsoft.com/office/drawing/2014/main" val="3480687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Input Signal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Bit Width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Definition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353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clk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Clock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1417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rst_n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Asynchronous active-low reset 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7138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in_valid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High when input is valid 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9911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in_data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in_data[7:4]: data_a; in_data[3:0]: data_b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56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/>
                        <a:t>factor_valid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High when factor is valid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2825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factor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FP8 (E4M3) scaling factor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083460"/>
                  </a:ext>
                </a:extLst>
              </a:tr>
            </a:tbl>
          </a:graphicData>
        </a:graphic>
      </p:graphicFrame>
      <p:graphicFrame>
        <p:nvGraphicFramePr>
          <p:cNvPr id="12" name="內容版面配置區 3">
            <a:extLst>
              <a:ext uri="{FF2B5EF4-FFF2-40B4-BE49-F238E27FC236}">
                <a16:creationId xmlns:a16="http://schemas.microsoft.com/office/drawing/2014/main" id="{0B3067CE-27C9-4C06-9A4F-EE65228EA5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4933033"/>
              </p:ext>
            </p:extLst>
          </p:nvPr>
        </p:nvGraphicFramePr>
        <p:xfrm>
          <a:off x="2063455" y="4927382"/>
          <a:ext cx="8403219" cy="11472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2382">
                  <a:extLst>
                    <a:ext uri="{9D8B030D-6E8A-4147-A177-3AD203B41FA5}">
                      <a16:colId xmlns:a16="http://schemas.microsoft.com/office/drawing/2014/main" val="4203003005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3705501661"/>
                    </a:ext>
                  </a:extLst>
                </a:gridCol>
                <a:gridCol w="5575137">
                  <a:extLst>
                    <a:ext uri="{9D8B030D-6E8A-4147-A177-3AD203B41FA5}">
                      <a16:colId xmlns:a16="http://schemas.microsoft.com/office/drawing/2014/main" val="3480687581"/>
                    </a:ext>
                  </a:extLst>
                </a:gridCol>
              </a:tblGrid>
              <a:tr h="3824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Output Signal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Bit Width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Definition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353009"/>
                  </a:ext>
                </a:extLst>
              </a:tr>
              <a:tr h="38242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out_valid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High when output is valid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1417278"/>
                  </a:ext>
                </a:extLst>
              </a:tr>
              <a:tr h="38242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/>
                        <a:t>out_data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the result of accumulation (bfloat16)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7138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91833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1492E6-AE45-1F8D-231F-B2E0B370B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Directory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348EFE-1C18-D0F5-28E7-12B7D9C87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00_TESTBED</a:t>
            </a:r>
          </a:p>
          <a:p>
            <a:pPr lvl="1"/>
            <a:r>
              <a:rPr lang="en-US" altLang="zh-TW" dirty="0"/>
              <a:t>TESTBED.sv</a:t>
            </a:r>
          </a:p>
          <a:p>
            <a:pPr lvl="1"/>
            <a:r>
              <a:rPr lang="en-US" altLang="zh-TW" dirty="0"/>
              <a:t>PATTERN.sv</a:t>
            </a:r>
          </a:p>
          <a:p>
            <a:r>
              <a:rPr lang="en-US" altLang="zh-TW" dirty="0"/>
              <a:t>01_RTL</a:t>
            </a:r>
          </a:p>
          <a:p>
            <a:pPr lvl="1"/>
            <a:r>
              <a:rPr lang="en-US" altLang="zh-TW" dirty="0"/>
              <a:t>01_run</a:t>
            </a:r>
          </a:p>
          <a:p>
            <a:pPr lvl="1"/>
            <a:r>
              <a:rPr lang="en-US" altLang="zh-TW" dirty="0"/>
              <a:t>09_clean_up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NVfpc.sv</a:t>
            </a:r>
          </a:p>
          <a:p>
            <a:r>
              <a:rPr lang="en-US" altLang="zh-TW" dirty="0"/>
              <a:t>02_SYN</a:t>
            </a:r>
          </a:p>
          <a:p>
            <a:pPr lvl="1"/>
            <a:r>
              <a:rPr lang="en-US" altLang="zh-TW" dirty="0"/>
              <a:t>01_run_dc</a:t>
            </a:r>
          </a:p>
          <a:p>
            <a:pPr lvl="1"/>
            <a:r>
              <a:rPr lang="en-US" altLang="zh-TW" dirty="0"/>
              <a:t>09_clean_up</a:t>
            </a:r>
          </a:p>
          <a:p>
            <a:r>
              <a:rPr lang="en-US" altLang="zh-TW" dirty="0"/>
              <a:t>03_GATE</a:t>
            </a:r>
          </a:p>
          <a:p>
            <a:pPr lvl="1"/>
            <a:r>
              <a:rPr lang="en-US" altLang="zh-TW" dirty="0"/>
              <a:t>01_run</a:t>
            </a:r>
          </a:p>
          <a:p>
            <a:pPr lvl="1"/>
            <a:r>
              <a:rPr lang="en-US" altLang="zh-TW" dirty="0"/>
              <a:t>09_clean_up</a:t>
            </a:r>
          </a:p>
        </p:txBody>
      </p:sp>
    </p:spTree>
    <p:extLst>
      <p:ext uri="{BB962C8B-B14F-4D97-AF65-F5344CB8AC3E}">
        <p14:creationId xmlns:p14="http://schemas.microsoft.com/office/powerpoint/2010/main" val="32601627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1492E6-AE45-1F8D-231F-B2E0B370B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Specification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348EFE-1C18-D0F5-28E7-12B7D9C87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不能使用 </a:t>
            </a:r>
            <a:r>
              <a:rPr lang="en-US" altLang="zh-TW" dirty="0"/>
              <a:t>IP</a:t>
            </a:r>
            <a:r>
              <a:rPr lang="zh-TW" altLang="en-US" dirty="0"/>
              <a:t>，使用 </a:t>
            </a:r>
            <a:r>
              <a:rPr lang="en-US" altLang="zh-TW" dirty="0"/>
              <a:t>IP</a:t>
            </a:r>
            <a:r>
              <a:rPr lang="zh-TW" altLang="en-US" dirty="0"/>
              <a:t> 視同 </a:t>
            </a:r>
            <a:r>
              <a:rPr lang="en-US" altLang="zh-TW" dirty="0"/>
              <a:t>FAIL</a:t>
            </a:r>
          </a:p>
          <a:p>
            <a:r>
              <a:rPr lang="zh-TW" altLang="en-US" dirty="0"/>
              <a:t>超過 </a:t>
            </a:r>
            <a:r>
              <a:rPr lang="en-US" altLang="zh-TW" dirty="0"/>
              <a:t>30 cycles </a:t>
            </a:r>
            <a:r>
              <a:rPr lang="zh-TW" altLang="en-US" dirty="0"/>
              <a:t>沒有 </a:t>
            </a:r>
            <a:r>
              <a:rPr lang="en-US" altLang="zh-TW" dirty="0"/>
              <a:t>output </a:t>
            </a:r>
            <a:r>
              <a:rPr lang="zh-TW" altLang="en-US" dirty="0"/>
              <a:t>視同 </a:t>
            </a:r>
            <a:r>
              <a:rPr lang="en-US" altLang="zh-TW" dirty="0"/>
              <a:t>FAIL</a:t>
            </a:r>
          </a:p>
          <a:p>
            <a:r>
              <a:rPr lang="en-US" altLang="zh-TW" dirty="0"/>
              <a:t>out_valid</a:t>
            </a:r>
            <a:r>
              <a:rPr lang="zh-TW" altLang="en-US" dirty="0"/>
              <a:t> 和 </a:t>
            </a:r>
            <a:r>
              <a:rPr lang="en-US" altLang="zh-TW" dirty="0"/>
              <a:t>out_data </a:t>
            </a:r>
            <a:r>
              <a:rPr lang="zh-TW" altLang="en-US" dirty="0"/>
              <a:t>需同時為 </a:t>
            </a:r>
            <a:r>
              <a:rPr lang="en-US" altLang="zh-TW" dirty="0"/>
              <a:t>high</a:t>
            </a:r>
            <a:r>
              <a:rPr lang="zh-TW" altLang="en-US" dirty="0"/>
              <a:t>，而且只能拉起一個 </a:t>
            </a:r>
            <a:r>
              <a:rPr lang="en-US" altLang="zh-TW" dirty="0"/>
              <a:t>cycle</a:t>
            </a:r>
          </a:p>
          <a:p>
            <a:endParaRPr lang="en-US" altLang="zh-TW" dirty="0"/>
          </a:p>
          <a:p>
            <a:r>
              <a:rPr lang="en-US" altLang="zh-TW" dirty="0"/>
              <a:t>Next Input</a:t>
            </a:r>
            <a:r>
              <a:rPr lang="zh-TW" altLang="en-US" dirty="0"/>
              <a:t> 會在 </a:t>
            </a:r>
            <a:r>
              <a:rPr lang="en-US" altLang="zh-TW" dirty="0"/>
              <a:t>out_valid </a:t>
            </a:r>
            <a:r>
              <a:rPr lang="zh-TW" altLang="en-US" dirty="0"/>
              <a:t>後 </a:t>
            </a:r>
            <a:r>
              <a:rPr lang="en-US" altLang="zh-TW" dirty="0"/>
              <a:t>2~5 </a:t>
            </a:r>
            <a:r>
              <a:rPr lang="zh-TW" altLang="en-US" dirty="0"/>
              <a:t>個 </a:t>
            </a:r>
            <a:r>
              <a:rPr lang="en-US" altLang="zh-TW" dirty="0"/>
              <a:t>cycle</a:t>
            </a:r>
          </a:p>
          <a:p>
            <a:r>
              <a:rPr lang="zh-TW" altLang="en-US" dirty="0"/>
              <a:t>所有 </a:t>
            </a:r>
            <a:r>
              <a:rPr lang="en-US" altLang="zh-TW" dirty="0"/>
              <a:t>output </a:t>
            </a:r>
            <a:r>
              <a:rPr lang="zh-TW" altLang="en-US" dirty="0"/>
              <a:t>需 </a:t>
            </a:r>
            <a:r>
              <a:rPr lang="en-US" altLang="zh-TW" dirty="0"/>
              <a:t>asynchronous reset</a:t>
            </a:r>
          </a:p>
          <a:p>
            <a:r>
              <a:rPr lang="en-US" altLang="zh-TW" dirty="0"/>
              <a:t>01_RTL </a:t>
            </a:r>
            <a:r>
              <a:rPr lang="zh-TW" altLang="en-US" dirty="0"/>
              <a:t>需要</a:t>
            </a:r>
            <a:r>
              <a:rPr lang="en-US" altLang="zh-TW" dirty="0"/>
              <a:t>PASS</a:t>
            </a:r>
            <a:endParaRPr lang="zh-TW" altLang="en-US" dirty="0"/>
          </a:p>
          <a:p>
            <a:r>
              <a:rPr lang="en-US" altLang="zh-TW" dirty="0"/>
              <a:t>02_SYN</a:t>
            </a:r>
            <a:r>
              <a:rPr lang="zh-TW" altLang="en-US" dirty="0"/>
              <a:t> 不能有 </a:t>
            </a:r>
            <a:r>
              <a:rPr lang="en-US" altLang="zh-TW" dirty="0"/>
              <a:t>error</a:t>
            </a:r>
            <a:r>
              <a:rPr lang="zh-TW" altLang="en-US" dirty="0"/>
              <a:t> 跟 </a:t>
            </a:r>
            <a:r>
              <a:rPr lang="en-US" altLang="zh-TW" dirty="0"/>
              <a:t>latch</a:t>
            </a:r>
            <a:r>
              <a:rPr lang="zh-TW" altLang="en-US" dirty="0"/>
              <a:t>，</a:t>
            </a:r>
            <a:r>
              <a:rPr lang="en-US" altLang="zh-TW" dirty="0"/>
              <a:t>timing slack</a:t>
            </a:r>
            <a:r>
              <a:rPr lang="zh-TW" altLang="en-US" dirty="0"/>
              <a:t> 必須為 </a:t>
            </a:r>
            <a:r>
              <a:rPr lang="en-US" altLang="zh-TW" dirty="0"/>
              <a:t>MET</a:t>
            </a:r>
            <a:endParaRPr lang="zh-TW" altLang="en-US" dirty="0"/>
          </a:p>
          <a:p>
            <a:r>
              <a:rPr lang="en-US" altLang="zh-TW" dirty="0"/>
              <a:t>03_GATE</a:t>
            </a:r>
            <a:r>
              <a:rPr lang="zh-TW" altLang="en-US" dirty="0"/>
              <a:t> 需要</a:t>
            </a:r>
            <a:r>
              <a:rPr lang="en-US" altLang="zh-TW" dirty="0"/>
              <a:t>PASS</a:t>
            </a:r>
          </a:p>
        </p:txBody>
      </p:sp>
    </p:spTree>
    <p:extLst>
      <p:ext uri="{BB962C8B-B14F-4D97-AF65-F5344CB8AC3E}">
        <p14:creationId xmlns:p14="http://schemas.microsoft.com/office/powerpoint/2010/main" val="33773400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1492E6-AE45-1F8D-231F-B2E0B370B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Waveform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348EFE-1C18-D0F5-28E7-12B7D9C87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BF16 (E8M7) scaling factor </a:t>
            </a:r>
            <a:r>
              <a:rPr lang="zh-TW" altLang="en-US" dirty="0"/>
              <a:t>固定為 </a:t>
            </a:r>
            <a:r>
              <a:rPr lang="en-US" altLang="zh-TW" dirty="0"/>
              <a:t>0.5</a:t>
            </a:r>
            <a:r>
              <a:rPr lang="en-US" altLang="zh-TW" baseline="-25000" dirty="0"/>
              <a:t>decimal</a:t>
            </a:r>
            <a:endParaRPr lang="en-US" altLang="zh-TW" dirty="0"/>
          </a:p>
          <a:p>
            <a:r>
              <a:rPr lang="en-US" altLang="zh-TW" dirty="0"/>
              <a:t>FP8 (E4M3) scaling factor (sign, exp, frac): 10011000</a:t>
            </a:r>
          </a:p>
          <a:p>
            <a:r>
              <a:rPr lang="en-US" altLang="zh-TW" dirty="0"/>
              <a:t>4 in_data (sign, exp, frac)</a:t>
            </a:r>
          </a:p>
          <a:p>
            <a:pPr lvl="1"/>
            <a:r>
              <a:rPr lang="en-US" altLang="zh-TW" dirty="0"/>
              <a:t>{a0, b0} = {0111, 0100}</a:t>
            </a:r>
          </a:p>
          <a:p>
            <a:pPr lvl="1"/>
            <a:r>
              <a:rPr lang="en-US" altLang="zh-TW" dirty="0"/>
              <a:t>{a1, b1} = {1110, 0110}</a:t>
            </a:r>
          </a:p>
          <a:p>
            <a:pPr lvl="1"/>
            <a:r>
              <a:rPr lang="en-US" altLang="zh-TW" dirty="0"/>
              <a:t>{a2, b2} = {1010, 1011}</a:t>
            </a:r>
          </a:p>
          <a:p>
            <a:pPr lvl="1"/>
            <a:r>
              <a:rPr lang="en-US" altLang="zh-TW" dirty="0"/>
              <a:t>{a3, b3} = {1010, 1110}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AC89576-1757-4C9E-A1E4-6E0D83E29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69206"/>
            <a:ext cx="11467217" cy="1970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2614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FB8DC6-244A-1668-4EAC-8C762B087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Grading Policy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A7C85D-CA20-999B-3440-49F0CB197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Pass the RTL &amp; Synthesis &amp; Gate-level simulation: 100%</a:t>
            </a:r>
          </a:p>
          <a:p>
            <a:pPr lvl="1"/>
            <a:r>
              <a:rPr lang="zh-TW" altLang="en-US" dirty="0"/>
              <a:t>合成結果</a:t>
            </a:r>
            <a:r>
              <a:rPr lang="en-US" altLang="zh-TW" dirty="0"/>
              <a:t>: (</a:t>
            </a:r>
            <a:r>
              <a:rPr lang="zh-TW" altLang="en-US" b="1" dirty="0"/>
              <a:t>不能有</a:t>
            </a:r>
            <a:r>
              <a:rPr lang="en-US" altLang="zh-TW" b="1" dirty="0"/>
              <a:t>Error</a:t>
            </a:r>
            <a:r>
              <a:rPr lang="zh-TW" altLang="en-US" dirty="0"/>
              <a:t>、</a:t>
            </a:r>
            <a:r>
              <a:rPr lang="en-US" altLang="zh-TW" b="1" dirty="0"/>
              <a:t>Timing report slack met</a:t>
            </a:r>
            <a:r>
              <a:rPr lang="zh-TW" altLang="en-US" dirty="0"/>
              <a:t>、</a:t>
            </a:r>
            <a:r>
              <a:rPr lang="zh-TW" altLang="en-US" b="1" dirty="0"/>
              <a:t>不能有</a:t>
            </a:r>
            <a:r>
              <a:rPr lang="en-US" altLang="zh-TW" b="1" dirty="0"/>
              <a:t>Latch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Demo2 </a:t>
            </a:r>
            <a:r>
              <a:rPr lang="zh-TW" altLang="en-US" dirty="0"/>
              <a:t>打 </a:t>
            </a:r>
            <a:r>
              <a:rPr lang="en-US" altLang="zh-TW" dirty="0"/>
              <a:t>6</a:t>
            </a:r>
            <a:r>
              <a:rPr lang="zh-TW" altLang="en-US" dirty="0"/>
              <a:t> 折</a:t>
            </a:r>
          </a:p>
        </p:txBody>
      </p:sp>
    </p:spTree>
    <p:extLst>
      <p:ext uri="{BB962C8B-B14F-4D97-AF65-F5344CB8AC3E}">
        <p14:creationId xmlns:p14="http://schemas.microsoft.com/office/powerpoint/2010/main" val="15821488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072E77-28AE-6E16-8885-FDE855E88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Upload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C49901-39FA-498D-29CE-FA9EC71A8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cd ../09_UPLOAD/</a:t>
            </a:r>
          </a:p>
          <a:p>
            <a:r>
              <a:rPr lang="en-US" altLang="zh-TW" dirty="0"/>
              <a:t>./01_upload (</a:t>
            </a:r>
            <a:r>
              <a:rPr lang="zh-TW" altLang="en-US" dirty="0"/>
              <a:t>上傳 </a:t>
            </a:r>
            <a:r>
              <a:rPr lang="en-US" altLang="zh-TW" dirty="0"/>
              <a:t>code)</a:t>
            </a:r>
          </a:p>
          <a:p>
            <a:r>
              <a:rPr lang="en-US" altLang="zh-TW" dirty="0"/>
              <a:t>./02_download [argument] (</a:t>
            </a:r>
            <a:r>
              <a:rPr lang="zh-TW" altLang="en-US" dirty="0"/>
              <a:t>下載上傳結果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[argument] = demo1 or demo2</a:t>
            </a:r>
          </a:p>
          <a:p>
            <a:pPr lvl="1"/>
            <a:r>
              <a:rPr lang="zh-TW" altLang="en-US" dirty="0"/>
              <a:t>檢查是否上傳成功 </a:t>
            </a:r>
            <a:r>
              <a:rPr lang="en-US" altLang="zh-TW" dirty="0"/>
              <a:t>&amp; </a:t>
            </a:r>
            <a:r>
              <a:rPr lang="zh-TW" altLang="en-US" b="1" dirty="0"/>
              <a:t>正確</a:t>
            </a:r>
            <a:endParaRPr lang="en-US" altLang="zh-TW" b="1" dirty="0"/>
          </a:p>
          <a:p>
            <a:r>
              <a:rPr lang="en-US" altLang="zh-TW" dirty="0">
                <a:solidFill>
                  <a:srgbClr val="FF0000"/>
                </a:solidFill>
              </a:rPr>
              <a:t>Demo 1:  2026/4/30 17:40:00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Demo 2:  2026/4/30 23:59:59</a:t>
            </a:r>
          </a:p>
          <a:p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696822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5083</TotalTime>
  <Words>1688</Words>
  <Application>Microsoft Office PowerPoint</Application>
  <PresentationFormat>寬螢幕</PresentationFormat>
  <Paragraphs>231</Paragraphs>
  <Slides>24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31" baseType="lpstr">
      <vt:lpstr>Arial Unicode MS</vt:lpstr>
      <vt:lpstr>微軟正黑體</vt:lpstr>
      <vt:lpstr>Arial</vt:lpstr>
      <vt:lpstr>Calibri</vt:lpstr>
      <vt:lpstr>Cambria Math</vt:lpstr>
      <vt:lpstr>Times New Roman</vt:lpstr>
      <vt:lpstr>佈景主題1</vt:lpstr>
      <vt:lpstr>Lab07 Floating Point (NVFP4-like) Computation</vt:lpstr>
      <vt:lpstr>2026 DCS Lab 07 相關知識介紹</vt:lpstr>
      <vt:lpstr>Floating Point</vt:lpstr>
      <vt:lpstr>Floating Point – bfloat16</vt:lpstr>
      <vt:lpstr>Floating Point – FP4</vt:lpstr>
      <vt:lpstr>Floating Point – FP8 (E4M3)</vt:lpstr>
      <vt:lpstr>What is NVFP4</vt:lpstr>
      <vt:lpstr>NVFP4-like</vt:lpstr>
      <vt:lpstr>NVFP4-like – 加法</vt:lpstr>
      <vt:lpstr>NVFP4-like – 加法 example1</vt:lpstr>
      <vt:lpstr>NVFP4-like – 加法 example2</vt:lpstr>
      <vt:lpstr>bloat16 加法 Diagram</vt:lpstr>
      <vt:lpstr>NVFP4-like – 乘法</vt:lpstr>
      <vt:lpstr>NVFP4-like – 乘法 example</vt:lpstr>
      <vt:lpstr>bloat16 乘法 Diagram</vt:lpstr>
      <vt:lpstr>2026 DCS Lab 07 實作</vt:lpstr>
      <vt:lpstr>Lab</vt:lpstr>
      <vt:lpstr>Lab</vt:lpstr>
      <vt:lpstr>NVfpc.sv</vt:lpstr>
      <vt:lpstr>Directory</vt:lpstr>
      <vt:lpstr>Specification</vt:lpstr>
      <vt:lpstr>Waveform</vt:lpstr>
      <vt:lpstr>Grading Policy</vt:lpstr>
      <vt:lpstr>Upload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Lab01 Combinational Circuit</dc:title>
  <dc:creator>奕翔 賴</dc:creator>
  <cp:lastModifiedBy>張皓庭</cp:lastModifiedBy>
  <cp:revision>234</cp:revision>
  <dcterms:created xsi:type="dcterms:W3CDTF">2025-01-19T07:33:42Z</dcterms:created>
  <dcterms:modified xsi:type="dcterms:W3CDTF">2026-04-30T04:32:54Z</dcterms:modified>
</cp:coreProperties>
</file>