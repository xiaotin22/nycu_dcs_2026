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8" r:id="rId3"/>
    <p:sldId id="264" r:id="rId4"/>
    <p:sldId id="257" r:id="rId5"/>
    <p:sldId id="260" r:id="rId6"/>
    <p:sldId id="261" r:id="rId7"/>
    <p:sldId id="276" r:id="rId8"/>
    <p:sldId id="275" r:id="rId9"/>
    <p:sldId id="262" r:id="rId10"/>
    <p:sldId id="265" r:id="rId11"/>
    <p:sldId id="263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96" autoAdjust="0"/>
    <p:restoredTop sz="94660"/>
  </p:normalViewPr>
  <p:slideViewPr>
    <p:cSldViewPr snapToGrid="0">
      <p:cViewPr>
        <p:scale>
          <a:sx n="100" d="100"/>
          <a:sy n="100" d="100"/>
        </p:scale>
        <p:origin x="145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E6518-4901-4151-8307-BC21E928FBE9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5D6C4-E286-49A4-81BA-BE531F2BBC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57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5D6C4-E286-49A4-81BA-BE531F2BBCB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678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>
              <a:defRPr sz="3600">
                <a:latin typeface="+mj-lt"/>
                <a:cs typeface="Times New Roman" pitchFamily="18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9410736" cy="17526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26" name="Picture 2" descr="陽明交大新校徽終於出爐了複選4選1「長這樣」 - 生活- 自由時報電子報">
            <a:extLst>
              <a:ext uri="{FF2B5EF4-FFF2-40B4-BE49-F238E27FC236}">
                <a16:creationId xmlns:a16="http://schemas.microsoft.com/office/drawing/2014/main" id="{BA0283D1-4F0A-B54B-1A2C-3E62E6FF9C5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43"/>
          <a:stretch/>
        </p:blipFill>
        <p:spPr bwMode="auto">
          <a:xfrm>
            <a:off x="11119448" y="274068"/>
            <a:ext cx="1072551" cy="79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1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0371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279589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9E2A3-7E15-EF96-83E4-BD2E3B19AE3F}"/>
              </a:ext>
            </a:extLst>
          </p:cNvPr>
          <p:cNvCxnSpPr>
            <a:cxnSpLocks/>
          </p:cNvCxnSpPr>
          <p:nvPr userDrawn="1"/>
        </p:nvCxnSpPr>
        <p:spPr>
          <a:xfrm>
            <a:off x="618226" y="1078351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5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01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357298"/>
            <a:ext cx="53848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36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357299"/>
            <a:ext cx="5386917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928802"/>
            <a:ext cx="5386917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357299"/>
            <a:ext cx="5389033" cy="5715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1928802"/>
            <a:ext cx="5389033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62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52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00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72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285875"/>
            <a:ext cx="11620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45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98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4099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357314"/>
            <a:ext cx="109728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9E4BAB45-CC32-4EA4-861C-55A130FC9389}" type="datetimeFigureOut">
              <a:rPr lang="zh-TW" altLang="en-US" smtClean="0"/>
              <a:pPr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</a:lstStyle>
          <a:p>
            <a:fld id="{B7ED870F-9485-4D56-AFF4-B9828BB10F8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dirty="0">
                <a:ln w="12700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Platform Based Design Group</a:t>
            </a:r>
            <a:endParaRPr kumimoji="0" lang="zh-TW" altLang="en-US" sz="1200" b="1" dirty="0">
              <a:ln w="12700">
                <a:noFill/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b="1" dirty="0">
                <a:latin typeface="Times New Roman" pitchFamily="18" charset="0"/>
                <a:cs typeface="Times New Roman" pitchFamily="18" charset="0"/>
              </a:rPr>
              <a:t>NYCU. EE. Hsinchu. Taiwan</a:t>
            </a:r>
            <a:endParaRPr kumimoji="0" lang="zh-TW" alt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400" dirty="0">
                <a:latin typeface="Times New Roman" pitchFamily="18" charset="0"/>
                <a:cs typeface="Times New Roman" pitchFamily="18" charset="0"/>
              </a:rPr>
              <a:t>VLSI Signal Processing Lab.</a:t>
            </a:r>
            <a:endParaRPr kumimoji="0" lang="zh-TW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74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rgbClr val="376092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rgbClr val="4F6228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rgbClr val="953735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rgbClr val="E46C0A"/>
          </a:solidFill>
          <a:latin typeface="+mn-lt"/>
          <a:ea typeface="微軟正黑體" panose="020B0604030504040204" pitchFamily="34" charset="-120"/>
          <a:cs typeface="微軟正黑體" panose="020B0604030504040204" pitchFamily="34" charset="-12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E1000B-5139-1B80-B3C0-9A9B6ADEA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Lab01</a:t>
            </a:r>
            <a:br>
              <a:rPr lang="en-US" altLang="zh-TW" dirty="0"/>
            </a:br>
            <a:r>
              <a:rPr lang="en-US" altLang="zh-TW" dirty="0"/>
              <a:t>Combinational Circuit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73D36D-D347-5114-82D8-82DD99373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張皓庭</a:t>
            </a:r>
          </a:p>
        </p:txBody>
      </p:sp>
    </p:spTree>
    <p:extLst>
      <p:ext uri="{BB962C8B-B14F-4D97-AF65-F5344CB8AC3E}">
        <p14:creationId xmlns:p14="http://schemas.microsoft.com/office/powerpoint/2010/main" val="277401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731B-7158-8F1D-7BB8-EC56AD8D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49725-BF48-751D-73B7-CBF5363B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Combinational Circuit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E0F903-1DF0-B3ED-761B-7C0BCFF8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system takes four input numbers: </a:t>
            </a:r>
            <a:r>
              <a:rPr lang="en-US" altLang="zh-TW" b="1" dirty="0"/>
              <a:t>in_num0 ~ in_num3</a:t>
            </a:r>
          </a:p>
          <a:p>
            <a:r>
              <a:rPr lang="en-US" altLang="zh-TW" dirty="0"/>
              <a:t>Perform the specified </a:t>
            </a:r>
            <a:r>
              <a:rPr lang="en-US" altLang="zh-TW" b="1" dirty="0"/>
              <a:t>bitwise</a:t>
            </a:r>
            <a:r>
              <a:rPr lang="en-US" altLang="zh-TW" dirty="0"/>
              <a:t> operations based on the block diagram: </a:t>
            </a:r>
          </a:p>
          <a:p>
            <a:pPr lvl="1"/>
            <a:r>
              <a:rPr lang="en-US" altLang="zh-TW" dirty="0"/>
              <a:t>A  =  in_num0	XNOR	 in_num1</a:t>
            </a:r>
          </a:p>
          <a:p>
            <a:pPr lvl="1"/>
            <a:r>
              <a:rPr lang="en-US" altLang="zh-TW" dirty="0"/>
              <a:t>B  =  in_num1	 AND 	 in_num3</a:t>
            </a:r>
          </a:p>
          <a:p>
            <a:pPr lvl="1"/>
            <a:r>
              <a:rPr lang="en-US" altLang="zh-TW" dirty="0"/>
              <a:t>C  =  in_num0	 XOR 	 in_num2</a:t>
            </a:r>
          </a:p>
          <a:p>
            <a:pPr lvl="1"/>
            <a:r>
              <a:rPr lang="en-US" altLang="zh-TW" dirty="0"/>
              <a:t>D  =  in_num2	 </a:t>
            </a:r>
            <a:r>
              <a:rPr lang="zh-TW" altLang="en-US" dirty="0"/>
              <a:t> </a:t>
            </a:r>
            <a:r>
              <a:rPr lang="en-US" altLang="zh-TW" dirty="0"/>
              <a:t>OR	 in_num3</a:t>
            </a:r>
          </a:p>
          <a:p>
            <a:r>
              <a:rPr lang="en-US" altLang="zh-TW" dirty="0"/>
              <a:t>Then, group and calculate the sum</a:t>
            </a:r>
          </a:p>
          <a:p>
            <a:pPr lvl="1"/>
            <a:r>
              <a:rPr lang="en-US" altLang="zh-TW" dirty="0"/>
              <a:t>E = max(A, B) + min(C, D)</a:t>
            </a:r>
          </a:p>
          <a:p>
            <a:pPr lvl="1"/>
            <a:r>
              <a:rPr lang="en-US" altLang="zh-TW" dirty="0"/>
              <a:t>F = min(A, B) + max(C, D)</a:t>
            </a:r>
          </a:p>
          <a:p>
            <a:r>
              <a:rPr lang="en-US" altLang="zh-TW" dirty="0"/>
              <a:t>Convert E into its </a:t>
            </a:r>
            <a:r>
              <a:rPr lang="en-US" altLang="zh-TW" b="1" dirty="0"/>
              <a:t>Gray code </a:t>
            </a:r>
            <a:r>
              <a:rPr lang="en-US" altLang="zh-TW" dirty="0"/>
              <a:t>representation, the outputs are the Gray-coded E and 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0046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54A2-5C67-C83D-D21E-2920BAE4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D6DC0-D7DD-D164-D886-FBD50AD4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Combinational Circuit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ABB3B1-625F-A3DF-8EEA-F05D11D4E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Gray code representation: </a:t>
            </a:r>
          </a:p>
          <a:p>
            <a:pPr lvl="1"/>
            <a:r>
              <a:rPr lang="en-US" altLang="zh-TW" dirty="0"/>
              <a:t>A Gray code has a property that the codes for successive decimal digits differ in exactly one bit</a:t>
            </a:r>
          </a:p>
          <a:p>
            <a:pPr lvl="1"/>
            <a:r>
              <a:rPr lang="en-US" altLang="zh-TW" dirty="0"/>
              <a:t>Binary to Gray conversion: 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Gray to binary conversion: 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C1C32C1-1906-48A1-8254-DFD9184FA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343013"/>
              </p:ext>
            </p:extLst>
          </p:nvPr>
        </p:nvGraphicFramePr>
        <p:xfrm>
          <a:off x="8342400" y="2868978"/>
          <a:ext cx="32400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44550449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49411353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482313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Decimal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Binary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Gray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7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000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99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001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50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030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646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66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074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4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95118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3EB9FAE7-A3E0-9EE4-C46E-8821639D6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063"/>
          <a:stretch/>
        </p:blipFill>
        <p:spPr>
          <a:xfrm>
            <a:off x="1636907" y="2868978"/>
            <a:ext cx="4562787" cy="12693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C94251C-8737-875C-9E56-1163D1582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75"/>
          <a:stretch/>
        </p:blipFill>
        <p:spPr>
          <a:xfrm>
            <a:off x="1636907" y="4537758"/>
            <a:ext cx="4562787" cy="13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2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FDC63-D1DE-3FB2-CA9F-6E7D33C9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36F53D-5C93-4D18-9592-98BFF8B4F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98AA13-7395-4EAA-9469-834237BB1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45" y="1882062"/>
            <a:ext cx="11786710" cy="366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37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05A2-029B-B911-675E-70CB6C58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5C8840F6-03FF-4AB2-AA5F-8F3204F4E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45" y="1882062"/>
            <a:ext cx="11786710" cy="366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737F922-5F04-7C5F-8C94-30EFB4A5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 (Example)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FADBE9-4670-30B5-EDFB-9D8AF6B91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73C7F56-EED3-A593-B87F-9922F1E945C6}"/>
              </a:ext>
            </a:extLst>
          </p:cNvPr>
          <p:cNvSpPr txBox="1"/>
          <p:nvPr/>
        </p:nvSpPr>
        <p:spPr>
          <a:xfrm>
            <a:off x="998455" y="1783887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21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4980778-0328-755C-71AA-FC6FBBDF7505}"/>
              </a:ext>
            </a:extLst>
          </p:cNvPr>
          <p:cNvSpPr txBox="1"/>
          <p:nvPr/>
        </p:nvSpPr>
        <p:spPr>
          <a:xfrm>
            <a:off x="999535" y="2792978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45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3AAF54-6BF2-1DCB-E843-6B32D0E46E82}"/>
              </a:ext>
            </a:extLst>
          </p:cNvPr>
          <p:cNvSpPr txBox="1"/>
          <p:nvPr/>
        </p:nvSpPr>
        <p:spPr>
          <a:xfrm>
            <a:off x="998455" y="3796332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93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07F38CA-B3BF-BEF2-444B-0B6730326BE5}"/>
              </a:ext>
            </a:extLst>
          </p:cNvPr>
          <p:cNvSpPr txBox="1"/>
          <p:nvPr/>
        </p:nvSpPr>
        <p:spPr>
          <a:xfrm>
            <a:off x="1005196" y="4790161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35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413A91D-918F-B4F6-D456-88EFBD4323CA}"/>
              </a:ext>
            </a:extLst>
          </p:cNvPr>
          <p:cNvSpPr txBox="1"/>
          <p:nvPr/>
        </p:nvSpPr>
        <p:spPr>
          <a:xfrm>
            <a:off x="3338660" y="1727813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71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095F040-3EC5-7819-1799-45DC4FB26B1B}"/>
              </a:ext>
            </a:extLst>
          </p:cNvPr>
          <p:cNvSpPr txBox="1"/>
          <p:nvPr/>
        </p:nvSpPr>
        <p:spPr>
          <a:xfrm>
            <a:off x="3338660" y="2793135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33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CF18B3-C3F9-178F-C757-D21A5C8AB0EC}"/>
              </a:ext>
            </a:extLst>
          </p:cNvPr>
          <p:cNvSpPr txBox="1"/>
          <p:nvPr/>
        </p:nvSpPr>
        <p:spPr>
          <a:xfrm>
            <a:off x="3338660" y="3683493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72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A3B16A5-38FB-98BF-3C5B-6195F2F21C4C}"/>
              </a:ext>
            </a:extLst>
          </p:cNvPr>
          <p:cNvSpPr txBox="1"/>
          <p:nvPr/>
        </p:nvSpPr>
        <p:spPr>
          <a:xfrm>
            <a:off x="3338660" y="4748815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127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F9C6D46-0504-887D-DBF5-E98D37C8D4F5}"/>
              </a:ext>
            </a:extLst>
          </p:cNvPr>
          <p:cNvSpPr txBox="1"/>
          <p:nvPr/>
        </p:nvSpPr>
        <p:spPr>
          <a:xfrm>
            <a:off x="6059864" y="1727813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71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E894E94-E8DA-D56C-4A0C-51DA23958973}"/>
              </a:ext>
            </a:extLst>
          </p:cNvPr>
          <p:cNvSpPr txBox="1"/>
          <p:nvPr/>
        </p:nvSpPr>
        <p:spPr>
          <a:xfrm>
            <a:off x="5869027" y="3036910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33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5FF63C8-77BA-ADB2-DB36-40548974F36F}"/>
              </a:ext>
            </a:extLst>
          </p:cNvPr>
          <p:cNvSpPr txBox="1"/>
          <p:nvPr/>
        </p:nvSpPr>
        <p:spPr>
          <a:xfrm>
            <a:off x="5869027" y="3961986"/>
            <a:ext cx="650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72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8ABED03-98C1-7BC6-F47E-D1D0DD3A247D}"/>
              </a:ext>
            </a:extLst>
          </p:cNvPr>
          <p:cNvSpPr txBox="1"/>
          <p:nvPr/>
        </p:nvSpPr>
        <p:spPr>
          <a:xfrm>
            <a:off x="5715000" y="5068641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127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1F7FA42-32A9-549E-99C9-22664F52AD12}"/>
              </a:ext>
            </a:extLst>
          </p:cNvPr>
          <p:cNvSpPr txBox="1"/>
          <p:nvPr/>
        </p:nvSpPr>
        <p:spPr>
          <a:xfrm>
            <a:off x="8048320" y="2235354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143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F35B2BB-F02D-7158-70A4-C1A364BD784B}"/>
              </a:ext>
            </a:extLst>
          </p:cNvPr>
          <p:cNvSpPr txBox="1"/>
          <p:nvPr/>
        </p:nvSpPr>
        <p:spPr>
          <a:xfrm>
            <a:off x="8091342" y="4223596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160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3F3C1F2-FD75-CA9B-D82A-7372F9BC5E1D}"/>
              </a:ext>
            </a:extLst>
          </p:cNvPr>
          <p:cNvSpPr txBox="1"/>
          <p:nvPr/>
        </p:nvSpPr>
        <p:spPr>
          <a:xfrm>
            <a:off x="10296125" y="2235354"/>
            <a:ext cx="76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200</a:t>
            </a:r>
            <a:endParaRPr lang="zh-TW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24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F384C-FCE5-6019-93DC-0DAB4F84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>
            <a:extLst>
              <a:ext uri="{FF2B5EF4-FFF2-40B4-BE49-F238E27FC236}">
                <a16:creationId xmlns:a16="http://schemas.microsoft.com/office/drawing/2014/main" id="{D594E109-5A47-4A64-B244-13059CB3A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45" y="1882062"/>
            <a:ext cx="11786710" cy="366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68A993B-045D-EE19-7B57-84069BDF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 (Example)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CCD6DD-60A4-CED8-F69E-18F2B4DD5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14044C-8BC6-218D-EB2D-6B248153B372}"/>
              </a:ext>
            </a:extLst>
          </p:cNvPr>
          <p:cNvSpPr txBox="1"/>
          <p:nvPr/>
        </p:nvSpPr>
        <p:spPr>
          <a:xfrm>
            <a:off x="1018927" y="1839175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0010101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E12F41-FF9B-DB23-809F-B9DB55B742CA}"/>
              </a:ext>
            </a:extLst>
          </p:cNvPr>
          <p:cNvSpPr txBox="1"/>
          <p:nvPr/>
        </p:nvSpPr>
        <p:spPr>
          <a:xfrm>
            <a:off x="1018927" y="2900496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0101101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B4A1A0B-A969-762A-E5EE-946A175BEF6A}"/>
              </a:ext>
            </a:extLst>
          </p:cNvPr>
          <p:cNvSpPr txBox="1"/>
          <p:nvPr/>
        </p:nvSpPr>
        <p:spPr>
          <a:xfrm>
            <a:off x="1018927" y="3842887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1011101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59A5766-CE5D-B42C-F834-8E7A88844E8E}"/>
              </a:ext>
            </a:extLst>
          </p:cNvPr>
          <p:cNvSpPr txBox="1"/>
          <p:nvPr/>
        </p:nvSpPr>
        <p:spPr>
          <a:xfrm>
            <a:off x="1018927" y="4846654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0100011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4648921-7414-A859-95BD-0A22478A7163}"/>
              </a:ext>
            </a:extLst>
          </p:cNvPr>
          <p:cNvSpPr txBox="1"/>
          <p:nvPr/>
        </p:nvSpPr>
        <p:spPr>
          <a:xfrm>
            <a:off x="3260704" y="1880980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1000111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854FC02-9E87-3E7A-C5E6-380FEECC1CA3}"/>
              </a:ext>
            </a:extLst>
          </p:cNvPr>
          <p:cNvSpPr txBox="1"/>
          <p:nvPr/>
        </p:nvSpPr>
        <p:spPr>
          <a:xfrm>
            <a:off x="3260704" y="2883665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0100001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80AC7BF-0875-97A5-B394-2904731ED53C}"/>
              </a:ext>
            </a:extLst>
          </p:cNvPr>
          <p:cNvSpPr txBox="1"/>
          <p:nvPr/>
        </p:nvSpPr>
        <p:spPr>
          <a:xfrm>
            <a:off x="3260704" y="3844033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1001000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E1F4EC9-B99F-20D3-2A12-9E530B8E42E5}"/>
              </a:ext>
            </a:extLst>
          </p:cNvPr>
          <p:cNvSpPr txBox="1"/>
          <p:nvPr/>
        </p:nvSpPr>
        <p:spPr>
          <a:xfrm>
            <a:off x="3287228" y="4846654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1111111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2EBF0CC-6BBA-ADA9-0EDB-76F73408CD33}"/>
              </a:ext>
            </a:extLst>
          </p:cNvPr>
          <p:cNvSpPr txBox="1"/>
          <p:nvPr/>
        </p:nvSpPr>
        <p:spPr>
          <a:xfrm>
            <a:off x="5613685" y="1862707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1000111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7C3DDFA-4C0B-802D-710A-D2B6492B214C}"/>
              </a:ext>
            </a:extLst>
          </p:cNvPr>
          <p:cNvSpPr txBox="1"/>
          <p:nvPr/>
        </p:nvSpPr>
        <p:spPr>
          <a:xfrm>
            <a:off x="5613685" y="4277879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1001000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BA7B786-B004-B27D-E69B-61728A8CF7C7}"/>
              </a:ext>
            </a:extLst>
          </p:cNvPr>
          <p:cNvSpPr txBox="1"/>
          <p:nvPr/>
        </p:nvSpPr>
        <p:spPr>
          <a:xfrm>
            <a:off x="5640580" y="5081591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1111111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452697D-C13E-EFD3-C8F0-FCF63DCEECAF}"/>
              </a:ext>
            </a:extLst>
          </p:cNvPr>
          <p:cNvSpPr txBox="1"/>
          <p:nvPr/>
        </p:nvSpPr>
        <p:spPr>
          <a:xfrm>
            <a:off x="8020456" y="2361071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10001111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DD269AE-6E56-A25B-4654-0452A3BB4718}"/>
              </a:ext>
            </a:extLst>
          </p:cNvPr>
          <p:cNvSpPr txBox="1"/>
          <p:nvPr/>
        </p:nvSpPr>
        <p:spPr>
          <a:xfrm>
            <a:off x="8020456" y="4646599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10100000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CDF491F-A8FF-714F-0A1F-B51C89CEFC23}"/>
              </a:ext>
            </a:extLst>
          </p:cNvPr>
          <p:cNvSpPr txBox="1"/>
          <p:nvPr/>
        </p:nvSpPr>
        <p:spPr>
          <a:xfrm>
            <a:off x="10252528" y="2297738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11001000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F0F72A4-19D6-4977-9EC5-DA44B31667A7}"/>
              </a:ext>
            </a:extLst>
          </p:cNvPr>
          <p:cNvSpPr txBox="1"/>
          <p:nvPr/>
        </p:nvSpPr>
        <p:spPr>
          <a:xfrm>
            <a:off x="5640580" y="2693302"/>
            <a:ext cx="155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0100001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01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111DD79-1AD7-E412-16A7-F059EEAC1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06" y="1804041"/>
            <a:ext cx="6476788" cy="324991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C5E703F-5AC6-A819-B2BD-60683F26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1F6D6D1-1A4D-A205-00A3-4D5178AAB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11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AC83-1082-E9ED-AAA8-4D6BA5EB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42D30-2997-7052-7CC1-3B075E76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Specification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B55AB1-50DF-8E42-A2C2-16073A555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Comb.sv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BA576EC-6DB2-07D0-F17E-9DAA2D238C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969663"/>
              </p:ext>
            </p:extLst>
          </p:nvPr>
        </p:nvGraphicFramePr>
        <p:xfrm>
          <a:off x="2136000" y="2193041"/>
          <a:ext cx="7920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420300300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70550166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48068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Input Signal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Bit Width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Definition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in_num0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Random 7-bit unsigned numbers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41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in_num1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138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in_num2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56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in_num3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40055"/>
                  </a:ext>
                </a:extLst>
              </a:tr>
            </a:tbl>
          </a:graphicData>
        </a:graphic>
      </p:graphicFrame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EA0C4888-3169-9A6F-31C9-9608F03DAE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236538"/>
              </p:ext>
            </p:extLst>
          </p:nvPr>
        </p:nvGraphicFramePr>
        <p:xfrm>
          <a:off x="2136000" y="4543691"/>
          <a:ext cx="7920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420300300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70550166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48068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Output Signal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Bit Width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Definition</a:t>
                      </a:r>
                      <a:endParaRPr lang="zh-TW" altLang="en-US" b="1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53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out_num0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The gray code of max(A, B) + min(C, D)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41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out_num1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min(A, B) + max(C, D)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138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630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492E6-AE45-1F8D-231F-B2E0B370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Directory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48EFE-1C18-D0F5-28E7-12B7D9C87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350"/>
            <a:ext cx="10972800" cy="577965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tar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en-US" altLang="zh-TW" dirty="0" err="1"/>
              <a:t>xvf</a:t>
            </a:r>
            <a:r>
              <a:rPr lang="en-US" altLang="zh-TW" dirty="0"/>
              <a:t> ~es26dcsTA01/Lab01.tar</a:t>
            </a:r>
          </a:p>
          <a:p>
            <a:r>
              <a:rPr lang="en-US" altLang="zh-TW" dirty="0"/>
              <a:t>00_TESTBED</a:t>
            </a:r>
          </a:p>
          <a:p>
            <a:pPr lvl="1"/>
            <a:r>
              <a:rPr lang="en-US" altLang="zh-TW" dirty="0"/>
              <a:t>TESTBED.sv</a:t>
            </a:r>
          </a:p>
          <a:p>
            <a:pPr lvl="1"/>
            <a:r>
              <a:rPr lang="en-US" altLang="zh-TW" dirty="0"/>
              <a:t>PATTERN.sv</a:t>
            </a:r>
          </a:p>
          <a:p>
            <a:r>
              <a:rPr lang="en-US" altLang="zh-TW" dirty="0"/>
              <a:t>01_RTL</a:t>
            </a:r>
          </a:p>
          <a:p>
            <a:pPr lvl="1"/>
            <a:r>
              <a:rPr lang="en-US" altLang="zh-TW" dirty="0"/>
              <a:t>01_run_vcs_rtl</a:t>
            </a:r>
          </a:p>
          <a:p>
            <a:pPr lvl="1"/>
            <a:r>
              <a:rPr lang="en-US" altLang="zh-TW" dirty="0"/>
              <a:t>09_clean_up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Comb.sv</a:t>
            </a:r>
          </a:p>
          <a:p>
            <a:r>
              <a:rPr lang="en-US" altLang="zh-TW" dirty="0"/>
              <a:t>02_SYN</a:t>
            </a:r>
          </a:p>
          <a:p>
            <a:pPr lvl="1"/>
            <a:r>
              <a:rPr lang="en-US" altLang="zh-TW" dirty="0"/>
              <a:t>01_run_dc</a:t>
            </a:r>
          </a:p>
          <a:p>
            <a:pPr lvl="1"/>
            <a:r>
              <a:rPr lang="en-US" altLang="zh-TW" dirty="0"/>
              <a:t>09_clean_up</a:t>
            </a:r>
          </a:p>
          <a:p>
            <a:r>
              <a:rPr lang="en-US" altLang="zh-TW" dirty="0"/>
              <a:t>03_GATE</a:t>
            </a:r>
          </a:p>
          <a:p>
            <a:pPr lvl="1"/>
            <a:r>
              <a:rPr lang="en-US" altLang="zh-TW" dirty="0"/>
              <a:t>01_run_vcs_gate</a:t>
            </a:r>
          </a:p>
          <a:p>
            <a:pPr lvl="1"/>
            <a:r>
              <a:rPr lang="en-US" altLang="zh-TW" dirty="0"/>
              <a:t>09_clean_up</a:t>
            </a:r>
          </a:p>
        </p:txBody>
      </p:sp>
    </p:spTree>
    <p:extLst>
      <p:ext uri="{BB962C8B-B14F-4D97-AF65-F5344CB8AC3E}">
        <p14:creationId xmlns:p14="http://schemas.microsoft.com/office/powerpoint/2010/main" val="326016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4905A-0E89-DE5B-E1AD-DAB3F351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Command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448A5D-4A9F-7041-2BF3-EA120EAB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cd Lab01/01_RTL/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vim Comb.sv (text editor)</a:t>
            </a:r>
          </a:p>
          <a:p>
            <a:pPr lvl="1"/>
            <a:r>
              <a:rPr lang="en-US" altLang="zh-TW" dirty="0" err="1"/>
              <a:t>i</a:t>
            </a:r>
            <a:r>
              <a:rPr lang="en-US" altLang="zh-TW" dirty="0"/>
              <a:t> (</a:t>
            </a:r>
            <a:r>
              <a:rPr lang="zh-TW" altLang="en-US" dirty="0"/>
              <a:t>輸入模式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[Esc] (</a:t>
            </a:r>
            <a:r>
              <a:rPr lang="zh-TW" altLang="en-US" dirty="0"/>
              <a:t>退回普通模式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:w (</a:t>
            </a:r>
            <a:r>
              <a:rPr lang="zh-TW" altLang="en-US" dirty="0"/>
              <a:t>儲存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:q (</a:t>
            </a:r>
            <a:r>
              <a:rPr lang="zh-TW" altLang="en-US" dirty="0"/>
              <a:t>結束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gedit</a:t>
            </a:r>
            <a:r>
              <a:rPr lang="en-US" altLang="zh-TW" dirty="0"/>
              <a:t> Comb.sv (text editor)</a:t>
            </a:r>
          </a:p>
          <a:p>
            <a:pPr lvl="1"/>
            <a:r>
              <a:rPr lang="en-US" altLang="zh-TW" dirty="0"/>
              <a:t>view → Highlight Mode → Sources → Verilog</a:t>
            </a:r>
          </a:p>
          <a:p>
            <a:pPr lvl="1"/>
            <a:r>
              <a:rPr lang="en-US" altLang="zh-TW" dirty="0"/>
              <a:t>If you use Windows/MacOS, you can use </a:t>
            </a:r>
            <a:r>
              <a:rPr lang="en-US" altLang="zh-TW" b="1" dirty="0" err="1"/>
              <a:t>VSCode</a:t>
            </a:r>
            <a:r>
              <a:rPr lang="en-US" altLang="zh-TW" dirty="0"/>
              <a:t>/Notepad++, or any editors you are used to using.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268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D2B15-8C7C-C4B2-01C0-8DEF7700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RTL Simulation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304776-33CF-9C9E-A3E9-750641872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cd Lab01/01_RTL/</a:t>
            </a:r>
          </a:p>
          <a:p>
            <a:r>
              <a:rPr lang="en-US" altLang="zh-TW" dirty="0"/>
              <a:t>./01_run_vcs_rtl (</a:t>
            </a:r>
            <a:r>
              <a:rPr lang="zh-TW" altLang="en-US" dirty="0"/>
              <a:t>電路模擬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./09_clean_up (</a:t>
            </a:r>
            <a:r>
              <a:rPr lang="zh-TW" altLang="en-US" dirty="0"/>
              <a:t>清除波型檔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./05_nWave (</a:t>
            </a:r>
            <a:r>
              <a:rPr lang="zh-TW" altLang="en-US" dirty="0"/>
              <a:t>看波型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範例波型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80B0933-7155-4FCB-A08D-2A59CC53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3800348"/>
            <a:ext cx="10631384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5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4343-9B0F-1376-F70C-CCBCF2F5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Synthesis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8D6FC-1A2E-35EC-D9A0-088561E51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cd ../02_SYN/</a:t>
            </a:r>
          </a:p>
          <a:p>
            <a:r>
              <a:rPr lang="en-US" altLang="zh-TW" dirty="0"/>
              <a:t>./01_run_dc (</a:t>
            </a:r>
            <a:r>
              <a:rPr lang="zh-TW" altLang="en-US" dirty="0"/>
              <a:t>電路合成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./09_clean_up (</a:t>
            </a:r>
            <a:r>
              <a:rPr lang="zh-TW" altLang="en-US" dirty="0"/>
              <a:t>清除合成結果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合成結果</a:t>
            </a:r>
            <a:r>
              <a:rPr lang="en-US" altLang="zh-TW" dirty="0"/>
              <a:t>: (</a:t>
            </a:r>
            <a:r>
              <a:rPr lang="zh-TW" altLang="en-US" dirty="0"/>
              <a:t>不能有</a:t>
            </a:r>
            <a:r>
              <a:rPr lang="en-US" altLang="zh-TW" dirty="0"/>
              <a:t>Error</a:t>
            </a:r>
            <a:r>
              <a:rPr lang="zh-TW" altLang="en-US" dirty="0"/>
              <a:t>、要有</a:t>
            </a:r>
            <a:r>
              <a:rPr lang="en-US" altLang="zh-TW" dirty="0"/>
              <a:t>Area report</a:t>
            </a:r>
            <a:r>
              <a:rPr lang="zh-TW" altLang="en-US" dirty="0"/>
              <a:t>、</a:t>
            </a:r>
            <a:r>
              <a:rPr lang="en-US" altLang="zh-TW" dirty="0"/>
              <a:t>Timing report slack met</a:t>
            </a:r>
            <a:r>
              <a:rPr lang="zh-TW" altLang="en-US" dirty="0"/>
              <a:t>、不能有</a:t>
            </a:r>
            <a:r>
              <a:rPr lang="en-US" altLang="zh-TW" dirty="0"/>
              <a:t>Latch) 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DCCDE13-3480-4126-AB83-7E13115B7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021" y="3429000"/>
            <a:ext cx="5859958" cy="292433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C325BB2-516B-44FD-BD6F-5F29F18AACF7}"/>
              </a:ext>
            </a:extLst>
          </p:cNvPr>
          <p:cNvSpPr/>
          <p:nvPr/>
        </p:nvSpPr>
        <p:spPr>
          <a:xfrm>
            <a:off x="3185071" y="5981886"/>
            <a:ext cx="4216400" cy="2157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694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C8433-E3F7-0B70-295D-B7FE033A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Synthesis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2632FE-7879-018A-8BD7-80A63783E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合成的</a:t>
            </a:r>
            <a:r>
              <a:rPr lang="en-US" altLang="zh-TW" dirty="0"/>
              <a:t>timing report</a:t>
            </a:r>
            <a:r>
              <a:rPr lang="zh-TW" altLang="en-US" dirty="0"/>
              <a:t>中的</a:t>
            </a:r>
            <a:r>
              <a:rPr lang="en-US" altLang="zh-TW" dirty="0">
                <a:solidFill>
                  <a:srgbClr val="FF0000"/>
                </a:solidFill>
              </a:rPr>
              <a:t>slack</a:t>
            </a:r>
            <a:r>
              <a:rPr lang="zh-TW" altLang="en-US" b="1" dirty="0">
                <a:solidFill>
                  <a:srgbClr val="FF0000"/>
                </a:solidFill>
              </a:rPr>
              <a:t>必須</a:t>
            </a:r>
            <a:r>
              <a:rPr lang="zh-TW" altLang="en-US" dirty="0">
                <a:solidFill>
                  <a:srgbClr val="FF0000"/>
                </a:solidFill>
              </a:rPr>
              <a:t>≧</a:t>
            </a:r>
            <a:r>
              <a:rPr lang="en-US" altLang="zh-TW" dirty="0">
                <a:solidFill>
                  <a:srgbClr val="FF0000"/>
                </a:solidFill>
              </a:rPr>
              <a:t>0 (MET)</a:t>
            </a:r>
          </a:p>
          <a:p>
            <a:r>
              <a:rPr lang="zh-TW" altLang="en-US" dirty="0"/>
              <a:t>如果出現</a:t>
            </a:r>
            <a:r>
              <a:rPr lang="en-US" altLang="zh-TW" dirty="0"/>
              <a:t>timing violation → Demo Fail ! (slack &lt; 0)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03F1832-F45F-4DE7-AD5F-C5A8C1AEB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663" y="2195648"/>
            <a:ext cx="4090673" cy="43877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607349B-505E-42BF-882C-C33E86E7B4B2}"/>
              </a:ext>
            </a:extLst>
          </p:cNvPr>
          <p:cNvSpPr/>
          <p:nvPr/>
        </p:nvSpPr>
        <p:spPr>
          <a:xfrm>
            <a:off x="4050663" y="6357939"/>
            <a:ext cx="3950337" cy="225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11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07C8B-9D4F-CD5E-FFCC-6928ACEC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Synthesis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694E86-E1E7-2952-036D-D1355383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78350"/>
            <a:ext cx="10972799" cy="5279589"/>
          </a:xfrm>
        </p:spPr>
        <p:txBody>
          <a:bodyPr/>
          <a:lstStyle/>
          <a:p>
            <a:r>
              <a:rPr lang="zh-TW" altLang="en-US" dirty="0"/>
              <a:t>記得檢查是否合成出</a:t>
            </a:r>
            <a:r>
              <a:rPr lang="en-US" altLang="zh-TW" dirty="0"/>
              <a:t>Latch</a:t>
            </a:r>
            <a:r>
              <a:rPr lang="zh-TW" altLang="en-US" dirty="0"/>
              <a:t>和</a:t>
            </a:r>
            <a:r>
              <a:rPr lang="en-US" altLang="zh-TW" dirty="0"/>
              <a:t>error</a:t>
            </a:r>
          </a:p>
          <a:p>
            <a:pPr lvl="1"/>
            <a:r>
              <a:rPr lang="zh-TW" altLang="en-US" dirty="0"/>
              <a:t>可以在 </a:t>
            </a:r>
            <a:r>
              <a:rPr lang="en-US" altLang="zh-TW" dirty="0"/>
              <a:t>syn.log </a:t>
            </a:r>
            <a:r>
              <a:rPr lang="zh-TW" altLang="en-US" dirty="0"/>
              <a:t>用 </a:t>
            </a:r>
            <a:r>
              <a:rPr lang="en-US" altLang="zh-TW" dirty="0" err="1"/>
              <a:t>ctrl+F</a:t>
            </a:r>
            <a:r>
              <a:rPr lang="en-US" altLang="zh-TW" dirty="0"/>
              <a:t> </a:t>
            </a:r>
            <a:r>
              <a:rPr lang="zh-TW" altLang="en-US" dirty="0"/>
              <a:t>尋找關鍵字</a:t>
            </a:r>
            <a:r>
              <a:rPr lang="en-US" altLang="zh-TW" dirty="0"/>
              <a:t>Latch</a:t>
            </a:r>
            <a:r>
              <a:rPr lang="zh-TW" altLang="en-US" dirty="0"/>
              <a:t>、</a:t>
            </a:r>
            <a:r>
              <a:rPr lang="en-US" altLang="zh-TW" dirty="0"/>
              <a:t>error 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如果出現 </a:t>
            </a:r>
            <a:r>
              <a:rPr lang="en-US" altLang="zh-TW" dirty="0">
                <a:solidFill>
                  <a:srgbClr val="FF0000"/>
                </a:solidFill>
              </a:rPr>
              <a:t>Latch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r>
              <a:rPr lang="en-US" altLang="zh-TW" dirty="0">
                <a:solidFill>
                  <a:srgbClr val="FF0000"/>
                </a:solidFill>
              </a:rPr>
              <a:t>error → Demo Fail</a:t>
            </a:r>
          </a:p>
          <a:p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可在 </a:t>
            </a:r>
            <a:r>
              <a:rPr lang="en-US" altLang="zh-TW" dirty="0"/>
              <a:t>/02_SYN/ </a:t>
            </a:r>
            <a:r>
              <a:rPr lang="zh-TW" altLang="en-US" dirty="0"/>
              <a:t>中使用 </a:t>
            </a:r>
            <a:r>
              <a:rPr lang="en-US" altLang="zh-TW" dirty="0">
                <a:solidFill>
                  <a:srgbClr val="FF0000"/>
                </a:solidFill>
              </a:rPr>
              <a:t>./08_check</a:t>
            </a:r>
          </a:p>
          <a:p>
            <a:pPr lvl="1"/>
            <a:r>
              <a:rPr lang="zh-TW" altLang="en-US" dirty="0"/>
              <a:t>檢查 </a:t>
            </a:r>
            <a:r>
              <a:rPr lang="en-US" altLang="zh-TW" dirty="0"/>
              <a:t>“latch”, “error”, “timing”, “area”</a:t>
            </a:r>
            <a:endParaRPr lang="zh-TW" altLang="en-US" dirty="0"/>
          </a:p>
          <a:p>
            <a:endParaRPr lang="en-US" altLang="zh-TW" dirty="0">
              <a:solidFill>
                <a:srgbClr val="FF0000"/>
              </a:solidFill>
            </a:endParaRP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231025C-9B8A-BD6D-90DF-D6AB0B4A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55" y="2638256"/>
            <a:ext cx="5768840" cy="73158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2024D3C-0177-2316-9437-039838114AD7}"/>
              </a:ext>
            </a:extLst>
          </p:cNvPr>
          <p:cNvSpPr/>
          <p:nvPr/>
        </p:nvSpPr>
        <p:spPr>
          <a:xfrm>
            <a:off x="2728937" y="3004046"/>
            <a:ext cx="787058" cy="3657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十字形 6">
            <a:extLst>
              <a:ext uri="{FF2B5EF4-FFF2-40B4-BE49-F238E27FC236}">
                <a16:creationId xmlns:a16="http://schemas.microsoft.com/office/drawing/2014/main" id="{FD9A9633-F7F1-599F-1226-F4D8BAD95532}"/>
              </a:ext>
            </a:extLst>
          </p:cNvPr>
          <p:cNvSpPr/>
          <p:nvPr/>
        </p:nvSpPr>
        <p:spPr>
          <a:xfrm rot="18921661">
            <a:off x="3504806" y="3347108"/>
            <a:ext cx="570300" cy="542615"/>
          </a:xfrm>
          <a:prstGeom prst="plus">
            <a:avLst>
              <a:gd name="adj" fmla="val 4048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0EB5EA7-1079-4CB8-848D-FBC780A108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92"/>
          <a:stretch/>
        </p:blipFill>
        <p:spPr>
          <a:xfrm>
            <a:off x="6307205" y="3905250"/>
            <a:ext cx="5540886" cy="25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2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3F819-97C6-8C69-3A34-8C37160A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Gate-Level Simulation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2A6F63-3348-9BF8-F1ED-B36C1AD8F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cd ../03_GATE/</a:t>
            </a:r>
          </a:p>
          <a:p>
            <a:r>
              <a:rPr lang="en-US" altLang="zh-TW" dirty="0"/>
              <a:t>./01_run_vcs_gate (</a:t>
            </a:r>
            <a:r>
              <a:rPr lang="zh-TW" altLang="en-US" dirty="0"/>
              <a:t>電路模擬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./09_clean_up (</a:t>
            </a:r>
            <a:r>
              <a:rPr lang="zh-TW" altLang="en-US" dirty="0"/>
              <a:t>清除波型檔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./05_nWave (</a:t>
            </a:r>
            <a:r>
              <a:rPr lang="zh-TW" altLang="en-US" dirty="0"/>
              <a:t>看波型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範例波形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8A23B4-77E4-4B85-9E9D-59B33BEA1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9" y="3794345"/>
            <a:ext cx="11436082" cy="143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76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B8DC6-244A-1668-4EAC-8C762B08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Grading Policy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A7C85D-CA20-999B-3440-49F0CB19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Pass the RTL &amp; Synthesis &amp; Gate-level simulation: 100%</a:t>
            </a:r>
          </a:p>
          <a:p>
            <a:pPr lvl="1"/>
            <a:r>
              <a:rPr lang="zh-TW" altLang="en-US" dirty="0"/>
              <a:t>合成結果</a:t>
            </a:r>
            <a:r>
              <a:rPr lang="en-US" altLang="zh-TW" dirty="0"/>
              <a:t>: (</a:t>
            </a:r>
            <a:r>
              <a:rPr lang="zh-TW" altLang="en-US" b="1" dirty="0"/>
              <a:t>不能有</a:t>
            </a:r>
            <a:r>
              <a:rPr lang="en-US" altLang="zh-TW" b="1" dirty="0"/>
              <a:t>Error</a:t>
            </a:r>
            <a:r>
              <a:rPr lang="zh-TW" altLang="en-US" dirty="0"/>
              <a:t>、</a:t>
            </a:r>
            <a:r>
              <a:rPr lang="en-US" altLang="zh-TW" b="1" dirty="0"/>
              <a:t>Timing report slack met</a:t>
            </a:r>
            <a:r>
              <a:rPr lang="zh-TW" altLang="en-US" dirty="0"/>
              <a:t>、</a:t>
            </a:r>
            <a:r>
              <a:rPr lang="zh-TW" altLang="en-US" b="1" dirty="0"/>
              <a:t>不能有</a:t>
            </a:r>
            <a:r>
              <a:rPr lang="en-US" altLang="zh-TW" b="1" dirty="0"/>
              <a:t>Latch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Demo2 </a:t>
            </a:r>
            <a:r>
              <a:rPr lang="zh-TW" altLang="en-US" dirty="0"/>
              <a:t>打 </a:t>
            </a:r>
            <a:r>
              <a:rPr lang="en-US" altLang="zh-TW" dirty="0"/>
              <a:t>6</a:t>
            </a:r>
            <a:r>
              <a:rPr lang="zh-TW" altLang="en-US" dirty="0"/>
              <a:t> 折</a:t>
            </a:r>
          </a:p>
        </p:txBody>
      </p:sp>
    </p:spTree>
    <p:extLst>
      <p:ext uri="{BB962C8B-B14F-4D97-AF65-F5344CB8AC3E}">
        <p14:creationId xmlns:p14="http://schemas.microsoft.com/office/powerpoint/2010/main" val="158214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72E77-28AE-6E16-8885-FDE855E8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Upload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C49901-39FA-498D-29CE-FA9EC71A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cd ../09_UPLOAD/</a:t>
            </a:r>
          </a:p>
          <a:p>
            <a:r>
              <a:rPr lang="en-US" altLang="zh-TW" dirty="0"/>
              <a:t>./01_upload (</a:t>
            </a:r>
            <a:r>
              <a:rPr lang="zh-TW" altLang="en-US" dirty="0"/>
              <a:t>上傳 </a:t>
            </a:r>
            <a:r>
              <a:rPr lang="en-US" altLang="zh-TW" dirty="0"/>
              <a:t>code)</a:t>
            </a:r>
          </a:p>
          <a:p>
            <a:r>
              <a:rPr lang="en-US" altLang="zh-TW" dirty="0"/>
              <a:t>./02_download [argument] (</a:t>
            </a:r>
            <a:r>
              <a:rPr lang="zh-TW" altLang="en-US" dirty="0"/>
              <a:t>下載上傳結果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[argument] = demo1 or demo2</a:t>
            </a:r>
          </a:p>
          <a:p>
            <a:pPr lvl="1"/>
            <a:r>
              <a:rPr lang="zh-TW" altLang="en-US" dirty="0"/>
              <a:t>檢查是否上傳成功 </a:t>
            </a:r>
            <a:r>
              <a:rPr lang="en-US" altLang="zh-TW" dirty="0"/>
              <a:t>&amp; </a:t>
            </a:r>
            <a:r>
              <a:rPr lang="zh-TW" altLang="en-US" b="1" dirty="0"/>
              <a:t>正確</a:t>
            </a:r>
            <a:endParaRPr lang="en-US" altLang="zh-TW" b="1" dirty="0"/>
          </a:p>
          <a:p>
            <a:r>
              <a:rPr lang="en-US" altLang="zh-TW" dirty="0">
                <a:solidFill>
                  <a:srgbClr val="FF0000"/>
                </a:solidFill>
              </a:rPr>
              <a:t>Demo1: 2026/03/11 17:30:00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Demo2: 2026/03/11 23:59:59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9682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761</Words>
  <Application>Microsoft Office PowerPoint</Application>
  <PresentationFormat>寬螢幕</PresentationFormat>
  <Paragraphs>173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Arial Unicode MS</vt:lpstr>
      <vt:lpstr>Arial</vt:lpstr>
      <vt:lpstr>Calibri</vt:lpstr>
      <vt:lpstr>Times New Roman</vt:lpstr>
      <vt:lpstr>佈景主題1</vt:lpstr>
      <vt:lpstr>Lab01 Combinational Circuit</vt:lpstr>
      <vt:lpstr>Combinational Circuit</vt:lpstr>
      <vt:lpstr>Combinational Circuit</vt:lpstr>
      <vt:lpstr>Block Diagram</vt:lpstr>
      <vt:lpstr>Block Diagram (Example)</vt:lpstr>
      <vt:lpstr>Block Diagram (Example)</vt:lpstr>
      <vt:lpstr>Block Diagram</vt:lpstr>
      <vt:lpstr>Specification</vt:lpstr>
      <vt:lpstr>Directory</vt:lpstr>
      <vt:lpstr>Command</vt:lpstr>
      <vt:lpstr>RTL Simulation</vt:lpstr>
      <vt:lpstr>Synthesis</vt:lpstr>
      <vt:lpstr>Synthesis</vt:lpstr>
      <vt:lpstr>Synthesis</vt:lpstr>
      <vt:lpstr>Gate-Level Simulation</vt:lpstr>
      <vt:lpstr>Grading Policy</vt:lpstr>
      <vt:lpstr>Upload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Lab01 Combinational Circuit</dc:title>
  <dc:creator>奕翔 賴</dc:creator>
  <cp:lastModifiedBy>張皓庭</cp:lastModifiedBy>
  <cp:revision>49</cp:revision>
  <dcterms:created xsi:type="dcterms:W3CDTF">2025-01-19T07:33:42Z</dcterms:created>
  <dcterms:modified xsi:type="dcterms:W3CDTF">2026-03-06T03:43:18Z</dcterms:modified>
</cp:coreProperties>
</file>