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4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16" r:id="rId1"/>
  </p:sldMasterIdLst>
  <p:notesMasterIdLst>
    <p:notesMasterId r:id="rId27"/>
  </p:notesMasterIdLst>
  <p:handoutMasterIdLst>
    <p:handoutMasterId r:id="rId28"/>
  </p:handoutMasterIdLst>
  <p:sldIdLst>
    <p:sldId id="256" r:id="rId2"/>
    <p:sldId id="282" r:id="rId3"/>
    <p:sldId id="283" r:id="rId4"/>
    <p:sldId id="269" r:id="rId5"/>
    <p:sldId id="261" r:id="rId6"/>
    <p:sldId id="285" r:id="rId7"/>
    <p:sldId id="290" r:id="rId8"/>
    <p:sldId id="262" r:id="rId9"/>
    <p:sldId id="291" r:id="rId10"/>
    <p:sldId id="271" r:id="rId11"/>
    <p:sldId id="272" r:id="rId12"/>
    <p:sldId id="289" r:id="rId13"/>
    <p:sldId id="288" r:id="rId14"/>
    <p:sldId id="286" r:id="rId15"/>
    <p:sldId id="287" r:id="rId16"/>
    <p:sldId id="263" r:id="rId17"/>
    <p:sldId id="277" r:id="rId18"/>
    <p:sldId id="278" r:id="rId19"/>
    <p:sldId id="274" r:id="rId20"/>
    <p:sldId id="298" r:id="rId21"/>
    <p:sldId id="292" r:id="rId22"/>
    <p:sldId id="295" r:id="rId23"/>
    <p:sldId id="296" r:id="rId24"/>
    <p:sldId id="293" r:id="rId25"/>
    <p:sldId id="297" r:id="rId26"/>
  </p:sldIdLst>
  <p:sldSz cx="12192000" cy="6858000"/>
  <p:notesSz cx="6858000" cy="9144000"/>
  <p:embeddedFontLst>
    <p:embeddedFont>
      <p:font typeface="Arial Unicode MS" panose="02020500000000000000" charset="-120"/>
      <p:regular r:id="rId29"/>
    </p:embeddedFont>
    <p:embeddedFont>
      <p:font typeface="Cambria Math" panose="02040503050406030204" pitchFamily="18" charset="0"/>
      <p:regular r:id="rId30"/>
    </p:embeddedFont>
    <p:embeddedFont>
      <p:font typeface="Consolas" panose="020B0609020204030204" pitchFamily="49" charset="0"/>
      <p:regular r:id="rId31"/>
      <p:bold r:id="rId32"/>
      <p:italic r:id="rId33"/>
      <p:boldItalic r:id="rId34"/>
    </p:embeddedFont>
    <p:embeddedFont>
      <p:font typeface="Fira Code" pitchFamily="1" charset="0"/>
      <p:regular r:id="rId35"/>
      <p:bold r:id="rId36"/>
    </p:embeddedFont>
    <p:embeddedFont>
      <p:font typeface="微軟正黑體" panose="020B0604030504040204" pitchFamily="34" charset="-120"/>
      <p:regular r:id="rId37"/>
      <p:bold r:id="rId38"/>
    </p:embeddedFont>
  </p:embeddedFontLst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  <a:srgbClr val="376092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79" autoAdjust="0"/>
    <p:restoredTop sz="95000" autoAdjust="0"/>
  </p:normalViewPr>
  <p:slideViewPr>
    <p:cSldViewPr>
      <p:cViewPr varScale="1">
        <p:scale>
          <a:sx n="110" d="100"/>
          <a:sy n="110" d="100"/>
        </p:scale>
        <p:origin x="918" y="7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198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92EBC8-B13E-4527-B005-505465D02C0C}" type="datetimeFigureOut">
              <a:rPr lang="zh-TW" altLang="en-US" smtClean="0"/>
              <a:t>2026/4/22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FC6F18-A175-41EF-B0E0-E518334B71A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14506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D5CB37-7836-4836-AF2A-A8CD648A3996}" type="datetimeFigureOut">
              <a:rPr lang="zh-TW" altLang="en-US" smtClean="0"/>
              <a:t>2026/4/22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91393B-4809-4716-9DD1-58F8F14908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6002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C95D8-03EB-5A8A-E89E-E00B2FA7F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6433B91-4D20-D879-65AA-83BB1C6E2C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4E37C32-DA9C-89CB-174B-056CE0D795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1D934BA-F5C7-23D4-6BA6-6A6B217800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91393B-4809-4716-9DD1-58F8F1490811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84702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91393B-4809-4716-9DD1-58F8F1490811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17044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CDC7E-9CFF-9864-45F7-038F7D8D9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F225671-E734-FB06-4656-A45CC1BD8B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4E7EA1E-DE4E-3110-818E-327A913D93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B7A3818-C0C1-EDE8-EBAA-DACBA69B06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91393B-4809-4716-9DD1-58F8F1490811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28283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91393B-4809-4716-9DD1-58F8F1490811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1423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接點 3"/>
          <p:cNvCxnSpPr/>
          <p:nvPr/>
        </p:nvCxnSpPr>
        <p:spPr>
          <a:xfrm>
            <a:off x="952501" y="3714750"/>
            <a:ext cx="11239500" cy="1588"/>
          </a:xfrm>
          <a:prstGeom prst="line">
            <a:avLst/>
          </a:prstGeom>
          <a:ln w="12700" cmpd="sng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>
            <a:normAutofit/>
          </a:bodyPr>
          <a:lstStyle>
            <a:lvl1pPr algn="ctr">
              <a:defRPr sz="3600">
                <a:latin typeface="+mj-lt"/>
                <a:cs typeface="Times New Roman" pitchFamily="18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9410736" cy="1752600"/>
          </a:xfrm>
        </p:spPr>
        <p:txBody>
          <a:bodyPr>
            <a:normAutofit/>
          </a:bodyPr>
          <a:lstStyle>
            <a:lvl1pPr marL="0" indent="0" algn="r">
              <a:buNone/>
              <a:defRPr sz="2400">
                <a:solidFill>
                  <a:schemeClr val="tx1">
                    <a:tint val="75000"/>
                  </a:schemeClr>
                </a:solidFill>
                <a:latin typeface="+mn-lt"/>
                <a:cs typeface="Times New Roman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zh-TW" altLang="en-US" dirty="0"/>
          </a:p>
        </p:txBody>
      </p:sp>
      <p:sp>
        <p:nvSpPr>
          <p:cNvPr id="6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latin typeface="Times New Roman" pitchFamily="18" charset="0"/>
                <a:cs typeface="Times New Roman" pitchFamily="18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7AAB52-CE3F-4574-BC6A-67ED8F0980AD}" type="datetime1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 pitchFamily="18" charset="0"/>
                <a:ea typeface="Arial Unicode MS" pitchFamily="34" charset="-120"/>
                <a:cs typeface="Times New Roman" pitchFamily="18" charset="0"/>
              </a:rPr>
              <a:t>2026/4/22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 pitchFamily="18" charset="0"/>
              <a:ea typeface="Arial Unicode MS" pitchFamily="34" charset="-120"/>
              <a:cs typeface="Times New Roman" pitchFamily="18" charset="0"/>
            </a:endParaRPr>
          </a:p>
        </p:txBody>
      </p:sp>
      <p:sp>
        <p:nvSpPr>
          <p:cNvPr id="7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 pitchFamily="18" charset="0"/>
              <a:ea typeface="Arial Unicode MS" pitchFamily="34" charset="-120"/>
              <a:cs typeface="Times New Roman" pitchFamily="18" charset="0"/>
            </a:endParaRPr>
          </a:p>
        </p:txBody>
      </p:sp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latin typeface="Times New Roman" pitchFamily="18" charset="0"/>
                <a:cs typeface="Times New Roman" pitchFamily="18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ED870F-9485-4D56-AFF4-B9828BB10F8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 pitchFamily="18" charset="0"/>
                <a:ea typeface="Arial Unicode MS" pitchFamily="34" charset="-120"/>
                <a:cs typeface="Times New Roman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 pitchFamily="18" charset="0"/>
              <a:ea typeface="Arial Unicode MS" pitchFamily="34" charset="-120"/>
              <a:cs typeface="Times New Roman" pitchFamily="18" charset="0"/>
            </a:endParaRPr>
          </a:p>
        </p:txBody>
      </p:sp>
      <p:pic>
        <p:nvPicPr>
          <p:cNvPr id="9" name="圖片 8" descr="一張含有 圓形, 標誌, 符號, 字型 的圖片&#10;&#10;AI 產生的內容可能不正確。">
            <a:extLst>
              <a:ext uri="{FF2B5EF4-FFF2-40B4-BE49-F238E27FC236}">
                <a16:creationId xmlns:a16="http://schemas.microsoft.com/office/drawing/2014/main" id="{A2937252-F647-83B2-1C9D-767770B89E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5203" y="283212"/>
            <a:ext cx="737616" cy="737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429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03712"/>
          </a:xfrm>
        </p:spPr>
        <p:txBody>
          <a:bodyPr/>
          <a:lstStyle>
            <a:lvl1pPr>
              <a:defRPr sz="3200">
                <a:latin typeface="+mj-lt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600" y="1078350"/>
            <a:ext cx="10972800" cy="5279589"/>
          </a:xfrm>
        </p:spPr>
        <p:txBody>
          <a:bodyPr>
            <a:normAutofit/>
          </a:bodyPr>
          <a:lstStyle>
            <a:lvl1pPr>
              <a:defRPr sz="2400"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18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EE2A62-B840-4C6E-A74D-4A38417FE766}" type="datetime1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Arial Unicode MS" pitchFamily="34" charset="-120"/>
              </a:rPr>
              <a:t>2026/4/22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ED870F-9485-4D56-AFF4-B9828BB10F8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0C49E2A3-7E15-EF96-83E4-BD2E3B19AE3F}"/>
              </a:ext>
            </a:extLst>
          </p:cNvPr>
          <p:cNvCxnSpPr>
            <a:cxnSpLocks/>
          </p:cNvCxnSpPr>
          <p:nvPr/>
        </p:nvCxnSpPr>
        <p:spPr>
          <a:xfrm>
            <a:off x="618226" y="1078351"/>
            <a:ext cx="10972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7073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E315DD-A3F7-46C0-ACE3-10499191CB24}" type="datetime1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Arial Unicode MS" pitchFamily="34" charset="-120"/>
              </a:rPr>
              <a:t>2026/4/22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ED870F-9485-4D56-AFF4-B9828BB10F8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44064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/>
        </p:nvCxnSpPr>
        <p:spPr>
          <a:xfrm>
            <a:off x="571501" y="1285875"/>
            <a:ext cx="11620500" cy="1588"/>
          </a:xfrm>
          <a:prstGeom prst="line">
            <a:avLst/>
          </a:prstGeom>
          <a:ln w="12700" cmpd="sng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357298"/>
            <a:ext cx="5384800" cy="492922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357298"/>
            <a:ext cx="5384800" cy="492922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2D835A-530E-4B73-8D26-54E0A15EB0C8}" type="datetime1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Arial Unicode MS" pitchFamily="34" charset="-120"/>
              </a:rPr>
              <a:t>2026/4/22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7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8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ED870F-9485-4D56-AFF4-B9828BB10F8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50778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接點 6"/>
          <p:cNvCxnSpPr/>
          <p:nvPr/>
        </p:nvCxnSpPr>
        <p:spPr>
          <a:xfrm>
            <a:off x="571501" y="1285875"/>
            <a:ext cx="11620500" cy="1588"/>
          </a:xfrm>
          <a:prstGeom prst="line">
            <a:avLst/>
          </a:prstGeom>
          <a:ln w="12700" cmpd="sng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357299"/>
            <a:ext cx="5386917" cy="57150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1928802"/>
            <a:ext cx="5386917" cy="44291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357299"/>
            <a:ext cx="5389033" cy="57150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1928802"/>
            <a:ext cx="5389033" cy="44291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8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F8067B-BF69-4F13-8F9C-E7CD9D40AC5C}" type="datetime1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Arial Unicode MS" pitchFamily="34" charset="-120"/>
              </a:rPr>
              <a:t>2026/4/22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9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0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ED870F-9485-4D56-AFF4-B9828BB10F8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12414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03CE731-F5F5-4965-B70C-71BB34BC8EAE}" type="datetime1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Arial Unicode MS" pitchFamily="34" charset="-120"/>
              </a:rPr>
              <a:t>2026/4/22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5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6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ED870F-9485-4D56-AFF4-B9828BB10F8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81772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7F39CE-D1F7-484D-8A7E-BF2CD0692E7B}" type="datetime1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Arial Unicode MS" pitchFamily="34" charset="-120"/>
              </a:rPr>
              <a:t>2026/4/22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ED870F-9485-4D56-AFF4-B9828BB10F8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93039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6084C6-9F8D-434A-901B-52DC759514AF}" type="datetime1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Arial Unicode MS" pitchFamily="34" charset="-120"/>
              </a:rPr>
              <a:t>2026/4/22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ED870F-9485-4D56-AFF4-B9828BB10F8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3173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AEB5CE-E78C-4DE8-ABFA-E099654345B7}" type="datetime1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Arial Unicode MS" pitchFamily="34" charset="-120"/>
              </a:rPr>
              <a:t>2026/4/22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ED870F-9485-4D56-AFF4-B9828BB10F8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53037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接點 3"/>
          <p:cNvCxnSpPr/>
          <p:nvPr/>
        </p:nvCxnSpPr>
        <p:spPr>
          <a:xfrm>
            <a:off x="571501" y="1285875"/>
            <a:ext cx="11620500" cy="1588"/>
          </a:xfrm>
          <a:prstGeom prst="line">
            <a:avLst/>
          </a:prstGeom>
          <a:ln w="12700" cmpd="sng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2FFF6C-A5ED-42D0-B8A1-FD2FE5BEC8EC}" type="datetime1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Arial Unicode MS" pitchFamily="34" charset="-120"/>
              </a:rPr>
              <a:t>2026/4/22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ED870F-9485-4D56-AFF4-B9828BB10F8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70252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87393A-EC77-4BF9-A33B-273DAE67AD32}" type="datetime1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Arial Unicode MS" pitchFamily="34" charset="-120"/>
              </a:rPr>
              <a:t>2026/4/22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ED870F-9485-4D56-AFF4-B9828BB10F8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92885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標題版面配置區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93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4099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609600" y="1357314"/>
            <a:ext cx="10972800" cy="500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chemeClr val="tx1">
                    <a:tint val="75000"/>
                  </a:schemeClr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8A2338-812E-4A88-A843-2D1A9817CE5A}" type="datetime1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Arial Unicode MS" pitchFamily="34" charset="-120"/>
              </a:rPr>
              <a:t>2026/4/22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chemeClr val="tx1">
                    <a:tint val="75000"/>
                  </a:schemeClr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ED870F-9485-4D56-AFF4-B9828BB10F8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0"/>
            <a:ext cx="12192000" cy="214290"/>
          </a:xfrm>
          <a:prstGeom prst="rect">
            <a:avLst/>
          </a:prstGeom>
          <a:gradFill flip="none" rotWithShape="1">
            <a:gsLst>
              <a:gs pos="12000">
                <a:schemeClr val="accent1"/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 extrusionH="57150">
              <a:bevelT w="57150" h="38100" prst="hardEdge"/>
            </a:sp3d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200" b="1" dirty="0">
                <a:ln w="12700">
                  <a:noFill/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itchFamily="18" charset="0"/>
                <a:cs typeface="Times New Roman" pitchFamily="18" charset="0"/>
              </a:rPr>
              <a:t>Platform Based Design Group</a:t>
            </a:r>
            <a:endParaRPr kumimoji="0" lang="zh-TW" altLang="en-US" sz="1200" b="1" dirty="0">
              <a:ln w="12700">
                <a:noFill/>
                <a:prstDash val="solid"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 rot="16200000">
            <a:off x="5988844" y="654844"/>
            <a:ext cx="214312" cy="1219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400" b="1" dirty="0">
                <a:latin typeface="Times New Roman" pitchFamily="18" charset="0"/>
                <a:cs typeface="Times New Roman" pitchFamily="18" charset="0"/>
              </a:rPr>
              <a:t>NYCU. EE. Hsinchu. Taiwan</a:t>
            </a:r>
            <a:endParaRPr kumimoji="0" lang="zh-TW" alt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" y="1500188"/>
            <a:ext cx="285751" cy="5357812"/>
          </a:xfrm>
          <a:prstGeom prst="rect">
            <a:avLst/>
          </a:prstGeom>
          <a:gradFill flip="none" rotWithShape="1">
            <a:gsLst>
              <a:gs pos="56000">
                <a:srgbClr val="92D050"/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tIns="3024000" bIns="4680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400" dirty="0">
                <a:latin typeface="Times New Roman" pitchFamily="18" charset="0"/>
                <a:cs typeface="Times New Roman" pitchFamily="18" charset="0"/>
              </a:rPr>
              <a:t>VLSI Signal Processing Lab.</a:t>
            </a:r>
            <a:endParaRPr kumimoji="0" lang="zh-TW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8007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 kern="1200">
          <a:solidFill>
            <a:schemeClr val="tx1"/>
          </a:solidFill>
          <a:latin typeface="+mj-lt"/>
          <a:ea typeface="微軟正黑體" panose="020B0604030504040204" pitchFamily="34" charset="-120"/>
          <a:cs typeface="微軟正黑體" panose="020B0604030504040204" pitchFamily="34" charset="-12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Unicode MS" pitchFamily="34" charset="-120"/>
          <a:ea typeface="Arial Unicode MS" pitchFamily="34" charset="-120"/>
          <a:cs typeface="Arial Unicode MS" pitchFamily="34" charset="-12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Unicode MS" pitchFamily="34" charset="-120"/>
          <a:ea typeface="Arial Unicode MS" pitchFamily="34" charset="-120"/>
          <a:cs typeface="Arial Unicode MS" pitchFamily="34" charset="-12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Unicode MS" pitchFamily="34" charset="-120"/>
          <a:ea typeface="Arial Unicode MS" pitchFamily="34" charset="-120"/>
          <a:cs typeface="Arial Unicode MS" pitchFamily="34" charset="-12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Unicode MS" pitchFamily="34" charset="-120"/>
          <a:ea typeface="Arial Unicode MS" pitchFamily="34" charset="-120"/>
          <a:cs typeface="Arial Unicode MS" pitchFamily="34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微軟正黑體" panose="020B0604030504040204" pitchFamily="34" charset="-120"/>
          <a:cs typeface="微軟正黑體" panose="020B0604030504040204" pitchFamily="34" charset="-12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rgbClr val="376092"/>
          </a:solidFill>
          <a:latin typeface="+mn-lt"/>
          <a:ea typeface="微軟正黑體" panose="020B0604030504040204" pitchFamily="34" charset="-120"/>
          <a:cs typeface="微軟正黑體" panose="020B0604030504040204" pitchFamily="34" charset="-12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rgbClr val="4F6228"/>
          </a:solidFill>
          <a:latin typeface="+mn-lt"/>
          <a:ea typeface="微軟正黑體" panose="020B0604030504040204" pitchFamily="34" charset="-120"/>
          <a:cs typeface="微軟正黑體" panose="020B0604030504040204" pitchFamily="34" charset="-12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ern="1200">
          <a:solidFill>
            <a:srgbClr val="953735"/>
          </a:solidFill>
          <a:latin typeface="+mn-lt"/>
          <a:ea typeface="微軟正黑體" panose="020B0604030504040204" pitchFamily="34" charset="-120"/>
          <a:cs typeface="微軟正黑體" panose="020B0604030504040204" pitchFamily="34" charset="-12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ern="1200">
          <a:solidFill>
            <a:srgbClr val="E46C0A"/>
          </a:solidFill>
          <a:latin typeface="+mn-lt"/>
          <a:ea typeface="微軟正黑體" panose="020B0604030504040204" pitchFamily="34" charset="-120"/>
          <a:cs typeface="微軟正黑體" panose="020B0604030504040204" pitchFamily="34" charset="-12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://a-chien.blogspot.com/2015/12/blog-post_17.html" TargetMode="External"/><Relationship Id="rId3" Type="http://schemas.openxmlformats.org/officeDocument/2006/relationships/image" Target="../media/image2.jpeg"/><Relationship Id="rId7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hyperlink" Target="https://pixabay.com/de/oszilloskop-braunrot-308868/" TargetMode="External"/><Relationship Id="rId5" Type="http://schemas.openxmlformats.org/officeDocument/2006/relationships/image" Target="../media/image3.png"/><Relationship Id="rId4" Type="http://schemas.openxmlformats.org/officeDocument/2006/relationships/hyperlink" Target="http://electronics.stackexchange.com/questions/297289/tds2024-pk-pk-measurement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14.png"/><Relationship Id="rId5" Type="http://schemas.openxmlformats.org/officeDocument/2006/relationships/image" Target="../media/image130.png"/><Relationship Id="rId4" Type="http://schemas.openxmlformats.org/officeDocument/2006/relationships/image" Target="../media/image8.png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9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D4ED41-062F-4659-83EB-7A77368080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Lab 6</a:t>
            </a:r>
            <a:br>
              <a:rPr lang="en-US" altLang="zh-TW" dirty="0"/>
            </a:br>
            <a:r>
              <a:rPr lang="en-US" altLang="zh-TW" dirty="0"/>
              <a:t>Pattern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8F16381-4831-4E98-9BAB-AD94103527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</a:rPr>
              <a:t>林群凱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DF43161-B390-4657-8CAF-B056AB022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ED870F-9485-4D56-AFF4-B9828BB10F8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 pitchFamily="18" charset="0"/>
                <a:ea typeface="Arial Unicode MS" pitchFamily="34" charset="-120"/>
                <a:cs typeface="Times New Roman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 pitchFamily="18" charset="0"/>
              <a:ea typeface="Arial Unicode MS" pitchFamily="34" charset="-120"/>
              <a:cs typeface="Times New Roman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8392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ECF56D-13DB-4725-A24B-27C7A7A75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600" dirty="0"/>
              <a:t>Purpose</a:t>
            </a:r>
            <a:endParaRPr lang="zh-TW" altLang="en-US" sz="36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C8A90C4-0DBF-42BD-AB50-3EC835390B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/>
              <a:t>Learn how to</a:t>
            </a:r>
            <a:r>
              <a:rPr lang="zh-TW" altLang="en-US" sz="2800" dirty="0"/>
              <a:t> </a:t>
            </a:r>
            <a:r>
              <a:rPr lang="en-US" altLang="zh-TW" sz="2800" dirty="0"/>
              <a:t>write a pattern to test your design.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D9FC234-05D1-4A23-9037-33846850A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ED870F-9485-4D56-AFF4-B9828BB10F8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71382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84905A-0E89-DE5B-E1AD-DAB3F3512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600" dirty="0"/>
              <a:t>Lab06</a:t>
            </a:r>
            <a:endParaRPr lang="zh-TW" altLang="en-US" sz="36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E448A5D-4A9F-7041-2BF3-EA120EAB6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800" dirty="0"/>
              <a:t>Run the command below to get files for this lab.</a:t>
            </a:r>
          </a:p>
          <a:p>
            <a:pPr marL="457200" lvl="1" indent="0">
              <a:buNone/>
            </a:pPr>
            <a:r>
              <a:rPr lang="en-US" altLang="zh-TW" dirty="0">
                <a:latin typeface="Consolas" panose="020B0609020204030204" pitchFamily="49" charset="0"/>
                <a:ea typeface="Fira Code" panose="020B0509050000020004" pitchFamily="49" charset="0"/>
                <a:cs typeface="Fira Code" pitchFamily="1" charset="0"/>
              </a:rPr>
              <a:t>$ tar</a:t>
            </a:r>
            <a:r>
              <a:rPr lang="zh-TW" altLang="en-US" dirty="0">
                <a:latin typeface="Consolas" panose="020B0609020204030204" pitchFamily="49" charset="0"/>
                <a:cs typeface="Fira Code" pitchFamily="1" charset="0"/>
              </a:rPr>
              <a:t> </a:t>
            </a:r>
            <a:r>
              <a:rPr lang="en-US" altLang="zh-TW" dirty="0">
                <a:latin typeface="Consolas" panose="020B0609020204030204" pitchFamily="49" charset="0"/>
                <a:ea typeface="Fira Code" panose="020B0509050000020004" pitchFamily="49" charset="0"/>
                <a:cs typeface="Fira Code" pitchFamily="1" charset="0"/>
              </a:rPr>
              <a:t>-</a:t>
            </a:r>
            <a:r>
              <a:rPr lang="en-US" altLang="zh-TW" dirty="0" err="1">
                <a:latin typeface="Consolas" panose="020B0609020204030204" pitchFamily="49" charset="0"/>
                <a:ea typeface="Fira Code" panose="020B0509050000020004" pitchFamily="49" charset="0"/>
                <a:cs typeface="Fira Code" pitchFamily="1" charset="0"/>
              </a:rPr>
              <a:t>xvf</a:t>
            </a:r>
            <a:r>
              <a:rPr lang="en-US" altLang="zh-TW" dirty="0">
                <a:latin typeface="Consolas" panose="020B0609020204030204" pitchFamily="49" charset="0"/>
                <a:ea typeface="Fira Code" panose="020B0509050000020004" pitchFamily="49" charset="0"/>
                <a:cs typeface="Fira Code" pitchFamily="1" charset="0"/>
              </a:rPr>
              <a:t> ~es26dcsTA01/Lab06.tar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2F0E79E-08B6-4835-A553-C1D701D65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ED870F-9485-4D56-AFF4-B9828BB10F8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12684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ED403C-7DB5-4E08-8158-16397E610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600" dirty="0"/>
              <a:t>Design vs Testbench vs Pattern</a:t>
            </a:r>
            <a:endParaRPr lang="zh-TW" altLang="en-US" sz="3600" dirty="0"/>
          </a:p>
        </p:txBody>
      </p:sp>
      <p:pic>
        <p:nvPicPr>
          <p:cNvPr id="29" name="內容版面配置區 28">
            <a:extLst>
              <a:ext uri="{FF2B5EF4-FFF2-40B4-BE49-F238E27FC236}">
                <a16:creationId xmlns:a16="http://schemas.microsoft.com/office/drawing/2014/main" id="{62A38139-AC3F-4559-BCC9-BBA5A5929E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977399" y="2127906"/>
            <a:ext cx="2167273" cy="1148525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07B2500-2021-42CC-B22C-4F003BA58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ED870F-9485-4D56-AFF4-B9828BB10F8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6B94994-2E62-4370-BEE4-81C57541230C}"/>
              </a:ext>
            </a:extLst>
          </p:cNvPr>
          <p:cNvSpPr/>
          <p:nvPr/>
        </p:nvSpPr>
        <p:spPr>
          <a:xfrm>
            <a:off x="2495601" y="2026593"/>
            <a:ext cx="7481798" cy="424847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F16A5B0-A3A0-4B7B-BA1F-F964B10B6058}"/>
              </a:ext>
            </a:extLst>
          </p:cNvPr>
          <p:cNvSpPr/>
          <p:nvPr/>
        </p:nvSpPr>
        <p:spPr>
          <a:xfrm>
            <a:off x="2616442" y="2625991"/>
            <a:ext cx="2998676" cy="350619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73B4553-21AB-4E79-9D02-F72F0927E6C6}"/>
              </a:ext>
            </a:extLst>
          </p:cNvPr>
          <p:cNvSpPr/>
          <p:nvPr/>
        </p:nvSpPr>
        <p:spPr>
          <a:xfrm>
            <a:off x="6816080" y="2625991"/>
            <a:ext cx="3068646" cy="350619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059387E-7765-4694-A7F1-0B21C09281E2}"/>
              </a:ext>
            </a:extLst>
          </p:cNvPr>
          <p:cNvSpPr txBox="1"/>
          <p:nvPr/>
        </p:nvSpPr>
        <p:spPr>
          <a:xfrm>
            <a:off x="4852138" y="2102771"/>
            <a:ext cx="27363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chemeClr val="bg1"/>
                </a:solidFill>
              </a:rPr>
              <a:t>Testbench</a:t>
            </a:r>
            <a:endParaRPr lang="zh-TW" altLang="en-US" sz="2800" dirty="0">
              <a:solidFill>
                <a:schemeClr val="bg1"/>
              </a:solidFill>
            </a:endParaRPr>
          </a:p>
        </p:txBody>
      </p: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50ACD09C-8652-4B3B-A24C-8B81C559DA61}"/>
              </a:ext>
            </a:extLst>
          </p:cNvPr>
          <p:cNvCxnSpPr>
            <a:cxnSpLocks/>
          </p:cNvCxnSpPr>
          <p:nvPr/>
        </p:nvCxnSpPr>
        <p:spPr>
          <a:xfrm flipH="1">
            <a:off x="5624500" y="3107061"/>
            <a:ext cx="1191580" cy="0"/>
          </a:xfrm>
          <a:prstGeom prst="line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59CEC7F8-38CD-441A-AA5F-DF07AC642173}"/>
              </a:ext>
            </a:extLst>
          </p:cNvPr>
          <p:cNvSpPr txBox="1"/>
          <p:nvPr/>
        </p:nvSpPr>
        <p:spPr>
          <a:xfrm>
            <a:off x="2937030" y="2702169"/>
            <a:ext cx="19442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schemeClr val="bg1"/>
                </a:solidFill>
              </a:rPr>
              <a:t>Design</a:t>
            </a:r>
            <a:endParaRPr lang="zh-TW" altLang="en-US" sz="2800" dirty="0">
              <a:solidFill>
                <a:schemeClr val="bg1"/>
              </a:solidFill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8C555262-7568-446F-BF9B-133391684CE4}"/>
              </a:ext>
            </a:extLst>
          </p:cNvPr>
          <p:cNvSpPr txBox="1"/>
          <p:nvPr/>
        </p:nvSpPr>
        <p:spPr>
          <a:xfrm>
            <a:off x="7566212" y="2694187"/>
            <a:ext cx="19442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800" dirty="0">
                <a:solidFill>
                  <a:schemeClr val="bg1"/>
                </a:solidFill>
              </a:rPr>
              <a:t>Pattern</a:t>
            </a:r>
            <a:endParaRPr lang="zh-TW" altLang="en-US" sz="2800" dirty="0">
              <a:solidFill>
                <a:schemeClr val="bg1"/>
              </a:solidFill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72FAD433-27B0-4944-9766-470853901604}"/>
              </a:ext>
            </a:extLst>
          </p:cNvPr>
          <p:cNvSpPr txBox="1"/>
          <p:nvPr/>
        </p:nvSpPr>
        <p:spPr>
          <a:xfrm>
            <a:off x="5617606" y="2694187"/>
            <a:ext cx="1270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Connection</a:t>
            </a:r>
            <a:endParaRPr lang="zh-TW" altLang="en-US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4F179F79-12F7-4206-84D1-F914F104B782}"/>
              </a:ext>
            </a:extLst>
          </p:cNvPr>
          <p:cNvSpPr txBox="1"/>
          <p:nvPr/>
        </p:nvSpPr>
        <p:spPr>
          <a:xfrm>
            <a:off x="6816080" y="2931047"/>
            <a:ext cx="1270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Output</a:t>
            </a:r>
            <a:endParaRPr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BD1BB3CF-2C4C-44DE-9F40-0253D6173A40}"/>
              </a:ext>
            </a:extLst>
          </p:cNvPr>
          <p:cNvSpPr txBox="1"/>
          <p:nvPr/>
        </p:nvSpPr>
        <p:spPr>
          <a:xfrm>
            <a:off x="4354016" y="2922395"/>
            <a:ext cx="1270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dirty="0"/>
              <a:t>Input</a:t>
            </a:r>
            <a:endParaRPr lang="zh-TW" altLang="en-US" dirty="0"/>
          </a:p>
        </p:txBody>
      </p: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D1DB668D-1EE7-4B28-BDBF-775A4AD61509}"/>
              </a:ext>
            </a:extLst>
          </p:cNvPr>
          <p:cNvCxnSpPr>
            <a:cxnSpLocks/>
          </p:cNvCxnSpPr>
          <p:nvPr/>
        </p:nvCxnSpPr>
        <p:spPr>
          <a:xfrm>
            <a:off x="5624500" y="3446994"/>
            <a:ext cx="1191580" cy="0"/>
          </a:xfrm>
          <a:prstGeom prst="line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CEDA1C26-B682-43E5-9A90-BC0F41A045F5}"/>
              </a:ext>
            </a:extLst>
          </p:cNvPr>
          <p:cNvSpPr txBox="1"/>
          <p:nvPr/>
        </p:nvSpPr>
        <p:spPr>
          <a:xfrm>
            <a:off x="6816080" y="3270980"/>
            <a:ext cx="1270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Input</a:t>
            </a:r>
            <a:endParaRPr lang="zh-TW" altLang="en-US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90E95107-3D44-4DB1-A5B0-6304C21A150C}"/>
              </a:ext>
            </a:extLst>
          </p:cNvPr>
          <p:cNvSpPr txBox="1"/>
          <p:nvPr/>
        </p:nvSpPr>
        <p:spPr>
          <a:xfrm>
            <a:off x="4354016" y="3262328"/>
            <a:ext cx="1270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dirty="0"/>
              <a:t>Output</a:t>
            </a:r>
            <a:endParaRPr lang="zh-TW" altLang="en-US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DB04B57C-206B-43F6-8BB7-7091C58266A3}"/>
              </a:ext>
            </a:extLst>
          </p:cNvPr>
          <p:cNvSpPr txBox="1"/>
          <p:nvPr/>
        </p:nvSpPr>
        <p:spPr>
          <a:xfrm>
            <a:off x="6816080" y="3804076"/>
            <a:ext cx="306864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Generate input stimuli for the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Capture and check the correctness of the design outputs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Not synthesizable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Usually composed of initial blocks</a:t>
            </a:r>
            <a:endParaRPr lang="zh-TW" altLang="en-US" dirty="0"/>
          </a:p>
        </p:txBody>
      </p:sp>
      <p:pic>
        <p:nvPicPr>
          <p:cNvPr id="32" name="圖片 31">
            <a:extLst>
              <a:ext uri="{FF2B5EF4-FFF2-40B4-BE49-F238E27FC236}">
                <a16:creationId xmlns:a16="http://schemas.microsoft.com/office/drawing/2014/main" id="{1E089BA6-A261-4954-9ECD-E8BD10A456E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0070072" y="3341303"/>
            <a:ext cx="2002592" cy="1059183"/>
          </a:xfrm>
          <a:prstGeom prst="rect">
            <a:avLst/>
          </a:prstGeom>
        </p:spPr>
      </p:pic>
      <p:pic>
        <p:nvPicPr>
          <p:cNvPr id="34" name="圖片 33">
            <a:extLst>
              <a:ext uri="{FF2B5EF4-FFF2-40B4-BE49-F238E27FC236}">
                <a16:creationId xmlns:a16="http://schemas.microsoft.com/office/drawing/2014/main" id="{6B593171-BDFF-4B86-9A0C-686B13B94C9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306077" y="2683393"/>
            <a:ext cx="2098525" cy="1175174"/>
          </a:xfrm>
          <a:prstGeom prst="rect">
            <a:avLst/>
          </a:prstGeom>
        </p:spPr>
      </p:pic>
      <p:sp>
        <p:nvSpPr>
          <p:cNvPr id="40" name="文字方塊 39">
            <a:extLst>
              <a:ext uri="{FF2B5EF4-FFF2-40B4-BE49-F238E27FC236}">
                <a16:creationId xmlns:a16="http://schemas.microsoft.com/office/drawing/2014/main" id="{8AFC7B90-5B70-4D2A-8416-3DBA074D30E9}"/>
              </a:ext>
            </a:extLst>
          </p:cNvPr>
          <p:cNvSpPr txBox="1"/>
          <p:nvPr/>
        </p:nvSpPr>
        <p:spPr>
          <a:xfrm>
            <a:off x="2625824" y="3804076"/>
            <a:ext cx="26780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RTL description of your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Must be synthesizable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Composed of always blocks and assignments</a:t>
            </a:r>
            <a:endParaRPr lang="zh-TW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74492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3C6DC6-F7E2-4089-A51C-165C1D26F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>
                <a:latin typeface="Fira Code" panose="020B0509050000020004" pitchFamily="49" charset="0"/>
                <a:ea typeface="Fira Code" panose="020B0509050000020004" pitchFamily="49" charset="0"/>
              </a:rPr>
              <a:t>LOCK.sv</a:t>
            </a:r>
            <a:r>
              <a:rPr lang="en-US" altLang="zh-TW" dirty="0"/>
              <a:t> from Lab05 (TA has written.)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A97BF42-D97B-4629-B5F9-D5C731740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ED870F-9485-4D56-AFF4-B9828BB10F8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82D71334-C58D-4C77-90DF-C2D7EA811378}"/>
              </a:ext>
            </a:extLst>
          </p:cNvPr>
          <p:cNvSpPr txBox="1">
            <a:spLocks/>
          </p:cNvSpPr>
          <p:nvPr/>
        </p:nvSpPr>
        <p:spPr bwMode="auto">
          <a:xfrm>
            <a:off x="609600" y="1357314"/>
            <a:ext cx="11175032" cy="5448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400" kern="1200">
                <a:solidFill>
                  <a:srgbClr val="376092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rgbClr val="4F6228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rgbClr val="953735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rgbClr val="E46C0A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olidFill>
                  <a:srgbClr val="FF0000"/>
                </a:solidFill>
              </a:rPr>
              <a:t>THIS IS NOT WHAT YOU SHOULD DO FOR THIS LAB!!!</a:t>
            </a:r>
            <a:endParaRPr lang="zh-TW" altLang="en-US" dirty="0">
              <a:solidFill>
                <a:srgbClr val="FF0000"/>
              </a:solidFill>
            </a:endParaRPr>
          </a:p>
        </p:txBody>
      </p:sp>
      <p:pic>
        <p:nvPicPr>
          <p:cNvPr id="7" name="圖形 67">
            <a:extLst>
              <a:ext uri="{FF2B5EF4-FFF2-40B4-BE49-F238E27FC236}">
                <a16:creationId xmlns:a16="http://schemas.microsoft.com/office/drawing/2014/main" id="{D80964B7-C8F2-8A9E-B26C-C8652A6127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967" y="1988840"/>
            <a:ext cx="11690943" cy="436751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3616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3C6DC6-F7E2-4089-A51C-165C1D26F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>
                <a:latin typeface="Fira Code" panose="020B0509050000020004" pitchFamily="49" charset="0"/>
                <a:ea typeface="Fira Code" panose="020B0509050000020004" pitchFamily="49" charset="0"/>
              </a:rPr>
              <a:t>PATTERN.sv</a:t>
            </a:r>
            <a:r>
              <a:rPr lang="en-US" altLang="zh-TW" dirty="0"/>
              <a:t> (under </a:t>
            </a:r>
            <a:r>
              <a:rPr lang="en-US" altLang="zh-TW" sz="2800" dirty="0">
                <a:latin typeface="Fira Code" panose="020B0509050000020004" pitchFamily="49" charset="0"/>
                <a:ea typeface="Fira Code" panose="020B0509050000020004" pitchFamily="49" charset="0"/>
              </a:rPr>
              <a:t>00_TESTBED/</a:t>
            </a:r>
            <a:r>
              <a:rPr lang="en-US" altLang="zh-TW" dirty="0"/>
              <a:t>)</a:t>
            </a:r>
            <a:endParaRPr lang="zh-TW" altLang="en-US" dirty="0"/>
          </a:p>
        </p:txBody>
      </p:sp>
      <p:graphicFrame>
        <p:nvGraphicFramePr>
          <p:cNvPr id="8" name="表格 8">
            <a:extLst>
              <a:ext uri="{FF2B5EF4-FFF2-40B4-BE49-F238E27FC236}">
                <a16:creationId xmlns:a16="http://schemas.microsoft.com/office/drawing/2014/main" id="{FF1B240B-6C34-42CB-BC91-1B5F5BD46B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3134008"/>
              </p:ext>
            </p:extLst>
          </p:nvPr>
        </p:nvGraphicFramePr>
        <p:xfrm>
          <a:off x="767408" y="3429000"/>
          <a:ext cx="10972797" cy="299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6000">
                  <a:extLst>
                    <a:ext uri="{9D8B030D-6E8A-4147-A177-3AD203B41FA5}">
                      <a16:colId xmlns:a16="http://schemas.microsoft.com/office/drawing/2014/main" val="238094712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1138983864"/>
                    </a:ext>
                  </a:extLst>
                </a:gridCol>
                <a:gridCol w="7286597">
                  <a:extLst>
                    <a:ext uri="{9D8B030D-6E8A-4147-A177-3AD203B41FA5}">
                      <a16:colId xmlns:a16="http://schemas.microsoft.com/office/drawing/2014/main" val="38581133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Output Signal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Bit Width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Definition</a:t>
                      </a:r>
                      <a:endParaRPr lang="zh-TW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4588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kern="0" dirty="0">
                          <a:effectLst/>
                          <a:latin typeface="Fira Code" panose="020B0509050000020004" pitchFamily="49" charset="0"/>
                          <a:ea typeface="Fira Code" panose="020B0509050000020004" pitchFamily="49" charset="0"/>
                          <a:cs typeface="Fira Code" panose="020B0509050000020004" pitchFamily="49" charset="0"/>
                        </a:rPr>
                        <a:t>clk</a:t>
                      </a:r>
                      <a:endParaRPr lang="zh-TW" sz="1800" kern="100" dirty="0">
                        <a:effectLst/>
                        <a:latin typeface="Fira Code" panose="020B0509050000020004" pitchFamily="49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0" dirty="0">
                          <a:effectLst/>
                          <a:latin typeface="+mn-lt"/>
                          <a:ea typeface="新細明體" panose="02020500000000000000" pitchFamily="18" charset="-120"/>
                          <a:cs typeface="TimesNewRomanPSMT"/>
                        </a:rPr>
                        <a:t>1</a:t>
                      </a:r>
                      <a:endParaRPr lang="zh-TW" sz="2000" kern="100" dirty="0">
                        <a:effectLst/>
                        <a:latin typeface="+mn-lt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kern="0" dirty="0">
                          <a:effectLst/>
                          <a:latin typeface="+mn-lt"/>
                          <a:ea typeface="新細明體" panose="02020500000000000000" pitchFamily="18" charset="-120"/>
                          <a:cs typeface="TimesNewRomanPSMT"/>
                        </a:rPr>
                        <a:t>Clock signal</a:t>
                      </a:r>
                      <a:endParaRPr lang="zh-TW" sz="1800" kern="100" dirty="0">
                        <a:effectLst/>
                        <a:latin typeface="+mn-lt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91810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kern="0" dirty="0">
                          <a:effectLst/>
                          <a:latin typeface="Fira Code" panose="020B0509050000020004" pitchFamily="49" charset="0"/>
                          <a:ea typeface="Fira Code" panose="020B0509050000020004" pitchFamily="49" charset="0"/>
                          <a:cs typeface="Fira Code" panose="020B0509050000020004" pitchFamily="49" charset="0"/>
                        </a:rPr>
                        <a:t>rst_n</a:t>
                      </a:r>
                      <a:endParaRPr lang="zh-TW" sz="1800" kern="100" dirty="0">
                        <a:effectLst/>
                        <a:latin typeface="Fira Code" panose="020B0509050000020004" pitchFamily="49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0" dirty="0">
                          <a:effectLst/>
                          <a:latin typeface="+mn-lt"/>
                          <a:ea typeface="新細明體" panose="02020500000000000000" pitchFamily="18" charset="-120"/>
                          <a:cs typeface="TimesNewRomanPSMT"/>
                        </a:rPr>
                        <a:t>1</a:t>
                      </a:r>
                      <a:endParaRPr lang="zh-TW" sz="2000" kern="100" dirty="0">
                        <a:effectLst/>
                        <a:latin typeface="+mn-lt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kern="0" dirty="0">
                          <a:effectLst/>
                          <a:latin typeface="+mn-lt"/>
                          <a:ea typeface="新細明體" panose="02020500000000000000" pitchFamily="18" charset="-120"/>
                          <a:cs typeface="TimesNewRomanPSMT"/>
                        </a:rPr>
                        <a:t>Asynchronous active-low reset signal</a:t>
                      </a:r>
                      <a:endParaRPr lang="zh-TW" sz="1800" kern="100" dirty="0">
                        <a:effectLst/>
                        <a:latin typeface="+mn-lt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26852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kern="0" dirty="0">
                          <a:effectLst/>
                          <a:latin typeface="Fira Code" panose="020B0509050000020004" pitchFamily="49" charset="0"/>
                          <a:ea typeface="Fira Code" panose="020B0509050000020004" pitchFamily="49" charset="0"/>
                          <a:cs typeface="Fira Code" panose="020B0509050000020004" pitchFamily="49" charset="0"/>
                        </a:rPr>
                        <a:t>in_valid</a:t>
                      </a:r>
                      <a:endParaRPr lang="zh-TW" sz="1800" kern="100" dirty="0">
                        <a:effectLst/>
                        <a:latin typeface="Fira Code" panose="020B0509050000020004" pitchFamily="49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0" dirty="0">
                          <a:effectLst/>
                          <a:latin typeface="+mn-lt"/>
                          <a:ea typeface="新細明體" panose="02020500000000000000" pitchFamily="18" charset="-120"/>
                          <a:cs typeface="TimesNewRomanPSMT"/>
                        </a:rPr>
                        <a:t>1</a:t>
                      </a:r>
                      <a:endParaRPr lang="zh-TW" sz="2000" kern="100" dirty="0">
                        <a:effectLst/>
                        <a:latin typeface="+mn-lt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kern="0" dirty="0">
                          <a:effectLst/>
                          <a:latin typeface="+mn-lt"/>
                          <a:ea typeface="新細明體" panose="02020500000000000000" pitchFamily="18" charset="-120"/>
                          <a:cs typeface="TimesNewRomanPSMT"/>
                        </a:rPr>
                        <a:t>Asserted when any one of the below 4 input signals is valid</a:t>
                      </a:r>
                      <a:endParaRPr lang="zh-TW" sz="1800" kern="100" dirty="0">
                        <a:effectLst/>
                        <a:latin typeface="+mn-lt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585568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kern="0" dirty="0" err="1">
                          <a:effectLst/>
                          <a:latin typeface="Fira Code" panose="020B0509050000020004" pitchFamily="49" charset="0"/>
                          <a:ea typeface="Fira Code" panose="020B0509050000020004" pitchFamily="49" charset="0"/>
                          <a:cs typeface="Fira Code" panose="020B0509050000020004" pitchFamily="49" charset="0"/>
                        </a:rPr>
                        <a:t>in_digit</a:t>
                      </a:r>
                      <a:endParaRPr lang="zh-TW" sz="1800" kern="100" dirty="0">
                        <a:effectLst/>
                        <a:latin typeface="Fira Code" panose="020B0509050000020004" pitchFamily="49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0" dirty="0">
                          <a:effectLst/>
                          <a:latin typeface="+mn-lt"/>
                          <a:ea typeface="新細明體" panose="02020500000000000000" pitchFamily="18" charset="-120"/>
                          <a:cs typeface="TimesNewRomanPSMT"/>
                        </a:rPr>
                        <a:t>4</a:t>
                      </a:r>
                      <a:endParaRPr lang="zh-TW" sz="2000" kern="100" dirty="0">
                        <a:effectLst/>
                        <a:latin typeface="+mn-lt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kern="0" dirty="0">
                          <a:effectLst/>
                          <a:latin typeface="+mn-lt"/>
                          <a:ea typeface="新細明體" panose="02020500000000000000" pitchFamily="18" charset="-120"/>
                          <a:cs typeface="TimesNewRomanPSMT"/>
                        </a:rPr>
                        <a:t>Input digit ranged from 0 to 9</a:t>
                      </a:r>
                      <a:endParaRPr lang="zh-TW" sz="1800" kern="100" dirty="0">
                        <a:effectLst/>
                        <a:latin typeface="+mn-lt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21494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kern="0" dirty="0">
                          <a:effectLst/>
                          <a:latin typeface="Fira Code" panose="020B0509050000020004" pitchFamily="49" charset="0"/>
                          <a:ea typeface="Fira Code" panose="020B0509050000020004" pitchFamily="49" charset="0"/>
                          <a:cs typeface="Fira Code" panose="020B0509050000020004" pitchFamily="49" charset="0"/>
                        </a:rPr>
                        <a:t>enter</a:t>
                      </a:r>
                      <a:endParaRPr lang="zh-TW" sz="1800" kern="100" dirty="0">
                        <a:effectLst/>
                        <a:latin typeface="Fira Code" panose="020B0509050000020004" pitchFamily="49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0" dirty="0">
                          <a:effectLst/>
                          <a:latin typeface="+mn-lt"/>
                          <a:ea typeface="新細明體" panose="02020500000000000000" pitchFamily="18" charset="-120"/>
                          <a:cs typeface="TimesNewRomanPSMT"/>
                        </a:rPr>
                        <a:t>1</a:t>
                      </a:r>
                      <a:endParaRPr lang="zh-TW" sz="2000" kern="100" dirty="0">
                        <a:effectLst/>
                        <a:latin typeface="+mn-lt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kern="0" dirty="0">
                          <a:effectLst/>
                          <a:latin typeface="+mn-lt"/>
                          <a:ea typeface="新細明體" panose="02020500000000000000" pitchFamily="18" charset="-120"/>
                          <a:cs typeface="TimesNewRomanPSMT"/>
                        </a:rPr>
                        <a:t>“Enter” key for user confirmation</a:t>
                      </a:r>
                      <a:endParaRPr lang="zh-TW" sz="1800" kern="100" dirty="0">
                        <a:effectLst/>
                        <a:latin typeface="+mn-lt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30569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kern="0" dirty="0">
                          <a:effectLst/>
                          <a:latin typeface="Fira Code" panose="020B0509050000020004" pitchFamily="49" charset="0"/>
                          <a:ea typeface="Fira Code" panose="020B0509050000020004" pitchFamily="49" charset="0"/>
                          <a:cs typeface="Fira Code" panose="020B0509050000020004" pitchFamily="49" charset="0"/>
                        </a:rPr>
                        <a:t>change</a:t>
                      </a:r>
                      <a:endParaRPr lang="zh-TW" sz="1800" kern="100" dirty="0">
                        <a:effectLst/>
                        <a:latin typeface="Fira Code" panose="020B0509050000020004" pitchFamily="49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0" dirty="0">
                          <a:effectLst/>
                          <a:latin typeface="+mn-lt"/>
                          <a:ea typeface="新細明體" panose="02020500000000000000" pitchFamily="18" charset="-120"/>
                          <a:cs typeface="TimesNewRomanPSMT"/>
                        </a:rPr>
                        <a:t>1</a:t>
                      </a:r>
                      <a:endParaRPr lang="zh-TW" sz="2000" kern="100" dirty="0">
                        <a:effectLst/>
                        <a:latin typeface="+mn-lt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kern="0" dirty="0">
                          <a:effectLst/>
                          <a:latin typeface="+mn-lt"/>
                          <a:ea typeface="新細明體" panose="02020500000000000000" pitchFamily="18" charset="-120"/>
                          <a:cs typeface="TimesNewRomanPSMT"/>
                        </a:rPr>
                        <a:t>Asserted to initiate password change mode</a:t>
                      </a:r>
                      <a:endParaRPr lang="zh-TW" sz="1800" kern="100" dirty="0">
                        <a:effectLst/>
                        <a:latin typeface="+mn-lt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9346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kern="0" dirty="0" err="1">
                          <a:effectLst/>
                          <a:latin typeface="Fira Code" panose="020B0509050000020004" pitchFamily="49" charset="0"/>
                          <a:ea typeface="Fira Code" panose="020B0509050000020004" pitchFamily="49" charset="0"/>
                          <a:cs typeface="Fira Code" panose="020B0509050000020004" pitchFamily="49" charset="0"/>
                        </a:rPr>
                        <a:t>lock_reset</a:t>
                      </a:r>
                      <a:endParaRPr lang="zh-TW" sz="1800" kern="100" dirty="0">
                        <a:effectLst/>
                        <a:latin typeface="Fira Code" panose="020B0509050000020004" pitchFamily="49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0" dirty="0">
                          <a:effectLst/>
                          <a:latin typeface="+mn-lt"/>
                          <a:ea typeface="新細明體" panose="02020500000000000000" pitchFamily="18" charset="-120"/>
                          <a:cs typeface="TimesNewRomanPSMT"/>
                        </a:rPr>
                        <a:t>1</a:t>
                      </a:r>
                      <a:endParaRPr lang="zh-TW" sz="2000" kern="100" dirty="0">
                        <a:effectLst/>
                        <a:latin typeface="+mn-lt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kern="0" dirty="0">
                          <a:effectLst/>
                          <a:latin typeface="+mn-lt"/>
                          <a:ea typeface="新細明體" panose="02020500000000000000" pitchFamily="18" charset="-120"/>
                          <a:cs typeface="TimesNewRomanPSMT"/>
                        </a:rPr>
                        <a:t>Asserted to reset the lock status</a:t>
                      </a:r>
                      <a:endParaRPr lang="zh-TW" sz="1800" kern="100" dirty="0">
                        <a:effectLst/>
                        <a:latin typeface="+mn-lt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70750088"/>
                  </a:ext>
                </a:extLst>
              </a:tr>
            </a:tbl>
          </a:graphicData>
        </a:graphic>
      </p:graphicFrame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A97BF42-D97B-4629-B5F9-D5C731740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ED870F-9485-4D56-AFF4-B9828BB10F8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01E3C1F6-9FC4-4882-8C25-E1E97D1FB21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08387890"/>
              </p:ext>
            </p:extLst>
          </p:nvPr>
        </p:nvGraphicFramePr>
        <p:xfrm>
          <a:off x="767408" y="1196752"/>
          <a:ext cx="10972797" cy="207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6000">
                  <a:extLst>
                    <a:ext uri="{9D8B030D-6E8A-4147-A177-3AD203B41FA5}">
                      <a16:colId xmlns:a16="http://schemas.microsoft.com/office/drawing/2014/main" val="238094712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1138983864"/>
                    </a:ext>
                  </a:extLst>
                </a:gridCol>
                <a:gridCol w="7286597">
                  <a:extLst>
                    <a:ext uri="{9D8B030D-6E8A-4147-A177-3AD203B41FA5}">
                      <a16:colId xmlns:a16="http://schemas.microsoft.com/office/drawing/2014/main" val="38581133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Input Signal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Bit Width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Definition</a:t>
                      </a:r>
                      <a:endParaRPr lang="zh-TW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4588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Fira Code" panose="020B0509050000020004" pitchFamily="49" charset="0"/>
                          <a:ea typeface="Fira Code" panose="020B0509050000020004" pitchFamily="49" charset="0"/>
                        </a:rPr>
                        <a:t>state</a:t>
                      </a:r>
                      <a:endParaRPr lang="zh-TW" altLang="en-US" sz="1800" dirty="0">
                        <a:latin typeface="Fira Code" panose="020B05090500000200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State for the password lock FSM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000: LOCKED	001: IN_D1	010: IN_D2	011: IN_D3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100: IN_D4	 101: UNLOCKED	 110: CHANGE	 111: ALARM</a:t>
                      </a:r>
                      <a:endParaRPr lang="en-US" altLang="zh-TW" sz="200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5006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Fira Code" panose="020B0509050000020004" pitchFamily="49" charset="0"/>
                          <a:ea typeface="Fira Code" panose="020B0509050000020004" pitchFamily="49" charset="0"/>
                        </a:rPr>
                        <a:t>unlocked</a:t>
                      </a:r>
                      <a:endParaRPr lang="zh-TW" altLang="en-US" sz="1800" dirty="0">
                        <a:latin typeface="Fira Code" panose="020B05090500000200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Raised when unlocked</a:t>
                      </a:r>
                      <a:endParaRPr lang="en-US" altLang="zh-TW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164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kern="0" dirty="0">
                          <a:effectLst/>
                          <a:latin typeface="Fira Code" panose="020B0509050000020004" pitchFamily="49" charset="0"/>
                          <a:ea typeface="Fira Code" panose="020B0509050000020004" pitchFamily="49" charset="0"/>
                          <a:cs typeface="Fira Code" panose="020B0509050000020004" pitchFamily="49" charset="0"/>
                        </a:rPr>
                        <a:t>alarm</a:t>
                      </a:r>
                      <a:endParaRPr lang="zh-TW" sz="1800" kern="100" dirty="0">
                        <a:effectLst/>
                        <a:latin typeface="Fira Code" panose="020B0509050000020004" pitchFamily="49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0" dirty="0">
                          <a:effectLst/>
                          <a:latin typeface="+mn-lt"/>
                          <a:ea typeface="新細明體" panose="02020500000000000000" pitchFamily="18" charset="-120"/>
                          <a:cs typeface="TimesNewRomanPSMT"/>
                        </a:rPr>
                        <a:t>1</a:t>
                      </a:r>
                      <a:endParaRPr lang="zh-TW" sz="2000" kern="100" dirty="0">
                        <a:effectLst/>
                        <a:latin typeface="+mn-lt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kern="100" dirty="0">
                          <a:effectLst/>
                          <a:latin typeface="+mn-lt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Raise when triggering alarm state</a:t>
                      </a:r>
                      <a:endParaRPr lang="zh-TW" sz="1800" kern="100" dirty="0">
                        <a:effectLst/>
                        <a:latin typeface="+mn-lt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758371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147160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6499D-C4E2-8546-2215-EE006493B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EA6439-4C0E-4AF5-F6D3-327A67836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>
                <a:latin typeface="Fira Code" panose="020B0509050000020004" pitchFamily="49" charset="0"/>
                <a:ea typeface="Fira Code" panose="020B0509050000020004" pitchFamily="49" charset="0"/>
              </a:rPr>
              <a:t>PATTERN.sv</a:t>
            </a:r>
            <a:endParaRPr lang="zh-TW" altLang="en-US" sz="2800" dirty="0">
              <a:latin typeface="Fira Code" panose="020B05090500000200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2040583-7599-8BAB-1C90-E4EE44AADA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Read the test data from the file </a:t>
                </a:r>
                <a:r>
                  <a:rPr lang="en-US" altLang="zh-TW" sz="2000" dirty="0">
                    <a:latin typeface="Fira Code" panose="020B0509050000020004" pitchFamily="49" charset="0"/>
                    <a:ea typeface="Fira Code" panose="020B0509050000020004" pitchFamily="49" charset="0"/>
                  </a:rPr>
                  <a:t>../00_TESTBED/input.txt</a:t>
                </a:r>
                <a:endParaRPr lang="en-US" altLang="zh-TW" dirty="0">
                  <a:latin typeface="Fira Code" panose="020B0509050000020004" pitchFamily="49" charset="0"/>
                  <a:ea typeface="Fira Code" panose="020B0509050000020004" pitchFamily="49" charset="0"/>
                </a:endParaRPr>
              </a:p>
              <a:p>
                <a:r>
                  <a:rPr lang="en-US" altLang="zh-TW" dirty="0"/>
                  <a:t>First line is the total number of pattern (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zh-TW" dirty="0"/>
                  <a:t>)</a:t>
                </a:r>
              </a:p>
              <a:p>
                <a:r>
                  <a:rPr lang="en-US" altLang="zh-TW" dirty="0"/>
                  <a:t>The following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zh-TW" dirty="0"/>
                  <a:t> lines represent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zh-TW" dirty="0"/>
                  <a:t> patterns</a:t>
                </a:r>
              </a:p>
              <a:p>
                <a:r>
                  <a:rPr lang="en-US" altLang="zh-TW" dirty="0"/>
                  <a:t>For each line</a:t>
                </a:r>
              </a:p>
              <a:p>
                <a:pPr lvl="1"/>
                <a:r>
                  <a:rPr lang="en-US" altLang="zh-TW" sz="1600" dirty="0" err="1">
                    <a:latin typeface="Fira Code" pitchFamily="1" charset="0"/>
                    <a:ea typeface="Fira Code" pitchFamily="1" charset="0"/>
                    <a:cs typeface="Fira Code" pitchFamily="1" charset="0"/>
                  </a:rPr>
                  <a:t>lock_flag</a:t>
                </a:r>
                <a:r>
                  <a:rPr lang="en-US" altLang="zh-TW" dirty="0"/>
                  <a:t>:	1 means raising </a:t>
                </a:r>
                <a:r>
                  <a:rPr lang="en-US" altLang="zh-TW" sz="1800" dirty="0" err="1">
                    <a:latin typeface="Fira Code" panose="020B0509050000020004" pitchFamily="49" charset="0"/>
                    <a:ea typeface="Fira Code" panose="020B0509050000020004" pitchFamily="49" charset="0"/>
                  </a:rPr>
                  <a:t>lock_reset</a:t>
                </a:r>
                <a:endParaRPr lang="en-US" altLang="zh-TW" dirty="0">
                  <a:latin typeface="Fira Code" panose="020B0509050000020004" pitchFamily="49" charset="0"/>
                  <a:ea typeface="Fira Code" panose="020B0509050000020004" pitchFamily="49" charset="0"/>
                </a:endParaRPr>
              </a:p>
              <a:p>
                <a:pPr lvl="1"/>
                <a:r>
                  <a:rPr lang="en-US" altLang="zh-TW" sz="1600" dirty="0" err="1">
                    <a:latin typeface="Fira Code" pitchFamily="1" charset="0"/>
                    <a:ea typeface="Fira Code" pitchFamily="1" charset="0"/>
                    <a:cs typeface="Fira Code" pitchFamily="1" charset="0"/>
                  </a:rPr>
                  <a:t>in_d</a:t>
                </a:r>
                <a:r>
                  <a:rPr lang="en-US" altLang="zh-TW" sz="1600" dirty="0">
                    <a:latin typeface="Fira Code" pitchFamily="1" charset="0"/>
                    <a:ea typeface="Fira Code" pitchFamily="1" charset="0"/>
                    <a:cs typeface="Fira Code" pitchFamily="1" charset="0"/>
                  </a:rPr>
                  <a:t>[0:3]</a:t>
                </a:r>
                <a:r>
                  <a:rPr lang="en-US" altLang="zh-TW" dirty="0"/>
                  <a:t>:	4 input digits</a:t>
                </a:r>
              </a:p>
              <a:p>
                <a:pPr lvl="1"/>
                <a:r>
                  <a:rPr lang="en-US" altLang="zh-TW" sz="1600" dirty="0" err="1">
                    <a:latin typeface="Fira Code" pitchFamily="1" charset="0"/>
                    <a:ea typeface="Fira Code" pitchFamily="1" charset="0"/>
                    <a:cs typeface="Fira Code" pitchFamily="1" charset="0"/>
                  </a:rPr>
                  <a:t>in_type</a:t>
                </a:r>
                <a:r>
                  <a:rPr lang="en-US" altLang="zh-TW" dirty="0"/>
                  <a:t>:		0 means raising </a:t>
                </a:r>
                <a:r>
                  <a:rPr lang="en-US" altLang="zh-TW" sz="1800" dirty="0">
                    <a:latin typeface="Fira Code" panose="020B0509050000020004" pitchFamily="49" charset="0"/>
                    <a:ea typeface="Fira Code" panose="020B0509050000020004" pitchFamily="49" charset="0"/>
                  </a:rPr>
                  <a:t>change</a:t>
                </a:r>
                <a:endParaRPr lang="en-US" altLang="zh-TW" dirty="0">
                  <a:latin typeface="Fira Code" panose="020B0509050000020004" pitchFamily="49" charset="0"/>
                  <a:ea typeface="Fira Code" panose="020B0509050000020004" pitchFamily="49" charset="0"/>
                </a:endParaRPr>
              </a:p>
              <a:p>
                <a:pPr marL="457200" lvl="1" indent="0">
                  <a:buNone/>
                </a:pPr>
                <a:r>
                  <a:rPr lang="en-US" altLang="zh-TW" dirty="0"/>
                  <a:t>			non-zero (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TW" dirty="0"/>
                  <a:t>) means raising </a:t>
                </a:r>
                <a:r>
                  <a:rPr lang="en-US" altLang="zh-TW" sz="1800" dirty="0">
                    <a:latin typeface="Fira Code" panose="020B0509050000020004" pitchFamily="49" charset="0"/>
                    <a:ea typeface="Fira Code" panose="020B0509050000020004" pitchFamily="49" charset="0"/>
                  </a:rPr>
                  <a:t>enter</a:t>
                </a:r>
                <a:r>
                  <a:rPr lang="en-US" altLang="zh-TW" dirty="0"/>
                  <a:t> after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TW" dirty="0"/>
                  <a:t> input digits</a:t>
                </a:r>
              </a:p>
              <a:p>
                <a:pPr marL="457200" lvl="1" indent="0">
                  <a:buNone/>
                </a:pPr>
                <a:r>
                  <a:rPr lang="en-US" altLang="zh-TW" dirty="0"/>
                  <a:t>			(if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altLang="zh-TW" dirty="0"/>
                  <a:t> and the input password is incorrect, do NOT raise </a:t>
                </a:r>
                <a:r>
                  <a:rPr lang="en-US" altLang="zh-TW" sz="1800" dirty="0">
                    <a:latin typeface="Fira Code" panose="020B0509050000020004" pitchFamily="49" charset="0"/>
                    <a:ea typeface="Fira Code" panose="020B0509050000020004" pitchFamily="49" charset="0"/>
                  </a:rPr>
                  <a:t>enter</a:t>
                </a:r>
                <a:r>
                  <a:rPr lang="en-US" altLang="zh-TW" dirty="0"/>
                  <a:t>)</a:t>
                </a:r>
              </a:p>
              <a:p>
                <a:pPr lvl="1"/>
                <a:r>
                  <a:rPr lang="en-US" altLang="zh-TW" sz="1600" dirty="0" err="1">
                    <a:latin typeface="Fira Code" pitchFamily="1" charset="0"/>
                    <a:ea typeface="Fira Code" pitchFamily="1" charset="0"/>
                    <a:cs typeface="Fira Code" pitchFamily="1" charset="0"/>
                  </a:rPr>
                  <a:t>ch_d</a:t>
                </a:r>
                <a:r>
                  <a:rPr lang="en-US" altLang="zh-TW" sz="1600" dirty="0">
                    <a:latin typeface="Fira Code" pitchFamily="1" charset="0"/>
                    <a:ea typeface="Fira Code" pitchFamily="1" charset="0"/>
                    <a:cs typeface="Fira Code" pitchFamily="1" charset="0"/>
                  </a:rPr>
                  <a:t>[0:3]</a:t>
                </a:r>
                <a:r>
                  <a:rPr lang="en-US" altLang="zh-TW" dirty="0"/>
                  <a:t>:	new 4-digit password</a:t>
                </a: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2040583-7599-8BAB-1C90-E4EE44AADA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722" t="-9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14A39BD-160A-2317-E061-4EA322D30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ED870F-9485-4D56-AFF4-B9828BB10F8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CDFA817E-4DE3-D816-2B12-F76F0D97078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42448" y="1516302"/>
            <a:ext cx="3326160" cy="1840690"/>
          </a:xfrm>
          <a:prstGeom prst="rect">
            <a:avLst/>
          </a:prstGeom>
        </p:spPr>
      </p:pic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D52E0199-F777-B8C2-5E24-84B112512E52}"/>
              </a:ext>
            </a:extLst>
          </p:cNvPr>
          <p:cNvCxnSpPr>
            <a:cxnSpLocks/>
          </p:cNvCxnSpPr>
          <p:nvPr/>
        </p:nvCxnSpPr>
        <p:spPr>
          <a:xfrm flipV="1">
            <a:off x="8904312" y="1916992"/>
            <a:ext cx="0" cy="1440000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128BCA02-05C5-EE29-1886-D7C98307C1F3}"/>
              </a:ext>
            </a:extLst>
          </p:cNvPr>
          <p:cNvCxnSpPr>
            <a:cxnSpLocks/>
          </p:cNvCxnSpPr>
          <p:nvPr/>
        </p:nvCxnSpPr>
        <p:spPr>
          <a:xfrm flipV="1">
            <a:off x="9984432" y="1916992"/>
            <a:ext cx="0" cy="1440000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40ADD9FB-58EE-9B1C-8D63-0573F30DC172}"/>
              </a:ext>
            </a:extLst>
          </p:cNvPr>
          <p:cNvCxnSpPr>
            <a:cxnSpLocks/>
          </p:cNvCxnSpPr>
          <p:nvPr/>
        </p:nvCxnSpPr>
        <p:spPr>
          <a:xfrm flipV="1">
            <a:off x="10272464" y="1916992"/>
            <a:ext cx="0" cy="1440000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76E0017-A00F-1DF3-C8DC-2DC5862C7DDF}"/>
              </a:ext>
            </a:extLst>
          </p:cNvPr>
          <p:cNvSpPr txBox="1"/>
          <p:nvPr/>
        </p:nvSpPr>
        <p:spPr>
          <a:xfrm>
            <a:off x="8400256" y="3603792"/>
            <a:ext cx="11748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 err="1">
                <a:solidFill>
                  <a:schemeClr val="accent6">
                    <a:lumMod val="75000"/>
                  </a:schemeClr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lock_flag</a:t>
            </a:r>
            <a:endParaRPr lang="zh-TW" altLang="en-US" sz="1400" dirty="0">
              <a:solidFill>
                <a:schemeClr val="accent6">
                  <a:lumMod val="75000"/>
                </a:schemeClr>
              </a:solidFill>
              <a:latin typeface="Fira Code" pitchFamily="1" charset="0"/>
              <a:cs typeface="Fira Code" pitchFamily="1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84A6A16-741E-D869-BA10-F311737BE448}"/>
              </a:ext>
            </a:extLst>
          </p:cNvPr>
          <p:cNvSpPr txBox="1"/>
          <p:nvPr/>
        </p:nvSpPr>
        <p:spPr>
          <a:xfrm>
            <a:off x="9912424" y="3603791"/>
            <a:ext cx="9498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 err="1">
                <a:solidFill>
                  <a:schemeClr val="accent6">
                    <a:lumMod val="75000"/>
                  </a:schemeClr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in_type</a:t>
            </a:r>
            <a:endParaRPr lang="zh-TW" altLang="en-US" sz="1400" dirty="0">
              <a:solidFill>
                <a:schemeClr val="accent6">
                  <a:lumMod val="75000"/>
                </a:schemeClr>
              </a:solidFill>
              <a:latin typeface="Fira Code" pitchFamily="1" charset="0"/>
              <a:cs typeface="Fira Code" pitchFamily="1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81E6B34-1236-5D89-148C-A1241F36A0BC}"/>
              </a:ext>
            </a:extLst>
          </p:cNvPr>
          <p:cNvSpPr txBox="1"/>
          <p:nvPr/>
        </p:nvSpPr>
        <p:spPr>
          <a:xfrm>
            <a:off x="9104916" y="1204550"/>
            <a:ext cx="11748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 err="1">
                <a:solidFill>
                  <a:schemeClr val="accent6">
                    <a:lumMod val="75000"/>
                  </a:schemeClr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in_d</a:t>
            </a:r>
            <a:r>
              <a:rPr lang="en-US" altLang="zh-TW" sz="1400" dirty="0">
                <a:solidFill>
                  <a:schemeClr val="accent6">
                    <a:lumMod val="75000"/>
                  </a:schemeClr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[0:3]</a:t>
            </a:r>
            <a:endParaRPr lang="zh-TW" altLang="en-US" sz="1400" dirty="0">
              <a:solidFill>
                <a:schemeClr val="accent6">
                  <a:lumMod val="75000"/>
                </a:schemeClr>
              </a:solidFill>
              <a:latin typeface="Fira Code" pitchFamily="1" charset="0"/>
              <a:cs typeface="Fira Code" pitchFamily="1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91F04B52-8D6D-CB74-5342-236767B3C727}"/>
              </a:ext>
            </a:extLst>
          </p:cNvPr>
          <p:cNvSpPr txBox="1"/>
          <p:nvPr/>
        </p:nvSpPr>
        <p:spPr>
          <a:xfrm>
            <a:off x="10416480" y="1204549"/>
            <a:ext cx="11748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 err="1">
                <a:solidFill>
                  <a:schemeClr val="accent6">
                    <a:lumMod val="75000"/>
                  </a:schemeClr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ch_d</a:t>
            </a:r>
            <a:r>
              <a:rPr lang="en-US" altLang="zh-TW" sz="1400" dirty="0">
                <a:solidFill>
                  <a:schemeClr val="accent6">
                    <a:lumMod val="75000"/>
                  </a:schemeClr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[0:3]</a:t>
            </a:r>
            <a:endParaRPr lang="zh-TW" altLang="en-US" sz="1400" dirty="0">
              <a:solidFill>
                <a:schemeClr val="accent6">
                  <a:lumMod val="75000"/>
                </a:schemeClr>
              </a:solidFill>
              <a:latin typeface="Fira Code" pitchFamily="1" charset="0"/>
              <a:cs typeface="Fira Code" pitchFamily="1" charset="0"/>
            </a:endParaRPr>
          </a:p>
        </p:txBody>
      </p:sp>
      <p:cxnSp>
        <p:nvCxnSpPr>
          <p:cNvPr id="30" name="直線單箭頭接點 29">
            <a:extLst>
              <a:ext uri="{FF2B5EF4-FFF2-40B4-BE49-F238E27FC236}">
                <a16:creationId xmlns:a16="http://schemas.microsoft.com/office/drawing/2014/main" id="{00719C54-0064-CA06-CF3A-63755A054B50}"/>
              </a:ext>
            </a:extLst>
          </p:cNvPr>
          <p:cNvCxnSpPr>
            <a:cxnSpLocks/>
          </p:cNvCxnSpPr>
          <p:nvPr/>
        </p:nvCxnSpPr>
        <p:spPr>
          <a:xfrm>
            <a:off x="8760296" y="3164817"/>
            <a:ext cx="0" cy="438975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B8D3910A-D339-0AD3-2E86-65063B563806}"/>
              </a:ext>
            </a:extLst>
          </p:cNvPr>
          <p:cNvCxnSpPr>
            <a:cxnSpLocks/>
          </p:cNvCxnSpPr>
          <p:nvPr/>
        </p:nvCxnSpPr>
        <p:spPr>
          <a:xfrm>
            <a:off x="10122660" y="3173627"/>
            <a:ext cx="0" cy="438975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D5B394CF-C6ED-9292-AF3E-2494A2D4A90C}"/>
              </a:ext>
            </a:extLst>
          </p:cNvPr>
          <p:cNvCxnSpPr>
            <a:cxnSpLocks/>
          </p:cNvCxnSpPr>
          <p:nvPr/>
        </p:nvCxnSpPr>
        <p:spPr>
          <a:xfrm flipV="1">
            <a:off x="9552384" y="1516302"/>
            <a:ext cx="0" cy="472538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>
            <a:extLst>
              <a:ext uri="{FF2B5EF4-FFF2-40B4-BE49-F238E27FC236}">
                <a16:creationId xmlns:a16="http://schemas.microsoft.com/office/drawing/2014/main" id="{151D2CA9-747E-5953-5B02-E9034C968344}"/>
              </a:ext>
            </a:extLst>
          </p:cNvPr>
          <p:cNvCxnSpPr>
            <a:cxnSpLocks/>
          </p:cNvCxnSpPr>
          <p:nvPr/>
        </p:nvCxnSpPr>
        <p:spPr>
          <a:xfrm flipV="1">
            <a:off x="10776520" y="1516302"/>
            <a:ext cx="0" cy="76057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540484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3C6DC6-F7E2-4089-A51C-165C1D26F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>
                <a:latin typeface="Fira Code" panose="020B0509050000020004" pitchFamily="49" charset="0"/>
                <a:ea typeface="Fira Code" panose="020B0509050000020004" pitchFamily="49" charset="0"/>
              </a:rPr>
              <a:t>PATTERN.sv</a:t>
            </a:r>
            <a:r>
              <a:rPr lang="en-US" altLang="zh-TW" dirty="0">
                <a:ea typeface="Fira Code" panose="020B0509050000020004" pitchFamily="49" charset="0"/>
              </a:rPr>
              <a:t> (</a:t>
            </a:r>
            <a:r>
              <a:rPr lang="en-US" altLang="zh-TW" sz="2800" dirty="0">
                <a:latin typeface="Fira Code" panose="020B0509050000020004" pitchFamily="49" charset="0"/>
                <a:ea typeface="Fira Code" panose="020B0509050000020004" pitchFamily="49" charset="0"/>
              </a:rPr>
              <a:t>input.txt</a:t>
            </a:r>
            <a:r>
              <a:rPr lang="en-US" altLang="zh-TW" dirty="0">
                <a:ea typeface="Fira Code" panose="020B0509050000020004" pitchFamily="49" charset="0"/>
              </a:rPr>
              <a:t> example)</a:t>
            </a:r>
            <a:endParaRPr lang="zh-TW" altLang="en-US" sz="28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A97BF42-D97B-4629-B5F9-D5C731740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ED870F-9485-4D56-AFF4-B9828BB10F8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4DFE8EF-2846-BC6D-7038-6070AB09D66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599" y="1412776"/>
            <a:ext cx="3470313" cy="4827785"/>
          </a:xfrm>
          <a:prstGeom prst="rect">
            <a:avLst/>
          </a:prstGeom>
        </p:spPr>
      </p:pic>
      <p:grpSp>
        <p:nvGrpSpPr>
          <p:cNvPr id="28" name="群組 27">
            <a:extLst>
              <a:ext uri="{FF2B5EF4-FFF2-40B4-BE49-F238E27FC236}">
                <a16:creationId xmlns:a16="http://schemas.microsoft.com/office/drawing/2014/main" id="{D914592F-548F-4B9A-6E1D-58EB81182DA8}"/>
              </a:ext>
            </a:extLst>
          </p:cNvPr>
          <p:cNvGrpSpPr/>
          <p:nvPr/>
        </p:nvGrpSpPr>
        <p:grpSpPr>
          <a:xfrm>
            <a:off x="3863752" y="1588150"/>
            <a:ext cx="4873848" cy="369332"/>
            <a:chOff x="3863752" y="1588150"/>
            <a:chExt cx="4873848" cy="369332"/>
          </a:xfrm>
        </p:grpSpPr>
        <p:cxnSp>
          <p:nvCxnSpPr>
            <p:cNvPr id="10" name="直線單箭頭接點 9">
              <a:extLst>
                <a:ext uri="{FF2B5EF4-FFF2-40B4-BE49-F238E27FC236}">
                  <a16:creationId xmlns:a16="http://schemas.microsoft.com/office/drawing/2014/main" id="{374EAF0A-8E3B-A0FC-025F-2FFA46008F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3752" y="1772816"/>
              <a:ext cx="648072" cy="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字方塊 21">
                  <a:extLst>
                    <a:ext uri="{FF2B5EF4-FFF2-40B4-BE49-F238E27FC236}">
                      <a16:creationId xmlns:a16="http://schemas.microsoft.com/office/drawing/2014/main" id="{185043B6-88E9-EAC7-76F7-8AA810AF310A}"/>
                    </a:ext>
                  </a:extLst>
                </p:cNvPr>
                <p:cNvSpPr txBox="1"/>
                <p:nvPr/>
              </p:nvSpPr>
              <p:spPr>
                <a:xfrm>
                  <a:off x="4590977" y="1588150"/>
                  <a:ext cx="41466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TW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TW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TW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TW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𝐞𝐧𝐭𝐞𝐫</m:t>
                        </m:r>
                      </m:oMath>
                    </m:oMathPara>
                  </a14:m>
                  <a:endParaRPr lang="zh-TW" altLang="en-US" b="1" dirty="0">
                    <a:solidFill>
                      <a:srgbClr val="FF0000"/>
                    </a:solidFill>
                    <a:latin typeface="Fira Code" panose="020B0509050000020004" pitchFamily="49" charset="0"/>
                  </a:endParaRPr>
                </a:p>
              </p:txBody>
            </p:sp>
          </mc:Choice>
          <mc:Fallback xmlns="">
            <p:sp>
              <p:nvSpPr>
                <p:cNvPr id="22" name="文字方塊 21">
                  <a:extLst>
                    <a:ext uri="{FF2B5EF4-FFF2-40B4-BE49-F238E27FC236}">
                      <a16:creationId xmlns:a16="http://schemas.microsoft.com/office/drawing/2014/main" id="{185043B6-88E9-EAC7-76F7-8AA810AF31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0977" y="1588150"/>
                  <a:ext cx="4146623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FA745869-971A-BB08-D101-F0AC81060DF3}"/>
              </a:ext>
            </a:extLst>
          </p:cNvPr>
          <p:cNvGrpSpPr/>
          <p:nvPr/>
        </p:nvGrpSpPr>
        <p:grpSpPr>
          <a:xfrm>
            <a:off x="3863752" y="1876182"/>
            <a:ext cx="6696744" cy="369332"/>
            <a:chOff x="3863752" y="1876182"/>
            <a:chExt cx="6696744" cy="369332"/>
          </a:xfrm>
        </p:grpSpPr>
        <p:cxnSp>
          <p:nvCxnSpPr>
            <p:cNvPr id="12" name="直線單箭頭接點 11">
              <a:extLst>
                <a:ext uri="{FF2B5EF4-FFF2-40B4-BE49-F238E27FC236}">
                  <a16:creationId xmlns:a16="http://schemas.microsoft.com/office/drawing/2014/main" id="{89F4E524-DAE6-AE13-7097-ACC7167465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3752" y="2060848"/>
              <a:ext cx="648072" cy="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字方塊 22">
                  <a:extLst>
                    <a:ext uri="{FF2B5EF4-FFF2-40B4-BE49-F238E27FC236}">
                      <a16:creationId xmlns:a16="http://schemas.microsoft.com/office/drawing/2014/main" id="{63CD7F7D-EAB7-8E6E-3690-01CC8A48C74F}"/>
                    </a:ext>
                  </a:extLst>
                </p:cNvPr>
                <p:cNvSpPr txBox="1"/>
                <p:nvPr/>
              </p:nvSpPr>
              <p:spPr>
                <a:xfrm>
                  <a:off x="4590976" y="1876182"/>
                  <a:ext cx="596952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  <m:r>
                          <a:rPr lang="en-US" altLang="zh-TW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TW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  <m:r>
                          <a:rPr lang="en-US" altLang="zh-TW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TW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  <m:r>
                          <a:rPr lang="en-US" altLang="zh-TW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TW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TW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TW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𝐜𝐡𝐚𝐧𝐠𝐞</m:t>
                        </m:r>
                        <m:r>
                          <a:rPr lang="en-US" altLang="zh-TW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TW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  <m:r>
                          <a:rPr lang="en-US" altLang="zh-TW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TW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TW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TW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TW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TW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oMath>
                    </m:oMathPara>
                  </a14:m>
                  <a:endParaRPr lang="zh-TW" altLang="en-US" b="1" dirty="0">
                    <a:solidFill>
                      <a:srgbClr val="FF0000"/>
                    </a:solidFill>
                    <a:latin typeface="Fira Code" panose="020B0509050000020004" pitchFamily="49" charset="0"/>
                  </a:endParaRPr>
                </a:p>
              </p:txBody>
            </p:sp>
          </mc:Choice>
          <mc:Fallback xmlns="">
            <p:sp>
              <p:nvSpPr>
                <p:cNvPr id="23" name="文字方塊 22">
                  <a:extLst>
                    <a:ext uri="{FF2B5EF4-FFF2-40B4-BE49-F238E27FC236}">
                      <a16:creationId xmlns:a16="http://schemas.microsoft.com/office/drawing/2014/main" id="{63CD7F7D-EAB7-8E6E-3690-01CC8A48C7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0976" y="1876182"/>
                  <a:ext cx="5969520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7BCEC3E6-7F90-D92E-01C7-6888CF99E74F}"/>
              </a:ext>
            </a:extLst>
          </p:cNvPr>
          <p:cNvGrpSpPr/>
          <p:nvPr/>
        </p:nvGrpSpPr>
        <p:grpSpPr>
          <a:xfrm>
            <a:off x="3863752" y="2812286"/>
            <a:ext cx="6696744" cy="369332"/>
            <a:chOff x="3863752" y="2812286"/>
            <a:chExt cx="6696744" cy="369332"/>
          </a:xfrm>
        </p:grpSpPr>
        <p:cxnSp>
          <p:nvCxnSpPr>
            <p:cNvPr id="13" name="直線單箭頭接點 12">
              <a:extLst>
                <a:ext uri="{FF2B5EF4-FFF2-40B4-BE49-F238E27FC236}">
                  <a16:creationId xmlns:a16="http://schemas.microsoft.com/office/drawing/2014/main" id="{D58EC016-6F83-5B24-B1F3-C8CF9DA296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3752" y="2996952"/>
              <a:ext cx="648072" cy="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字方塊 25">
                  <a:extLst>
                    <a:ext uri="{FF2B5EF4-FFF2-40B4-BE49-F238E27FC236}">
                      <a16:creationId xmlns:a16="http://schemas.microsoft.com/office/drawing/2014/main" id="{B7681D5C-DC88-37FB-9A94-5011CD64C588}"/>
                    </a:ext>
                  </a:extLst>
                </p:cNvPr>
                <p:cNvSpPr txBox="1"/>
                <p:nvPr/>
              </p:nvSpPr>
              <p:spPr>
                <a:xfrm>
                  <a:off x="4590976" y="2812286"/>
                  <a:ext cx="596952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TW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TW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TW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TW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TW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TW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n-US" altLang="zh-TW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TW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𝐞𝐧𝐭𝐞𝐫</m:t>
                        </m:r>
                        <m:r>
                          <a:rPr lang="en-US" altLang="zh-TW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n-US" altLang="zh-TW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𝐢𝐟</m:t>
                        </m:r>
                        <m:r>
                          <a:rPr lang="en-US" altLang="zh-TW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𝐜𝐨𝐫𝐫𝐞𝐜𝐭</m:t>
                        </m:r>
                        <m:r>
                          <a:rPr lang="en-US" altLang="zh-TW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𝐩𝐚𝐬𝐬𝐰𝐝</m:t>
                        </m:r>
                        <m:r>
                          <a:rPr lang="en-US" altLang="zh-TW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TW" altLang="en-US" b="1" dirty="0">
                    <a:solidFill>
                      <a:srgbClr val="FF0000"/>
                    </a:solidFill>
                    <a:latin typeface="Fira Code" panose="020B0509050000020004" pitchFamily="49" charset="0"/>
                  </a:endParaRPr>
                </a:p>
              </p:txBody>
            </p:sp>
          </mc:Choice>
          <mc:Fallback xmlns="">
            <p:sp>
              <p:nvSpPr>
                <p:cNvPr id="26" name="文字方塊 25">
                  <a:extLst>
                    <a:ext uri="{FF2B5EF4-FFF2-40B4-BE49-F238E27FC236}">
                      <a16:creationId xmlns:a16="http://schemas.microsoft.com/office/drawing/2014/main" id="{B7681D5C-DC88-37FB-9A94-5011CD64C5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0976" y="2812286"/>
                  <a:ext cx="5969520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E946CB00-5858-6B52-7820-DD056F4523CE}"/>
              </a:ext>
            </a:extLst>
          </p:cNvPr>
          <p:cNvGrpSpPr/>
          <p:nvPr/>
        </p:nvGrpSpPr>
        <p:grpSpPr>
          <a:xfrm>
            <a:off x="3863752" y="3670734"/>
            <a:ext cx="6696744" cy="369332"/>
            <a:chOff x="3863752" y="3670734"/>
            <a:chExt cx="6696744" cy="369332"/>
          </a:xfrm>
        </p:grpSpPr>
        <p:cxnSp>
          <p:nvCxnSpPr>
            <p:cNvPr id="15" name="直線單箭頭接點 14">
              <a:extLst>
                <a:ext uri="{FF2B5EF4-FFF2-40B4-BE49-F238E27FC236}">
                  <a16:creationId xmlns:a16="http://schemas.microsoft.com/office/drawing/2014/main" id="{31D98E68-7E9C-CB97-2046-3372BDCC8A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3752" y="3861048"/>
              <a:ext cx="648072" cy="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字方塊 26">
                  <a:extLst>
                    <a:ext uri="{FF2B5EF4-FFF2-40B4-BE49-F238E27FC236}">
                      <a16:creationId xmlns:a16="http://schemas.microsoft.com/office/drawing/2014/main" id="{02C1D26F-8347-4C7D-ED75-57AA26BA9D5B}"/>
                    </a:ext>
                  </a:extLst>
                </p:cNvPr>
                <p:cNvSpPr txBox="1"/>
                <p:nvPr/>
              </p:nvSpPr>
              <p:spPr>
                <a:xfrm>
                  <a:off x="4590976" y="3670734"/>
                  <a:ext cx="596952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𝐥𝐨𝐜𝐤</m:t>
                        </m:r>
                        <m:r>
                          <a:rPr lang="en-US" altLang="zh-TW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𝐫𝐞𝐬𝐞𝐭</m:t>
                        </m:r>
                      </m:oMath>
                    </m:oMathPara>
                  </a14:m>
                  <a:endParaRPr lang="zh-TW" altLang="en-US" b="1" dirty="0">
                    <a:solidFill>
                      <a:srgbClr val="FF0000"/>
                    </a:solidFill>
                    <a:latin typeface="Fira Code" panose="020B0509050000020004" pitchFamily="49" charset="0"/>
                  </a:endParaRPr>
                </a:p>
              </p:txBody>
            </p:sp>
          </mc:Choice>
          <mc:Fallback xmlns="">
            <p:sp>
              <p:nvSpPr>
                <p:cNvPr id="27" name="文字方塊 26">
                  <a:extLst>
                    <a:ext uri="{FF2B5EF4-FFF2-40B4-BE49-F238E27FC236}">
                      <a16:creationId xmlns:a16="http://schemas.microsoft.com/office/drawing/2014/main" id="{02C1D26F-8347-4C7D-ED75-57AA26BA9D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0976" y="3670734"/>
                  <a:ext cx="5969520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2" name="群組 31">
            <a:extLst>
              <a:ext uri="{FF2B5EF4-FFF2-40B4-BE49-F238E27FC236}">
                <a16:creationId xmlns:a16="http://schemas.microsoft.com/office/drawing/2014/main" id="{09C1365C-6D67-731E-549D-3CEDA997D873}"/>
              </a:ext>
            </a:extLst>
          </p:cNvPr>
          <p:cNvGrpSpPr/>
          <p:nvPr/>
        </p:nvGrpSpPr>
        <p:grpSpPr>
          <a:xfrm>
            <a:off x="3863752" y="4587832"/>
            <a:ext cx="6696744" cy="369332"/>
            <a:chOff x="3863752" y="2812286"/>
            <a:chExt cx="6696744" cy="369332"/>
          </a:xfrm>
        </p:grpSpPr>
        <p:cxnSp>
          <p:nvCxnSpPr>
            <p:cNvPr id="33" name="直線單箭頭接點 32">
              <a:extLst>
                <a:ext uri="{FF2B5EF4-FFF2-40B4-BE49-F238E27FC236}">
                  <a16:creationId xmlns:a16="http://schemas.microsoft.com/office/drawing/2014/main" id="{55A9FFA2-4926-F9D1-BF03-76FF967E2A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3752" y="2996952"/>
              <a:ext cx="648072" cy="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字方塊 33">
                  <a:extLst>
                    <a:ext uri="{FF2B5EF4-FFF2-40B4-BE49-F238E27FC236}">
                      <a16:creationId xmlns:a16="http://schemas.microsoft.com/office/drawing/2014/main" id="{35554CB0-CC9B-06F8-A1BE-8D2A4C5160E3}"/>
                    </a:ext>
                  </a:extLst>
                </p:cNvPr>
                <p:cNvSpPr txBox="1"/>
                <p:nvPr/>
              </p:nvSpPr>
              <p:spPr>
                <a:xfrm>
                  <a:off x="4590976" y="2812286"/>
                  <a:ext cx="596952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TW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TW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  <m:r>
                          <a:rPr lang="en-US" altLang="zh-TW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TW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  <m:r>
                          <a:rPr lang="en-US" altLang="zh-TW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TW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𝐞𝐧𝐭𝐞𝐫</m:t>
                        </m:r>
                      </m:oMath>
                    </m:oMathPara>
                  </a14:m>
                  <a:endParaRPr lang="zh-TW" altLang="en-US" b="1" dirty="0">
                    <a:solidFill>
                      <a:srgbClr val="FF0000"/>
                    </a:solidFill>
                    <a:latin typeface="Fira Code" panose="020B0509050000020004" pitchFamily="49" charset="0"/>
                  </a:endParaRPr>
                </a:p>
              </p:txBody>
            </p:sp>
          </mc:Choice>
          <mc:Fallback xmlns="">
            <p:sp>
              <p:nvSpPr>
                <p:cNvPr id="34" name="文字方塊 33">
                  <a:extLst>
                    <a:ext uri="{FF2B5EF4-FFF2-40B4-BE49-F238E27FC236}">
                      <a16:creationId xmlns:a16="http://schemas.microsoft.com/office/drawing/2014/main" id="{35554CB0-CC9B-06F8-A1BE-8D2A4C5160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0976" y="2812286"/>
                  <a:ext cx="5969520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custDataLst>
      <p:tags r:id="rId1"/>
    </p:custDataLst>
    <p:extLst>
      <p:ext uri="{BB962C8B-B14F-4D97-AF65-F5344CB8AC3E}">
        <p14:creationId xmlns:p14="http://schemas.microsoft.com/office/powerpoint/2010/main" val="902998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83EA3-897B-1208-31B2-0BE3E48B1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5C5A24-16B3-B248-1ECA-E188CCC4B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>
                <a:latin typeface="Fira Code" panose="020B0509050000020004" pitchFamily="49" charset="0"/>
                <a:ea typeface="Fira Code" panose="020B0509050000020004" pitchFamily="49" charset="0"/>
              </a:rPr>
              <a:t>PATTERN.sv</a:t>
            </a:r>
            <a:endParaRPr lang="zh-TW" altLang="en-US" sz="2800" dirty="0">
              <a:latin typeface="Fira Code" panose="020B0509050000020004" pitchFamily="49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83E423D-2A32-52A4-5464-0A2BF4B4E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ED870F-9485-4D56-AFF4-B9828BB10F8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F1281862-57B0-C87E-0674-5F98DB3478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706366" y="1268761"/>
            <a:ext cx="8779267" cy="508759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56530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536A07-141A-4E2F-BA83-70E48CFAB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Specifications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EA10F09-E91B-4549-A4A5-E6C97BB65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ED870F-9485-4D56-AFF4-B9828BB10F8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0099B04-73BC-4215-AFC2-47C3E917E5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9928067"/>
              </p:ext>
            </p:extLst>
          </p:nvPr>
        </p:nvGraphicFramePr>
        <p:xfrm>
          <a:off x="609600" y="2204864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5920">
                  <a:extLst>
                    <a:ext uri="{9D8B030D-6E8A-4147-A177-3AD203B41FA5}">
                      <a16:colId xmlns:a16="http://schemas.microsoft.com/office/drawing/2014/main" val="3688364147"/>
                    </a:ext>
                  </a:extLst>
                </a:gridCol>
                <a:gridCol w="9806880">
                  <a:extLst>
                    <a:ext uri="{9D8B030D-6E8A-4147-A177-3AD203B41FA5}">
                      <a16:colId xmlns:a16="http://schemas.microsoft.com/office/drawing/2014/main" val="9816797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Check #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Description</a:t>
                      </a:r>
                      <a:endParaRPr lang="zh-TW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0681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Output must be 0 after reset.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8026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State should be LOCKED after early enter.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4678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UNLOCKED mode not set after correct passwd.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4543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State should be LOCKED after a wrong attempt. (within 2 wrong attempts)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861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350" dirty="0"/>
                        <a:t>ALARM mode not set after 3 wrong attempts or early release before </a:t>
                      </a:r>
                      <a:r>
                        <a:rPr lang="en-US" altLang="zh-TW" sz="1600" dirty="0" err="1">
                          <a:latin typeface="Fira Code" pitchFamily="1" charset="0"/>
                          <a:ea typeface="Fira Code" pitchFamily="1" charset="0"/>
                          <a:cs typeface="Fira Code" pitchFamily="1" charset="0"/>
                        </a:rPr>
                        <a:t>lock_reset</a:t>
                      </a:r>
                      <a:r>
                        <a:rPr lang="en-US" altLang="zh-TW" sz="2350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7711171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54511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635933-CC8E-45F1-ACDE-5E3101FC1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Check 0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C2BD4F2-AEE2-48F4-B7C1-FA2E15629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ED870F-9485-4D56-AFF4-B9828BB10F8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7BA03A6-1EF2-49B0-B7E1-625662B8C1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96000" y="4741787"/>
            <a:ext cx="9000000" cy="1614564"/>
          </a:xfrm>
          <a:prstGeom prst="rect">
            <a:avLst/>
          </a:prstGeom>
        </p:spPr>
      </p:pic>
      <p:grpSp>
        <p:nvGrpSpPr>
          <p:cNvPr id="9" name="群組 8">
            <a:extLst>
              <a:ext uri="{FF2B5EF4-FFF2-40B4-BE49-F238E27FC236}">
                <a16:creationId xmlns:a16="http://schemas.microsoft.com/office/drawing/2014/main" id="{7F3601DD-1153-486A-F3FE-FD765D12CED3}"/>
              </a:ext>
            </a:extLst>
          </p:cNvPr>
          <p:cNvGrpSpPr/>
          <p:nvPr/>
        </p:nvGrpSpPr>
        <p:grpSpPr>
          <a:xfrm>
            <a:off x="1596000" y="1268760"/>
            <a:ext cx="9000000" cy="2332800"/>
            <a:chOff x="1596000" y="1384550"/>
            <a:chExt cx="9000000" cy="2332800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9E8F153A-1C68-4711-A8D0-94EA48DEB7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596000" y="1384574"/>
              <a:ext cx="9000000" cy="2332776"/>
            </a:xfrm>
            <a:prstGeom prst="rect">
              <a:avLst/>
            </a:prstGeom>
          </p:spPr>
        </p:pic>
        <p:cxnSp>
          <p:nvCxnSpPr>
            <p:cNvPr id="8" name="直線接點 7">
              <a:extLst>
                <a:ext uri="{FF2B5EF4-FFF2-40B4-BE49-F238E27FC236}">
                  <a16:creationId xmlns:a16="http://schemas.microsoft.com/office/drawing/2014/main" id="{508B0995-2A30-8961-F62A-696F91E2E412}"/>
                </a:ext>
              </a:extLst>
            </p:cNvPr>
            <p:cNvCxnSpPr/>
            <p:nvPr/>
          </p:nvCxnSpPr>
          <p:spPr>
            <a:xfrm>
              <a:off x="8112224" y="1384550"/>
              <a:ext cx="0" cy="2332800"/>
            </a:xfrm>
            <a:prstGeom prst="line">
              <a:avLst/>
            </a:prstGeom>
            <a:ln w="38100">
              <a:solidFill>
                <a:schemeClr val="bg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語音泡泡: 圓角矩形 6">
            <a:extLst>
              <a:ext uri="{FF2B5EF4-FFF2-40B4-BE49-F238E27FC236}">
                <a16:creationId xmlns:a16="http://schemas.microsoft.com/office/drawing/2014/main" id="{A014B8E2-C324-4E29-A4B3-DF1342132CC5}"/>
              </a:ext>
            </a:extLst>
          </p:cNvPr>
          <p:cNvSpPr/>
          <p:nvPr/>
        </p:nvSpPr>
        <p:spPr>
          <a:xfrm>
            <a:off x="5735960" y="3804004"/>
            <a:ext cx="2664296" cy="735339"/>
          </a:xfrm>
          <a:prstGeom prst="wedgeRoundRectCallout">
            <a:avLst>
              <a:gd name="adj1" fmla="val 37599"/>
              <a:gd name="adj2" fmla="val -11581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Report this error if any output is not 0 after reset.</a:t>
            </a:r>
            <a:endParaRPr lang="zh-TW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58392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17F7E-475A-913D-CAF1-B5897A24C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BCF7C4-0217-ACC1-C6BC-324EC28C0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Check 1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7B60FD7-9B5D-3076-4EBB-F2944946C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ED870F-9485-4D56-AFF4-B9828BB10F8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E6F4511-D04E-0F82-7703-1F7F0B29BF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96000" y="4744060"/>
            <a:ext cx="9000000" cy="1610018"/>
          </a:xfrm>
          <a:prstGeom prst="rect">
            <a:avLst/>
          </a:prstGeom>
        </p:spPr>
      </p:pic>
      <p:grpSp>
        <p:nvGrpSpPr>
          <p:cNvPr id="9" name="群組 8">
            <a:extLst>
              <a:ext uri="{FF2B5EF4-FFF2-40B4-BE49-F238E27FC236}">
                <a16:creationId xmlns:a16="http://schemas.microsoft.com/office/drawing/2014/main" id="{F3875184-9624-CB48-B6B2-531D7627572E}"/>
              </a:ext>
            </a:extLst>
          </p:cNvPr>
          <p:cNvGrpSpPr/>
          <p:nvPr/>
        </p:nvGrpSpPr>
        <p:grpSpPr>
          <a:xfrm>
            <a:off x="2079048" y="1268760"/>
            <a:ext cx="8033904" cy="2332800"/>
            <a:chOff x="2079048" y="1384550"/>
            <a:chExt cx="8033904" cy="2332800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D9C8B787-EF33-2BCA-82DB-B9B1A583C0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079048" y="1384574"/>
              <a:ext cx="8033904" cy="2332776"/>
            </a:xfrm>
            <a:prstGeom prst="rect">
              <a:avLst/>
            </a:prstGeom>
          </p:spPr>
        </p:pic>
        <p:cxnSp>
          <p:nvCxnSpPr>
            <p:cNvPr id="8" name="直線接點 7">
              <a:extLst>
                <a:ext uri="{FF2B5EF4-FFF2-40B4-BE49-F238E27FC236}">
                  <a16:creationId xmlns:a16="http://schemas.microsoft.com/office/drawing/2014/main" id="{B7B0A81D-117B-5B56-8B60-F0A5A0B3CFEC}"/>
                </a:ext>
              </a:extLst>
            </p:cNvPr>
            <p:cNvCxnSpPr/>
            <p:nvPr/>
          </p:nvCxnSpPr>
          <p:spPr>
            <a:xfrm>
              <a:off x="9264352" y="1384550"/>
              <a:ext cx="0" cy="2332800"/>
            </a:xfrm>
            <a:prstGeom prst="line">
              <a:avLst/>
            </a:prstGeom>
            <a:ln w="38100">
              <a:solidFill>
                <a:schemeClr val="bg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語音泡泡: 圓角矩形 6">
            <a:extLst>
              <a:ext uri="{FF2B5EF4-FFF2-40B4-BE49-F238E27FC236}">
                <a16:creationId xmlns:a16="http://schemas.microsoft.com/office/drawing/2014/main" id="{CC36C3E5-20E9-B07A-C211-389725327747}"/>
              </a:ext>
            </a:extLst>
          </p:cNvPr>
          <p:cNvSpPr/>
          <p:nvPr/>
        </p:nvSpPr>
        <p:spPr>
          <a:xfrm>
            <a:off x="5951986" y="3789040"/>
            <a:ext cx="3672406" cy="735339"/>
          </a:xfrm>
          <a:prstGeom prst="wedgeRoundRectCallout">
            <a:avLst>
              <a:gd name="adj1" fmla="val 38859"/>
              <a:gd name="adj2" fmla="val -10633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Report this error if state is not LOCKED with an enter asserted early.</a:t>
            </a:r>
            <a:endParaRPr lang="zh-TW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411666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DCE0C-7C6C-176F-53FE-E4B87F9E1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897A0A-3F02-7E18-4AFB-82B1FF822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Check 2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379D518-0226-6AE3-48A7-99D28B60B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ED870F-9485-4D56-AFF4-B9828BB10F8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3678CF4-F6CC-3CFB-4D10-0164A23064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82366" y="4741787"/>
            <a:ext cx="5427268" cy="1614564"/>
          </a:xfrm>
          <a:prstGeom prst="rect">
            <a:avLst/>
          </a:prstGeom>
        </p:spPr>
      </p:pic>
      <p:grpSp>
        <p:nvGrpSpPr>
          <p:cNvPr id="9" name="群組 8">
            <a:extLst>
              <a:ext uri="{FF2B5EF4-FFF2-40B4-BE49-F238E27FC236}">
                <a16:creationId xmlns:a16="http://schemas.microsoft.com/office/drawing/2014/main" id="{60416C7D-9375-1CEC-7793-116EA3284946}"/>
              </a:ext>
            </a:extLst>
          </p:cNvPr>
          <p:cNvGrpSpPr/>
          <p:nvPr/>
        </p:nvGrpSpPr>
        <p:grpSpPr>
          <a:xfrm>
            <a:off x="2004669" y="1268760"/>
            <a:ext cx="8182661" cy="2332800"/>
            <a:chOff x="2004669" y="1384550"/>
            <a:chExt cx="8182661" cy="2332800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42201272-5337-12D4-A7FF-C9E1DF03D3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004669" y="1384574"/>
              <a:ext cx="8182661" cy="2332776"/>
            </a:xfrm>
            <a:prstGeom prst="rect">
              <a:avLst/>
            </a:prstGeom>
          </p:spPr>
        </p:pic>
        <p:cxnSp>
          <p:nvCxnSpPr>
            <p:cNvPr id="8" name="直線接點 7">
              <a:extLst>
                <a:ext uri="{FF2B5EF4-FFF2-40B4-BE49-F238E27FC236}">
                  <a16:creationId xmlns:a16="http://schemas.microsoft.com/office/drawing/2014/main" id="{BFF1D609-80A7-F789-5E92-C034FA5E679D}"/>
                </a:ext>
              </a:extLst>
            </p:cNvPr>
            <p:cNvCxnSpPr/>
            <p:nvPr/>
          </p:nvCxnSpPr>
          <p:spPr>
            <a:xfrm>
              <a:off x="9048328" y="1384550"/>
              <a:ext cx="0" cy="2332800"/>
            </a:xfrm>
            <a:prstGeom prst="line">
              <a:avLst/>
            </a:prstGeom>
            <a:ln w="38100">
              <a:solidFill>
                <a:schemeClr val="bg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語音泡泡: 圓角矩形 6">
            <a:extLst>
              <a:ext uri="{FF2B5EF4-FFF2-40B4-BE49-F238E27FC236}">
                <a16:creationId xmlns:a16="http://schemas.microsoft.com/office/drawing/2014/main" id="{0AFA459B-83BE-5A30-0592-977EA2AAB418}"/>
              </a:ext>
            </a:extLst>
          </p:cNvPr>
          <p:cNvSpPr/>
          <p:nvPr/>
        </p:nvSpPr>
        <p:spPr>
          <a:xfrm>
            <a:off x="5447928" y="3804004"/>
            <a:ext cx="3672401" cy="735339"/>
          </a:xfrm>
          <a:prstGeom prst="wedgeRoundRectCallout">
            <a:avLst>
              <a:gd name="adj1" fmla="val 46034"/>
              <a:gd name="adj2" fmla="val -11160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Report this error if the system is not unlocked after a correct password.</a:t>
            </a:r>
            <a:endParaRPr lang="zh-TW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12742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9C1A1-14DB-143B-C0ED-A9312054E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DC6409-F253-EC94-D8C2-9393672E0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Check 3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7DFA5BA-6DA9-E276-F614-2E1E61649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ED870F-9485-4D56-AFF4-B9828BB10F8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5E2C8D5-C16A-EF7C-5924-0AABA2B741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940261" y="4754290"/>
            <a:ext cx="6311477" cy="1589557"/>
          </a:xfrm>
          <a:prstGeom prst="rect">
            <a:avLst/>
          </a:prstGeom>
        </p:spPr>
      </p:pic>
      <p:grpSp>
        <p:nvGrpSpPr>
          <p:cNvPr id="9" name="群組 8">
            <a:extLst>
              <a:ext uri="{FF2B5EF4-FFF2-40B4-BE49-F238E27FC236}">
                <a16:creationId xmlns:a16="http://schemas.microsoft.com/office/drawing/2014/main" id="{2FCEF838-F64E-712B-F00C-0D67AE2EBDA1}"/>
              </a:ext>
            </a:extLst>
          </p:cNvPr>
          <p:cNvGrpSpPr/>
          <p:nvPr/>
        </p:nvGrpSpPr>
        <p:grpSpPr>
          <a:xfrm>
            <a:off x="1899471" y="1268760"/>
            <a:ext cx="8393057" cy="2332800"/>
            <a:chOff x="1899471" y="1384550"/>
            <a:chExt cx="8393057" cy="2332800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0808BF27-2522-15F9-5AEF-C856FFB65A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99471" y="1384574"/>
              <a:ext cx="8393057" cy="2332776"/>
            </a:xfrm>
            <a:prstGeom prst="rect">
              <a:avLst/>
            </a:prstGeom>
          </p:spPr>
        </p:pic>
        <p:cxnSp>
          <p:nvCxnSpPr>
            <p:cNvPr id="8" name="直線接點 7">
              <a:extLst>
                <a:ext uri="{FF2B5EF4-FFF2-40B4-BE49-F238E27FC236}">
                  <a16:creationId xmlns:a16="http://schemas.microsoft.com/office/drawing/2014/main" id="{3E44FADC-4771-3C83-088F-91C342E446B1}"/>
                </a:ext>
              </a:extLst>
            </p:cNvPr>
            <p:cNvCxnSpPr/>
            <p:nvPr/>
          </p:nvCxnSpPr>
          <p:spPr>
            <a:xfrm>
              <a:off x="8472264" y="1384550"/>
              <a:ext cx="0" cy="2332800"/>
            </a:xfrm>
            <a:prstGeom prst="line">
              <a:avLst/>
            </a:prstGeom>
            <a:ln w="38100">
              <a:solidFill>
                <a:schemeClr val="bg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語音泡泡: 圓角矩形 6">
            <a:extLst>
              <a:ext uri="{FF2B5EF4-FFF2-40B4-BE49-F238E27FC236}">
                <a16:creationId xmlns:a16="http://schemas.microsoft.com/office/drawing/2014/main" id="{F339D71B-9EAB-9BC4-60C9-A86CD439A68A}"/>
              </a:ext>
            </a:extLst>
          </p:cNvPr>
          <p:cNvSpPr/>
          <p:nvPr/>
        </p:nvSpPr>
        <p:spPr>
          <a:xfrm>
            <a:off x="4727848" y="3804004"/>
            <a:ext cx="3888431" cy="735339"/>
          </a:xfrm>
          <a:prstGeom prst="wedgeRoundRectCallout">
            <a:avLst>
              <a:gd name="adj1" fmla="val 44041"/>
              <a:gd name="adj2" fmla="val -10527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Report this error if the system is not LOCKED within 2 wrong attempts.</a:t>
            </a:r>
            <a:endParaRPr lang="zh-TW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750037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00E94-154D-1D6D-5DDC-C12C7D273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CF4347-E677-7EEE-42D2-96ED5B728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Check 4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1746E2B-6F7F-629F-92FC-19F536465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ED870F-9485-4D56-AFF4-B9828BB10F8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C2B9114-B748-897B-815B-F4F7C95225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901710" y="4741787"/>
            <a:ext cx="4388578" cy="1614564"/>
          </a:xfrm>
          <a:prstGeom prst="rect">
            <a:avLst/>
          </a:prstGeom>
        </p:spPr>
      </p:pic>
      <p:grpSp>
        <p:nvGrpSpPr>
          <p:cNvPr id="9" name="群組 8">
            <a:extLst>
              <a:ext uri="{FF2B5EF4-FFF2-40B4-BE49-F238E27FC236}">
                <a16:creationId xmlns:a16="http://schemas.microsoft.com/office/drawing/2014/main" id="{551477B6-5AC5-EB71-3C5E-504193DB5A76}"/>
              </a:ext>
            </a:extLst>
          </p:cNvPr>
          <p:cNvGrpSpPr/>
          <p:nvPr/>
        </p:nvGrpSpPr>
        <p:grpSpPr>
          <a:xfrm>
            <a:off x="1778533" y="1268760"/>
            <a:ext cx="8634934" cy="2332800"/>
            <a:chOff x="1778533" y="1384550"/>
            <a:chExt cx="8634934" cy="2332800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0A3F739A-8396-2ED2-155A-B072831B70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778533" y="1384574"/>
              <a:ext cx="8634934" cy="2332776"/>
            </a:xfrm>
            <a:prstGeom prst="rect">
              <a:avLst/>
            </a:prstGeom>
          </p:spPr>
        </p:pic>
        <p:cxnSp>
          <p:nvCxnSpPr>
            <p:cNvPr id="8" name="直線接點 7">
              <a:extLst>
                <a:ext uri="{FF2B5EF4-FFF2-40B4-BE49-F238E27FC236}">
                  <a16:creationId xmlns:a16="http://schemas.microsoft.com/office/drawing/2014/main" id="{0BE1523D-BF16-39C4-739B-298D2E965D5B}"/>
                </a:ext>
              </a:extLst>
            </p:cNvPr>
            <p:cNvCxnSpPr/>
            <p:nvPr/>
          </p:nvCxnSpPr>
          <p:spPr>
            <a:xfrm>
              <a:off x="9048328" y="1384550"/>
              <a:ext cx="0" cy="2332800"/>
            </a:xfrm>
            <a:prstGeom prst="line">
              <a:avLst/>
            </a:prstGeom>
            <a:ln w="38100">
              <a:solidFill>
                <a:schemeClr val="bg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語音泡泡: 圓角矩形 6">
            <a:extLst>
              <a:ext uri="{FF2B5EF4-FFF2-40B4-BE49-F238E27FC236}">
                <a16:creationId xmlns:a16="http://schemas.microsoft.com/office/drawing/2014/main" id="{4F9BD2CC-21A4-84CB-3783-FF22A2542043}"/>
              </a:ext>
            </a:extLst>
          </p:cNvPr>
          <p:cNvSpPr/>
          <p:nvPr/>
        </p:nvSpPr>
        <p:spPr>
          <a:xfrm>
            <a:off x="3503712" y="3805974"/>
            <a:ext cx="5616622" cy="735339"/>
          </a:xfrm>
          <a:prstGeom prst="wedgeRoundRectCallout">
            <a:avLst>
              <a:gd name="adj1" fmla="val 47551"/>
              <a:gd name="adj2" fmla="val -10422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Report this error if ALARM mode is not set or hold after 3 wrong attempts and before lock reset is asserted.</a:t>
            </a:r>
            <a:endParaRPr lang="zh-TW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121221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D02724-F1DF-46D3-8F83-B619073CA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Rules for Pattern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96BCFD9-075F-4E8E-AC6C-2AD4AF364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57314"/>
            <a:ext cx="10972800" cy="5000625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You should reset the design before testing patterns. You should call the task “</a:t>
            </a:r>
            <a:r>
              <a:rPr lang="en-US" altLang="zh-TW" sz="1800" dirty="0">
                <a:latin typeface="Fira Code" panose="020B0509050000020004" pitchFamily="49" charset="0"/>
                <a:ea typeface="Fira Code" panose="020B0509050000020004" pitchFamily="49" charset="0"/>
              </a:rPr>
              <a:t>fail(</a:t>
            </a:r>
            <a:r>
              <a:rPr lang="en-US" altLang="zh-TW" sz="1800" dirty="0" err="1">
                <a:latin typeface="Fira Code" panose="020B0509050000020004" pitchFamily="49" charset="0"/>
                <a:ea typeface="Fira Code" panose="020B0509050000020004" pitchFamily="49" charset="0"/>
              </a:rPr>
              <a:t>check_code</a:t>
            </a:r>
            <a:r>
              <a:rPr lang="en-US" altLang="zh-TW" sz="1800" dirty="0">
                <a:latin typeface="Fira Code" panose="020B0509050000020004" pitchFamily="49" charset="0"/>
                <a:ea typeface="Fira Code" panose="020B0509050000020004" pitchFamily="49" charset="0"/>
              </a:rPr>
              <a:t>);</a:t>
            </a:r>
            <a:r>
              <a:rPr lang="en-US" altLang="zh-TW" dirty="0"/>
              <a:t>” provided by TA when you detect an error and call the task “</a:t>
            </a:r>
            <a:r>
              <a:rPr lang="en-US" altLang="zh-TW" sz="1800" dirty="0" err="1">
                <a:latin typeface="Fira Code" panose="020B0509050000020004" pitchFamily="49" charset="0"/>
                <a:ea typeface="Fira Code" panose="020B0509050000020004" pitchFamily="49" charset="0"/>
              </a:rPr>
              <a:t>YOU_PASS_task</a:t>
            </a:r>
            <a:r>
              <a:rPr lang="en-US" altLang="zh-TW" sz="1800" dirty="0">
                <a:latin typeface="Fira Code" panose="020B0509050000020004" pitchFamily="49" charset="0"/>
                <a:ea typeface="Fira Code" panose="020B0509050000020004" pitchFamily="49" charset="0"/>
              </a:rPr>
              <a:t>;</a:t>
            </a:r>
            <a:r>
              <a:rPr lang="en-US" altLang="zh-TW" dirty="0"/>
              <a:t>” if the design has no error.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 </a:t>
            </a:r>
            <a:r>
              <a:rPr lang="en-US" altLang="zh-TW" b="1" dirty="0"/>
              <a:t>Only one </a:t>
            </a:r>
            <a:r>
              <a:rPr lang="en-US" altLang="zh-TW" dirty="0"/>
              <a:t>check failure message can be printed at a time, and the simulation should be terminated afterwards.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It is acceptable to have </a:t>
            </a:r>
            <a:r>
              <a:rPr lang="en-US" altLang="zh-TW" b="1" dirty="0"/>
              <a:t>any</a:t>
            </a:r>
            <a:r>
              <a:rPr lang="en-US" altLang="zh-TW" dirty="0"/>
              <a:t> number of clock cycle stalling between outputs.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After giving 4 </a:t>
            </a:r>
            <a:r>
              <a:rPr lang="en-US" altLang="zh-TW" sz="1800" dirty="0" err="1">
                <a:latin typeface="Fira Code" pitchFamily="1" charset="0"/>
                <a:ea typeface="Fira Code" pitchFamily="1" charset="0"/>
                <a:cs typeface="Fira Code" pitchFamily="1" charset="0"/>
              </a:rPr>
              <a:t>in_digit</a:t>
            </a:r>
            <a:r>
              <a:rPr lang="en-US" altLang="zh-TW" dirty="0"/>
              <a:t>, stall for </a:t>
            </a:r>
            <a:r>
              <a:rPr lang="en-US" altLang="zh-TW" b="1" dirty="0"/>
              <a:t>≥1 cycle(s) </a:t>
            </a:r>
            <a:r>
              <a:rPr lang="en-US" altLang="zh-TW" dirty="0"/>
              <a:t>since IN_D4 needs 1 cycle to evaluate the input.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4FE5C61-5761-4BA8-9AA1-3A028D2AC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ED870F-9485-4D56-AFF4-B9828BB10F8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E91F120-EA0D-4DB3-19D7-1FFA6A0CC0B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279577" y="4616850"/>
            <a:ext cx="3672406" cy="1908494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F4E8D792-5E29-2A26-7D3D-9DB0EBFA02C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320136" y="5284094"/>
            <a:ext cx="2232248" cy="57400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463640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70FA94-86CF-40D1-843F-45F0D24C5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File Usage</a:t>
            </a:r>
            <a:endParaRPr lang="zh-TW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3CFCFC8-64D8-480B-B566-CD09EA42A2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357314"/>
                <a:ext cx="10972800" cy="5000625"/>
              </a:xfrm>
            </p:spPr>
            <p:txBody>
              <a:bodyPr/>
              <a:lstStyle/>
              <a:p>
                <a:r>
                  <a:rPr lang="en-US" altLang="zh-TW" b="1" dirty="0">
                    <a:solidFill>
                      <a:srgbClr val="FF0000"/>
                    </a:solidFill>
                  </a:rPr>
                  <a:t>You should edit and submit the file </a:t>
                </a:r>
                <a:r>
                  <a:rPr lang="en-US" altLang="zh-TW" sz="2000" b="1" dirty="0">
                    <a:solidFill>
                      <a:srgbClr val="FF0000"/>
                    </a:solidFill>
                    <a:latin typeface="Fira Code" panose="020B0509050000020004" pitchFamily="49" charset="0"/>
                    <a:ea typeface="Fira Code" panose="020B0509050000020004" pitchFamily="49" charset="0"/>
                  </a:rPr>
                  <a:t>00_TESTBED/PATTERN.sv</a:t>
                </a:r>
                <a:r>
                  <a:rPr lang="en-US" altLang="zh-TW" b="1" dirty="0">
                    <a:solidFill>
                      <a:srgbClr val="FF0000"/>
                    </a:solidFill>
                  </a:rPr>
                  <a:t> instead of </a:t>
                </a:r>
                <a:r>
                  <a:rPr lang="en-US" altLang="zh-TW" sz="2000" b="1" dirty="0">
                    <a:solidFill>
                      <a:srgbClr val="FF0000"/>
                    </a:solidFill>
                    <a:latin typeface="Fira Code" panose="020B0509050000020004" pitchFamily="49" charset="0"/>
                    <a:ea typeface="Fira Code" panose="020B0509050000020004" pitchFamily="49" charset="0"/>
                  </a:rPr>
                  <a:t>01_RTL/LOCK.sv</a:t>
                </a:r>
                <a:endParaRPr lang="en-US" altLang="zh-TW" b="1" dirty="0">
                  <a:solidFill>
                    <a:srgbClr val="FF0000"/>
                  </a:solidFill>
                </a:endParaRPr>
              </a:p>
              <a:p>
                <a:r>
                  <a:rPr lang="en-US" altLang="zh-TW" dirty="0"/>
                  <a:t>In </a:t>
                </a:r>
                <a:r>
                  <a:rPr lang="en-US" altLang="zh-TW" sz="2000" dirty="0">
                    <a:latin typeface="Fira Code" panose="020B0509050000020004" pitchFamily="49" charset="0"/>
                    <a:ea typeface="Fira Code" panose="020B0509050000020004" pitchFamily="49" charset="0"/>
                  </a:rPr>
                  <a:t>01_RTL/</a:t>
                </a:r>
                <a:r>
                  <a:rPr lang="en-US" altLang="zh-TW" dirty="0"/>
                  <a:t> directory, use </a:t>
                </a:r>
                <a:r>
                  <a:rPr lang="en-US" altLang="zh-TW" sz="2000" dirty="0">
                    <a:highlight>
                      <a:srgbClr val="D9D9D9"/>
                    </a:highlight>
                    <a:latin typeface="Fira Code" panose="020B0509050000020004" pitchFamily="49" charset="0"/>
                    <a:ea typeface="Fira Code" panose="020B0509050000020004" pitchFamily="49" charset="0"/>
                  </a:rPr>
                  <a:t>./01_run_vcs_rtl &lt;option&gt;</a:t>
                </a:r>
                <a:r>
                  <a:rPr lang="en-US" altLang="zh-TW" dirty="0"/>
                  <a:t> to run simulation</a:t>
                </a:r>
              </a:p>
              <a:p>
                <a:pPr lvl="1"/>
                <a:r>
                  <a:rPr lang="en-US" altLang="zh-TW" dirty="0"/>
                  <a:t>Option can be </a:t>
                </a:r>
                <a:r>
                  <a:rPr lang="en-US" altLang="zh-TW" sz="1800" dirty="0">
                    <a:highlight>
                      <a:srgbClr val="D9D9D9"/>
                    </a:highlight>
                    <a:latin typeface="Fira Code" panose="020B0509050000020004" pitchFamily="49" charset="0"/>
                    <a:ea typeface="Fira Code" panose="020B0509050000020004" pitchFamily="49" charset="0"/>
                  </a:rPr>
                  <a:t>CHECK_X_Y</a:t>
                </a:r>
                <a:r>
                  <a:rPr lang="en-US" altLang="zh-TW" dirty="0"/>
                  <a:t> or </a:t>
                </a:r>
                <a:r>
                  <a:rPr lang="en-US" altLang="zh-TW" sz="1800" dirty="0">
                    <a:highlight>
                      <a:srgbClr val="D9D9D9"/>
                    </a:highlight>
                    <a:latin typeface="Fira Code" panose="020B0509050000020004" pitchFamily="49" charset="0"/>
                    <a:ea typeface="Fira Code" panose="020B0509050000020004" pitchFamily="49" charset="0"/>
                  </a:rPr>
                  <a:t>CORRECT</a:t>
                </a:r>
                <a:r>
                  <a:rPr lang="en-US" altLang="zh-TW" dirty="0"/>
                  <a:t> where </a:t>
                </a:r>
                <a:r>
                  <a:rPr lang="en-US" altLang="zh-TW" sz="1800" dirty="0">
                    <a:latin typeface="Fira Code" panose="020B0509050000020004" pitchFamily="49" charset="0"/>
                    <a:ea typeface="Fira Code" panose="020B0509050000020004" pitchFamily="49" charset="0"/>
                  </a:rPr>
                  <a:t>X</a:t>
                </a:r>
                <a:r>
                  <a:rPr lang="en-US" altLang="zh-TW" dirty="0"/>
                  <a:t> and </a:t>
                </a:r>
                <a:r>
                  <a:rPr lang="en-US" altLang="zh-TW" sz="1800" dirty="0">
                    <a:latin typeface="Fira Code" panose="020B0509050000020004" pitchFamily="49" charset="0"/>
                    <a:ea typeface="Fira Code" panose="020B0509050000020004" pitchFamily="49" charset="0"/>
                  </a:rPr>
                  <a:t>Y</a:t>
                </a:r>
                <a:r>
                  <a:rPr lang="en-US" altLang="zh-TW" dirty="0"/>
                  <a:t> are the check and case numbers</a:t>
                </a:r>
              </a:p>
              <a:p>
                <a:pPr lvl="2"/>
                <a:r>
                  <a:rPr lang="en-US" altLang="zh-TW" sz="1600" dirty="0">
                    <a:latin typeface="Fira Code" panose="020B0509050000020004" pitchFamily="49" charset="0"/>
                    <a:ea typeface="Fira Code" panose="020B0509050000020004" pitchFamily="49" charset="0"/>
                  </a:rPr>
                  <a:t>X</a:t>
                </a:r>
                <a:r>
                  <a:rPr lang="en-US" altLang="zh-TW" dirty="0"/>
                  <a:t> can be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0~4</m:t>
                    </m:r>
                  </m:oMath>
                </a14:m>
                <a:r>
                  <a:rPr lang="en-US" altLang="zh-TW" dirty="0"/>
                  <a:t>; </a:t>
                </a:r>
                <a:r>
                  <a:rPr lang="en-US" altLang="zh-TW" sz="1600" dirty="0">
                    <a:latin typeface="Fira Code" panose="020B0509050000020004" pitchFamily="49" charset="0"/>
                    <a:ea typeface="Fira Code" panose="020B0509050000020004" pitchFamily="49" charset="0"/>
                  </a:rPr>
                  <a:t>Y</a:t>
                </a:r>
                <a:r>
                  <a:rPr lang="en-US" altLang="zh-TW" dirty="0"/>
                  <a:t> can be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0~7</m:t>
                    </m:r>
                  </m:oMath>
                </a14:m>
                <a:r>
                  <a:rPr lang="en-US" altLang="zh-TW" dirty="0"/>
                  <a:t>, e.g., </a:t>
                </a:r>
                <a:r>
                  <a:rPr lang="en-US" altLang="zh-TW" sz="1600" dirty="0">
                    <a:highlight>
                      <a:srgbClr val="D9D9D9"/>
                    </a:highlight>
                    <a:latin typeface="Fira Code" panose="020B0509050000020004" pitchFamily="49" charset="0"/>
                    <a:ea typeface="Fira Code" panose="020B0509050000020004" pitchFamily="49" charset="0"/>
                  </a:rPr>
                  <a:t>./01_run_vcs_rtl CHECK_0_0</a:t>
                </a:r>
              </a:p>
              <a:p>
                <a:pPr lvl="2"/>
                <a:r>
                  <a:rPr lang="en-US" altLang="zh-TW" dirty="0"/>
                  <a:t>There are </a:t>
                </a:r>
                <a:r>
                  <a:rPr lang="en-US" altLang="zh-TW" b="1" dirty="0"/>
                  <a:t>3 cases </a:t>
                </a:r>
                <a:r>
                  <a:rPr lang="en-US" altLang="zh-TW" dirty="0"/>
                  <a:t>in check 0, </a:t>
                </a:r>
                <a:r>
                  <a:rPr lang="en-US" altLang="zh-TW" b="1" dirty="0"/>
                  <a:t>3 cases </a:t>
                </a:r>
                <a:r>
                  <a:rPr lang="en-US" altLang="zh-TW" dirty="0"/>
                  <a:t>in check 1, </a:t>
                </a:r>
                <a:r>
                  <a:rPr lang="en-US" altLang="zh-TW" b="1" dirty="0"/>
                  <a:t>5 cases </a:t>
                </a:r>
                <a:r>
                  <a:rPr lang="en-US" altLang="zh-TW" dirty="0"/>
                  <a:t>in check 2, </a:t>
                </a:r>
                <a:r>
                  <a:rPr lang="en-US" altLang="zh-TW" b="1" dirty="0"/>
                  <a:t>5 cases </a:t>
                </a:r>
                <a:r>
                  <a:rPr lang="en-US" altLang="zh-TW" dirty="0"/>
                  <a:t>in check 3, and </a:t>
                </a:r>
                <a:r>
                  <a:rPr lang="en-US" altLang="zh-TW" b="1" dirty="0"/>
                  <a:t>8 cases </a:t>
                </a:r>
                <a:r>
                  <a:rPr lang="en-US" altLang="zh-TW" dirty="0"/>
                  <a:t>in check 4</a:t>
                </a:r>
              </a:p>
              <a:p>
                <a:pPr lvl="1"/>
                <a:r>
                  <a:rPr lang="en-US" altLang="zh-TW" dirty="0"/>
                  <a:t>If the option is incorrect, the simulation will terminate immediately</a:t>
                </a:r>
              </a:p>
              <a:p>
                <a:r>
                  <a:rPr lang="en-US" altLang="zh-TW" dirty="0"/>
                  <a:t>In </a:t>
                </a:r>
                <a:r>
                  <a:rPr lang="en-US" altLang="zh-TW" sz="2000" dirty="0">
                    <a:latin typeface="Fira Code" panose="020B0509050000020004" pitchFamily="49" charset="0"/>
                    <a:ea typeface="Fira Code" panose="020B0509050000020004" pitchFamily="49" charset="0"/>
                  </a:rPr>
                  <a:t>01_RTL/</a:t>
                </a:r>
                <a:r>
                  <a:rPr lang="en-US" altLang="zh-TW" dirty="0"/>
                  <a:t> directory, </a:t>
                </a:r>
                <a:r>
                  <a:rPr lang="en-US" altLang="zh-TW" sz="2000" dirty="0">
                    <a:highlight>
                      <a:srgbClr val="D9D9D9"/>
                    </a:highlight>
                    <a:latin typeface="Fira Code" panose="020B0509050000020004" pitchFamily="49" charset="0"/>
                    <a:ea typeface="Fira Code" panose="020B0509050000020004" pitchFamily="49" charset="0"/>
                  </a:rPr>
                  <a:t>./07_check_pattern &lt;option&gt;</a:t>
                </a:r>
                <a:r>
                  <a:rPr lang="en-US" altLang="zh-TW" dirty="0"/>
                  <a:t> can be used to run multiple cases at a time</a:t>
                </a:r>
              </a:p>
              <a:p>
                <a:pPr lvl="1"/>
                <a:r>
                  <a:rPr lang="en-US" altLang="zh-TW" dirty="0"/>
                  <a:t>Option can be </a:t>
                </a:r>
                <a:r>
                  <a:rPr lang="en-US" altLang="zh-TW" sz="1800" dirty="0">
                    <a:highlight>
                      <a:srgbClr val="D9D9D9"/>
                    </a:highlight>
                    <a:latin typeface="Consolas" panose="020B0609020204030204" pitchFamily="49" charset="0"/>
                    <a:ea typeface="Fira Code" panose="020B0509050000020004" pitchFamily="49" charset="0"/>
                  </a:rPr>
                  <a:t>CHECK_X</a:t>
                </a:r>
                <a:r>
                  <a:rPr lang="en-US" altLang="zh-TW" dirty="0"/>
                  <a:t>, </a:t>
                </a:r>
                <a:r>
                  <a:rPr lang="en-US" altLang="zh-TW" sz="1800" dirty="0">
                    <a:highlight>
                      <a:srgbClr val="D9D9D9"/>
                    </a:highlight>
                    <a:latin typeface="Consolas" panose="020B0609020204030204" pitchFamily="49" charset="0"/>
                    <a:ea typeface="Fira Code" panose="020B0509050000020004" pitchFamily="49" charset="0"/>
                  </a:rPr>
                  <a:t>CORRECT</a:t>
                </a:r>
                <a:r>
                  <a:rPr lang="en-US" altLang="zh-TW" dirty="0"/>
                  <a:t> or empty where </a:t>
                </a:r>
                <a:r>
                  <a:rPr lang="en-US" altLang="zh-TW" sz="1800" dirty="0">
                    <a:latin typeface="Consolas" panose="020B0609020204030204" pitchFamily="49" charset="0"/>
                    <a:ea typeface="Fira Code" panose="020B0509050000020004" pitchFamily="49" charset="0"/>
                  </a:rPr>
                  <a:t>X</a:t>
                </a:r>
                <a:r>
                  <a:rPr lang="en-US" altLang="zh-TW" dirty="0"/>
                  <a:t> is the check number</a:t>
                </a:r>
              </a:p>
              <a:p>
                <a:pPr lvl="2"/>
                <a:r>
                  <a:rPr lang="en-US" altLang="zh-TW" dirty="0"/>
                  <a:t>Leaving the option empty, i.e., </a:t>
                </a:r>
                <a:r>
                  <a:rPr lang="en-US" altLang="zh-TW" sz="1600" dirty="0">
                    <a:latin typeface="Fira Code" panose="020B0509050000020004" pitchFamily="49" charset="0"/>
                    <a:ea typeface="Fira Code" panose="020B0509050000020004" pitchFamily="49" charset="0"/>
                  </a:rPr>
                  <a:t>./07_check_pattern</a:t>
                </a:r>
                <a:r>
                  <a:rPr lang="en-US" altLang="zh-TW" dirty="0"/>
                  <a:t>, will run all test cases</a:t>
                </a:r>
              </a:p>
              <a:p>
                <a:pPr lvl="2"/>
                <a:r>
                  <a:rPr lang="en-US" altLang="zh-TW" dirty="0"/>
                  <a:t>E.g., </a:t>
                </a:r>
                <a:r>
                  <a:rPr lang="en-US" altLang="zh-TW" sz="1600" dirty="0">
                    <a:latin typeface="Fira Code" panose="020B0509050000020004" pitchFamily="49" charset="0"/>
                    <a:ea typeface="Fira Code" panose="020B0509050000020004" pitchFamily="49" charset="0"/>
                  </a:rPr>
                  <a:t>./07_check_pattern CHECK_0</a:t>
                </a:r>
                <a:r>
                  <a:rPr lang="en-US" altLang="zh-TW" dirty="0"/>
                  <a:t> will run all 3 cases in check 0</a:t>
                </a: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3CFCFC8-64D8-480B-B566-CD09EA42A2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357314"/>
                <a:ext cx="10972800" cy="5000625"/>
              </a:xfrm>
              <a:blipFill>
                <a:blip r:embed="rId3"/>
                <a:stretch>
                  <a:fillRect l="-722" t="-976" r="-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B58247E-BCAB-49C7-BC4A-98707AEB4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ED870F-9485-4D56-AFF4-B9828BB10F8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355030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FB8DC6-244A-1668-4EAC-8C762B087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Grading Policy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5A7C85D-CA20-999B-3440-49F0CB197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57314"/>
            <a:ext cx="11031016" cy="5000625"/>
          </a:xfrm>
        </p:spPr>
        <p:txBody>
          <a:bodyPr/>
          <a:lstStyle/>
          <a:p>
            <a:r>
              <a:rPr lang="en-US" altLang="zh-TW" dirty="0"/>
              <a:t>Successfully distinguish correct design and every faulty design</a:t>
            </a:r>
            <a:br>
              <a:rPr lang="en-US" altLang="zh-TW" dirty="0"/>
            </a:br>
            <a:r>
              <a:rPr lang="en-US" altLang="zh-TW" dirty="0"/>
              <a:t>(print the message on terminal): 100%</a:t>
            </a:r>
          </a:p>
          <a:p>
            <a:r>
              <a:rPr lang="en-US" altLang="zh-TW" dirty="0"/>
              <a:t>40% off for demo 2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1BF9F5A-AB70-491A-9543-865D984C0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ED870F-9485-4D56-AFF4-B9828BB10F8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821488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072E77-28AE-6E16-8885-FDE855E88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Upload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FC49901-39FA-498D-29CE-FA9EC71A85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000" dirty="0">
                <a:latin typeface="Fira Code" panose="020B0509050000020004" pitchFamily="49" charset="0"/>
                <a:ea typeface="Fira Code" panose="020B0509050000020004" pitchFamily="49" charset="0"/>
              </a:rPr>
              <a:t>cd ../09_UPLOAD/</a:t>
            </a:r>
            <a:endParaRPr lang="en-US" altLang="zh-TW" dirty="0">
              <a:latin typeface="Fira Code" panose="020B0509050000020004" pitchFamily="49" charset="0"/>
              <a:ea typeface="Fira Code" panose="020B0509050000020004" pitchFamily="49" charset="0"/>
            </a:endParaRPr>
          </a:p>
          <a:p>
            <a:r>
              <a:rPr lang="en-US" altLang="zh-TW" sz="2000" dirty="0">
                <a:latin typeface="Fira Code" panose="020B0509050000020004" pitchFamily="49" charset="0"/>
                <a:ea typeface="Fira Code" panose="020B0509050000020004" pitchFamily="49" charset="0"/>
              </a:rPr>
              <a:t>./01_upload</a:t>
            </a:r>
            <a:r>
              <a:rPr lang="en-US" altLang="zh-TW" dirty="0"/>
              <a:t> (upload</a:t>
            </a:r>
            <a:r>
              <a:rPr lang="zh-TW" altLang="en-US" dirty="0"/>
              <a:t> </a:t>
            </a:r>
            <a:r>
              <a:rPr lang="en-US" altLang="zh-TW" dirty="0"/>
              <a:t>code)</a:t>
            </a:r>
          </a:p>
          <a:p>
            <a:r>
              <a:rPr lang="en-US" altLang="zh-TW" sz="2000" dirty="0">
                <a:latin typeface="Fira Code" panose="020B0509050000020004" pitchFamily="49" charset="0"/>
                <a:ea typeface="Fira Code" panose="020B0509050000020004" pitchFamily="49" charset="0"/>
              </a:rPr>
              <a:t>./02_download [argument]</a:t>
            </a:r>
            <a:r>
              <a:rPr lang="en-US" altLang="zh-TW" dirty="0"/>
              <a:t> (download uploaded file)</a:t>
            </a:r>
          </a:p>
          <a:p>
            <a:pPr lvl="1"/>
            <a:r>
              <a:rPr lang="en-US" altLang="zh-TW" dirty="0"/>
              <a:t>[argument] = demo1 or demo2</a:t>
            </a:r>
          </a:p>
          <a:p>
            <a:pPr lvl="1"/>
            <a:r>
              <a:rPr lang="en-US" altLang="zh-TW" dirty="0"/>
              <a:t>Checks whether upload successfully &amp; </a:t>
            </a:r>
            <a:r>
              <a:rPr lang="en-US" altLang="zh-TW" b="1" dirty="0"/>
              <a:t>correctly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Demo 1: </a:t>
            </a:r>
            <a:r>
              <a:rPr lang="en-US" altLang="zh-TW">
                <a:solidFill>
                  <a:srgbClr val="FF0000"/>
                </a:solidFill>
              </a:rPr>
              <a:t>4/23 17:40</a:t>
            </a:r>
            <a:r>
              <a:rPr lang="en-US" altLang="zh-TW" dirty="0">
                <a:solidFill>
                  <a:srgbClr val="FF0000"/>
                </a:solidFill>
              </a:rPr>
              <a:t>, Demo 2: 4/23 23:59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6968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5EE52-1924-27C5-4BE5-9E3BF36BF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69FDDC5E-D8D3-0896-5E1A-843BDAEF5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Debug Helper</a:t>
            </a:r>
            <a:endParaRPr lang="zh-TW" altLang="en-US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0A3ECDC-34D3-F1F1-63DD-37F499747A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The pattern numbers where the check cases fail</a:t>
            </a:r>
          </a:p>
          <a:p>
            <a:pPr marL="0" indent="0">
              <a:buNone/>
            </a:pPr>
            <a:endParaRPr lang="en-US" altLang="zh-TW" dirty="0"/>
          </a:p>
          <a:p>
            <a:r>
              <a:rPr lang="en-US" altLang="zh-TW" dirty="0"/>
              <a:t>CHECK_1</a:t>
            </a:r>
          </a:p>
          <a:p>
            <a:pPr marL="457200" lvl="1" indent="0">
              <a:buNone/>
            </a:pPr>
            <a:endParaRPr lang="en-US" altLang="zh-TW" dirty="0"/>
          </a:p>
          <a:p>
            <a:r>
              <a:rPr lang="en-US" altLang="zh-TW" dirty="0"/>
              <a:t>CHECK_2</a:t>
            </a:r>
          </a:p>
          <a:p>
            <a:pPr marL="457200" lvl="1" indent="0">
              <a:buNone/>
            </a:pPr>
            <a:endParaRPr lang="en-US" altLang="zh-TW" dirty="0"/>
          </a:p>
          <a:p>
            <a:pPr marL="457200" lvl="1" indent="0">
              <a:buNone/>
            </a:pPr>
            <a:endParaRPr lang="en-US" altLang="zh-TW" dirty="0"/>
          </a:p>
          <a:p>
            <a:r>
              <a:rPr lang="en-US" altLang="zh-TW" dirty="0"/>
              <a:t>CHECK_3</a:t>
            </a:r>
          </a:p>
          <a:p>
            <a:pPr marL="457200" lvl="1" indent="0">
              <a:buNone/>
            </a:pPr>
            <a:endParaRPr lang="en-US" altLang="zh-TW" dirty="0"/>
          </a:p>
          <a:p>
            <a:pPr marL="457200" lvl="1" indent="0">
              <a:buNone/>
            </a:pPr>
            <a:endParaRPr lang="en-US" altLang="zh-TW" dirty="0"/>
          </a:p>
          <a:p>
            <a:r>
              <a:rPr lang="en-US" altLang="zh-TW" dirty="0"/>
              <a:t>CHECK_4</a:t>
            </a:r>
          </a:p>
          <a:p>
            <a:pPr marL="457200" lvl="1" indent="0">
              <a:buNone/>
            </a:pPr>
            <a:endParaRPr lang="en-US" altLang="zh-TW" dirty="0"/>
          </a:p>
          <a:p>
            <a:pPr marL="457200" lvl="1" indent="0">
              <a:buNone/>
            </a:pP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72C02C1-C06F-C4F2-B6B6-1495647D9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ED870F-9485-4D56-AFF4-B9828BB10F8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88548FE9-B457-CB7B-0575-1EC2E0C5F7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065324"/>
              </p:ext>
            </p:extLst>
          </p:nvPr>
        </p:nvGraphicFramePr>
        <p:xfrm>
          <a:off x="1055440" y="2384688"/>
          <a:ext cx="8127999" cy="396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88711843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5916384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4570689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2000" kern="1200" dirty="0">
                          <a:solidFill>
                            <a:srgbClr val="376092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CEHCK_1_0: No.0</a:t>
                      </a:r>
                      <a:endParaRPr lang="zh-TW" altLang="en-US" sz="2000" kern="1200" dirty="0">
                        <a:solidFill>
                          <a:srgbClr val="376092"/>
                        </a:solidFill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kern="1200" dirty="0">
                          <a:solidFill>
                            <a:srgbClr val="376092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CEHCK_1_1: No.0</a:t>
                      </a:r>
                      <a:endParaRPr lang="zh-TW" altLang="en-US" sz="2000" kern="1200" dirty="0">
                        <a:solidFill>
                          <a:srgbClr val="376092"/>
                        </a:solidFill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kern="1200" dirty="0">
                          <a:solidFill>
                            <a:srgbClr val="376092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CEHCK_1_2: No.3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68087929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CE86B8A-9474-2A8F-37C6-583EBA0788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3217865"/>
              </p:ext>
            </p:extLst>
          </p:nvPr>
        </p:nvGraphicFramePr>
        <p:xfrm>
          <a:off x="1055439" y="3188400"/>
          <a:ext cx="8127999" cy="792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88711843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5916384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4570689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2000" kern="1200" dirty="0">
                          <a:solidFill>
                            <a:srgbClr val="376092"/>
                          </a:solidFill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CEHCK</a:t>
                      </a:r>
                      <a:r>
                        <a:rPr lang="en-US" altLang="zh-TW" sz="2000" dirty="0">
                          <a:solidFill>
                            <a:srgbClr val="376092"/>
                          </a:solidFill>
                        </a:rPr>
                        <a:t>_2_0: No.1</a:t>
                      </a:r>
                      <a:endParaRPr lang="zh-TW" altLang="en-US" sz="2000" kern="1200" dirty="0">
                        <a:solidFill>
                          <a:srgbClr val="376092"/>
                        </a:solidFill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kern="1200" dirty="0">
                          <a:solidFill>
                            <a:srgbClr val="376092"/>
                          </a:solidFill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CEHCK</a:t>
                      </a:r>
                      <a:r>
                        <a:rPr lang="en-US" altLang="zh-TW" sz="2000" dirty="0">
                          <a:solidFill>
                            <a:srgbClr val="376092"/>
                          </a:solidFill>
                        </a:rPr>
                        <a:t>_2_1: No.1</a:t>
                      </a:r>
                      <a:endParaRPr lang="zh-TW" altLang="en-US" sz="2000" kern="1200" dirty="0">
                        <a:solidFill>
                          <a:srgbClr val="376092"/>
                        </a:solidFill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>
                          <a:solidFill>
                            <a:srgbClr val="376092"/>
                          </a:solidFill>
                        </a:rPr>
                        <a:t>CEHCK_2_2: No.77</a:t>
                      </a:r>
                      <a:endParaRPr lang="en-US" altLang="zh-TW" sz="2000" kern="1200" dirty="0">
                        <a:solidFill>
                          <a:srgbClr val="376092"/>
                        </a:solidFill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680879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rgbClr val="376092"/>
                          </a:solidFill>
                        </a:rPr>
                        <a:t>CEHCK_2_3: No.23</a:t>
                      </a:r>
                      <a:endParaRPr lang="zh-TW" altLang="en-US" sz="2000" kern="1200" dirty="0">
                        <a:solidFill>
                          <a:srgbClr val="376092"/>
                        </a:solidFill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rgbClr val="376092"/>
                          </a:solidFill>
                        </a:rPr>
                        <a:t>CEHCK_2_4: No.19</a:t>
                      </a:r>
                      <a:endParaRPr lang="zh-TW" altLang="en-US" sz="2000" kern="1200" dirty="0">
                        <a:solidFill>
                          <a:srgbClr val="376092"/>
                        </a:solidFill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2000" kern="1200" dirty="0">
                        <a:solidFill>
                          <a:srgbClr val="376092"/>
                        </a:solidFill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45010332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F8E80702-9148-1D5B-5A44-4019BE1014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9502487"/>
              </p:ext>
            </p:extLst>
          </p:nvPr>
        </p:nvGraphicFramePr>
        <p:xfrm>
          <a:off x="1055439" y="4388352"/>
          <a:ext cx="8127999" cy="792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88711843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5916384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4570689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rgbClr val="376092"/>
                          </a:solidFill>
                        </a:rPr>
                        <a:t>CEHCK_3_0: No.2</a:t>
                      </a:r>
                      <a:endParaRPr lang="zh-TW" altLang="en-US" sz="2000" kern="1200" dirty="0">
                        <a:solidFill>
                          <a:srgbClr val="376092"/>
                        </a:solidFill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rgbClr val="376092"/>
                          </a:solidFill>
                        </a:rPr>
                        <a:t>CEHCK_3_1: No.2</a:t>
                      </a:r>
                      <a:endParaRPr lang="zh-TW" altLang="en-US" sz="2000" kern="1200" dirty="0">
                        <a:solidFill>
                          <a:srgbClr val="376092"/>
                        </a:solidFill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>
                          <a:solidFill>
                            <a:srgbClr val="376092"/>
                          </a:solidFill>
                        </a:rPr>
                        <a:t>CEHCK_3_2: No.2</a:t>
                      </a:r>
                      <a:endParaRPr lang="en-US" altLang="zh-TW" sz="2000" kern="1200" dirty="0">
                        <a:solidFill>
                          <a:srgbClr val="376092"/>
                        </a:solidFill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680879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rgbClr val="376092"/>
                          </a:solidFill>
                        </a:rPr>
                        <a:t>CEHCK_3_3: No.16</a:t>
                      </a:r>
                      <a:endParaRPr lang="zh-TW" altLang="en-US" sz="2000" kern="1200" dirty="0">
                        <a:solidFill>
                          <a:srgbClr val="376092"/>
                        </a:solidFill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rgbClr val="376092"/>
                          </a:solidFill>
                        </a:rPr>
                        <a:t>CEHCK_3_4: No.9</a:t>
                      </a:r>
                      <a:endParaRPr lang="zh-TW" altLang="en-US" sz="2000" kern="1200" dirty="0">
                        <a:solidFill>
                          <a:srgbClr val="376092"/>
                        </a:solidFill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2000" kern="1200" dirty="0">
                        <a:solidFill>
                          <a:srgbClr val="376092"/>
                        </a:solidFill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45010332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1F015CA0-4043-6165-42DD-72441CA07F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4669050"/>
              </p:ext>
            </p:extLst>
          </p:nvPr>
        </p:nvGraphicFramePr>
        <p:xfrm>
          <a:off x="1055439" y="5517232"/>
          <a:ext cx="10526960" cy="792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31740">
                  <a:extLst>
                    <a:ext uri="{9D8B030D-6E8A-4147-A177-3AD203B41FA5}">
                      <a16:colId xmlns:a16="http://schemas.microsoft.com/office/drawing/2014/main" val="887118439"/>
                    </a:ext>
                  </a:extLst>
                </a:gridCol>
                <a:gridCol w="2631740">
                  <a:extLst>
                    <a:ext uri="{9D8B030D-6E8A-4147-A177-3AD203B41FA5}">
                      <a16:colId xmlns:a16="http://schemas.microsoft.com/office/drawing/2014/main" val="2591638400"/>
                    </a:ext>
                  </a:extLst>
                </a:gridCol>
                <a:gridCol w="2631740">
                  <a:extLst>
                    <a:ext uri="{9D8B030D-6E8A-4147-A177-3AD203B41FA5}">
                      <a16:colId xmlns:a16="http://schemas.microsoft.com/office/drawing/2014/main" val="2457068930"/>
                    </a:ext>
                  </a:extLst>
                </a:gridCol>
                <a:gridCol w="2631740">
                  <a:extLst>
                    <a:ext uri="{9D8B030D-6E8A-4147-A177-3AD203B41FA5}">
                      <a16:colId xmlns:a16="http://schemas.microsoft.com/office/drawing/2014/main" val="20702515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rgbClr val="376092"/>
                          </a:solidFill>
                        </a:rPr>
                        <a:t>CEHCK_4_0: No.75</a:t>
                      </a:r>
                      <a:endParaRPr lang="zh-TW" altLang="en-US" sz="2000" kern="1200" dirty="0">
                        <a:solidFill>
                          <a:srgbClr val="376092"/>
                        </a:solidFill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rgbClr val="376092"/>
                          </a:solidFill>
                        </a:rPr>
                        <a:t>CEHCK_4_1: No.75</a:t>
                      </a:r>
                      <a:endParaRPr lang="zh-TW" altLang="en-US" sz="2000" kern="1200" dirty="0">
                        <a:solidFill>
                          <a:srgbClr val="376092"/>
                        </a:solidFill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>
                          <a:solidFill>
                            <a:srgbClr val="376092"/>
                          </a:solidFill>
                        </a:rPr>
                        <a:t>CEHCK_4_2: No.175</a:t>
                      </a:r>
                      <a:endParaRPr lang="en-US" altLang="zh-TW" sz="2000" kern="1200" dirty="0">
                        <a:solidFill>
                          <a:srgbClr val="376092"/>
                        </a:solidFill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>
                          <a:solidFill>
                            <a:srgbClr val="376092"/>
                          </a:solidFill>
                        </a:rPr>
                        <a:t>CEHCK_4_3: No.143</a:t>
                      </a:r>
                      <a:endParaRPr lang="en-US" altLang="zh-TW" sz="2000" kern="1200" dirty="0">
                        <a:solidFill>
                          <a:srgbClr val="376092"/>
                        </a:solidFill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680879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rgbClr val="376092"/>
                          </a:solidFill>
                        </a:rPr>
                        <a:t>CEHCK_4_4: No.143</a:t>
                      </a:r>
                      <a:endParaRPr lang="zh-TW" altLang="en-US" sz="2000" kern="1200" dirty="0">
                        <a:solidFill>
                          <a:srgbClr val="376092"/>
                        </a:solidFill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rgbClr val="376092"/>
                          </a:solidFill>
                        </a:rPr>
                        <a:t>CEHCK_4_5: No.142</a:t>
                      </a:r>
                      <a:endParaRPr lang="zh-TW" altLang="en-US" sz="2000" kern="1200" dirty="0">
                        <a:solidFill>
                          <a:srgbClr val="376092"/>
                        </a:solidFill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>
                          <a:solidFill>
                            <a:srgbClr val="376092"/>
                          </a:solidFill>
                        </a:rPr>
                        <a:t>CEHCK_4_6: No.145</a:t>
                      </a:r>
                      <a:endParaRPr lang="en-US" altLang="zh-TW" sz="2000" kern="1200" dirty="0">
                        <a:solidFill>
                          <a:srgbClr val="376092"/>
                        </a:solidFill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>
                          <a:solidFill>
                            <a:srgbClr val="376092"/>
                          </a:solidFill>
                        </a:rPr>
                        <a:t>CEHCK_4_7: No.75</a:t>
                      </a:r>
                      <a:endParaRPr lang="en-US" altLang="zh-TW" sz="2000" kern="1200" dirty="0">
                        <a:solidFill>
                          <a:srgbClr val="376092"/>
                        </a:solidFill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450103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19463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6ED6894F-7AAB-04D7-4A1C-80638A053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Appendix</a:t>
            </a:r>
            <a:endParaRPr lang="zh-TW" altLang="en-US" dirty="0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A2E373C4-3A84-2D34-93BA-8B02F6A13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Testbench Programming Review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9C399F5-730D-45F3-5651-F0CA06666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ED870F-9485-4D56-AFF4-B9828BB10F8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792316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BEA3C-FB2B-24F8-BB1A-768C67875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1D0790B0-583D-4E05-5E8E-20406D8E8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Control Flow</a:t>
            </a:r>
            <a:endParaRPr lang="zh-TW" altLang="en-US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72FF013-942E-9836-4AD2-B8352D639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Construct the testbench in </a:t>
            </a:r>
            <a:r>
              <a:rPr lang="en-US" altLang="zh-TW" b="1" dirty="0"/>
              <a:t>a sequential way</a:t>
            </a:r>
            <a:r>
              <a:rPr lang="en-US" altLang="zh-TW" dirty="0"/>
              <a:t> like software language</a:t>
            </a:r>
          </a:p>
          <a:p>
            <a:r>
              <a:rPr lang="en-US" altLang="zh-TW" dirty="0"/>
              <a:t>Simulation time would </a:t>
            </a:r>
            <a:r>
              <a:rPr lang="en-US" altLang="zh-TW" b="1" dirty="0"/>
              <a:t>not advance</a:t>
            </a:r>
            <a:r>
              <a:rPr lang="en-US" altLang="zh-TW" dirty="0"/>
              <a:t> unless a timing control statement is executed</a:t>
            </a:r>
          </a:p>
          <a:p>
            <a:pPr marL="0" indent="0">
              <a:buNone/>
            </a:pPr>
            <a:endParaRPr lang="en-US" altLang="zh-TW" dirty="0"/>
          </a:p>
          <a:p>
            <a:r>
              <a:rPr lang="en-US" altLang="zh-TW" sz="2000" dirty="0">
                <a:latin typeface="Fira Code" panose="020B0509050000020004" pitchFamily="49" charset="0"/>
                <a:ea typeface="Fira Code" panose="020B0509050000020004" pitchFamily="49" charset="0"/>
              </a:rPr>
              <a:t>repeat(N) ...</a:t>
            </a:r>
          </a:p>
          <a:p>
            <a:pPr lvl="1"/>
            <a:r>
              <a:rPr lang="en-US" altLang="zh-TW" dirty="0"/>
              <a:t>Repeatedly executes a statement for N times</a:t>
            </a:r>
          </a:p>
          <a:p>
            <a:r>
              <a:rPr lang="en-US" altLang="zh-TW" sz="2000" dirty="0">
                <a:latin typeface="Fira Code" panose="020B0509050000020004" pitchFamily="49" charset="0"/>
                <a:ea typeface="Fira Code" panose="020B0509050000020004" pitchFamily="49" charset="0"/>
              </a:rPr>
              <a:t>while(condition)</a:t>
            </a:r>
            <a:r>
              <a:rPr lang="en-US" altLang="zh-TW" dirty="0"/>
              <a:t> / </a:t>
            </a:r>
            <a:r>
              <a:rPr lang="en-US" altLang="zh-TW" sz="2000" dirty="0">
                <a:latin typeface="Fira Code" panose="020B0509050000020004" pitchFamily="49" charset="0"/>
                <a:ea typeface="Fira Code" panose="020B0509050000020004" pitchFamily="49" charset="0"/>
              </a:rPr>
              <a:t>for(</a:t>
            </a:r>
            <a:r>
              <a:rPr lang="en-US" altLang="zh-TW" sz="2000" dirty="0" err="1">
                <a:latin typeface="Fira Code" panose="020B0509050000020004" pitchFamily="49" charset="0"/>
                <a:ea typeface="Fira Code" panose="020B0509050000020004" pitchFamily="49" charset="0"/>
              </a:rPr>
              <a:t>init</a:t>
            </a:r>
            <a:r>
              <a:rPr lang="en-US" altLang="zh-TW" sz="2000" dirty="0">
                <a:latin typeface="Fira Code" panose="020B0509050000020004" pitchFamily="49" charset="0"/>
                <a:ea typeface="Fira Code" panose="020B0509050000020004" pitchFamily="49" charset="0"/>
              </a:rPr>
              <a:t>; condition; increment)</a:t>
            </a:r>
            <a:endParaRPr lang="en-US" altLang="zh-TW" dirty="0">
              <a:latin typeface="Fira Code" panose="020B0509050000020004" pitchFamily="49" charset="0"/>
              <a:ea typeface="Fira Code" panose="020B0509050000020004" pitchFamily="49" charset="0"/>
            </a:endParaRPr>
          </a:p>
          <a:p>
            <a:pPr lvl="1"/>
            <a:r>
              <a:rPr lang="en-US" altLang="zh-TW" dirty="0"/>
              <a:t>Loops until the condition fails</a:t>
            </a:r>
          </a:p>
          <a:p>
            <a:r>
              <a:rPr lang="en-US" altLang="zh-TW" sz="2000" dirty="0">
                <a:latin typeface="Fira Code" panose="020B0509050000020004" pitchFamily="49" charset="0"/>
                <a:ea typeface="Fira Code" panose="020B0509050000020004" pitchFamily="49" charset="0"/>
              </a:rPr>
              <a:t>foreach(array[index])</a:t>
            </a:r>
            <a:endParaRPr lang="en-US" altLang="zh-TW" dirty="0">
              <a:latin typeface="Fira Code" panose="020B0509050000020004" pitchFamily="49" charset="0"/>
              <a:ea typeface="Fira Code" panose="020B0509050000020004" pitchFamily="49" charset="0"/>
            </a:endParaRPr>
          </a:p>
          <a:p>
            <a:pPr lvl="1"/>
            <a:r>
              <a:rPr lang="en-US" altLang="zh-TW" dirty="0"/>
              <a:t>Iterates through all elements of array</a:t>
            </a:r>
          </a:p>
          <a:p>
            <a:r>
              <a:rPr lang="en-US" altLang="zh-TW" sz="2000" dirty="0">
                <a:latin typeface="Fira Code" panose="020B0509050000020004" pitchFamily="49" charset="0"/>
                <a:ea typeface="Fira Code" panose="020B0509050000020004" pitchFamily="49" charset="0"/>
              </a:rPr>
              <a:t>forever</a:t>
            </a:r>
            <a:endParaRPr lang="en-US" altLang="zh-TW" dirty="0">
              <a:latin typeface="Fira Code" panose="020B0509050000020004" pitchFamily="49" charset="0"/>
              <a:ea typeface="Fira Code" panose="020B0509050000020004" pitchFamily="49" charset="0"/>
            </a:endParaRPr>
          </a:p>
          <a:p>
            <a:pPr lvl="1"/>
            <a:r>
              <a:rPr lang="en-US" altLang="zh-TW" dirty="0"/>
              <a:t>Infinite loop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6EEFE66-4C0C-1FAD-D33D-53A8F8424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ED870F-9485-4D56-AFF4-B9828BB10F8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0B7C234F-4F1A-E279-7663-B583C92684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400256" y="3929423"/>
            <a:ext cx="3187751" cy="2426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556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3C120-C3CA-290A-4131-17526976A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B031077F-F373-9EE0-80B0-E31002305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Timing Control &amp; Events</a:t>
            </a:r>
            <a:endParaRPr lang="zh-TW" altLang="en-US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AACAF16-4097-7C91-2770-53E295CDAC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data should be sent and check in </a:t>
            </a:r>
            <a:r>
              <a:rPr lang="en-US" altLang="zh-TW" b="1" dirty="0"/>
              <a:t>negative edge of clock</a:t>
            </a:r>
            <a:r>
              <a:rPr lang="en-US" altLang="zh-TW" dirty="0"/>
              <a:t> to avoid race condition</a:t>
            </a:r>
          </a:p>
          <a:p>
            <a:pPr marL="0" indent="0">
              <a:buNone/>
            </a:pPr>
            <a:endParaRPr lang="en-US" altLang="zh-TW" dirty="0"/>
          </a:p>
          <a:p>
            <a:r>
              <a:rPr lang="en-US" altLang="zh-TW" sz="2000" dirty="0">
                <a:latin typeface="Fira Code" panose="020B0509050000020004" pitchFamily="49" charset="0"/>
                <a:ea typeface="Fira Code" panose="020B0509050000020004" pitchFamily="49" charset="0"/>
              </a:rPr>
              <a:t>#(delay);</a:t>
            </a:r>
          </a:p>
          <a:p>
            <a:pPr lvl="1"/>
            <a:r>
              <a:rPr lang="en-US" altLang="zh-TW" dirty="0"/>
              <a:t>Delays for certain time with unit and precision specified by </a:t>
            </a:r>
            <a:r>
              <a:rPr lang="en-US" altLang="zh-TW" sz="1800" dirty="0">
                <a:latin typeface="Fira Code" panose="020B0509050000020004" pitchFamily="49" charset="0"/>
                <a:ea typeface="Fira Code" panose="020B0509050000020004" pitchFamily="49" charset="0"/>
              </a:rPr>
              <a:t>`timescale</a:t>
            </a:r>
            <a:endParaRPr lang="en-US" altLang="zh-TW" dirty="0">
              <a:latin typeface="Fira Code" panose="020B0509050000020004" pitchFamily="49" charset="0"/>
              <a:ea typeface="Fira Code" panose="020B0509050000020004" pitchFamily="49" charset="0"/>
            </a:endParaRPr>
          </a:p>
          <a:p>
            <a:r>
              <a:rPr lang="en-US" altLang="zh-TW" sz="2000" dirty="0">
                <a:latin typeface="Fira Code" panose="020B0509050000020004" pitchFamily="49" charset="0"/>
                <a:ea typeface="Fira Code" panose="020B0509050000020004" pitchFamily="49" charset="0"/>
              </a:rPr>
              <a:t>@(signal);</a:t>
            </a:r>
            <a:r>
              <a:rPr lang="en-US" altLang="zh-TW" dirty="0"/>
              <a:t> / </a:t>
            </a:r>
            <a:r>
              <a:rPr lang="en-US" altLang="zh-TW" sz="2000" dirty="0">
                <a:latin typeface="Fira Code" panose="020B0509050000020004" pitchFamily="49" charset="0"/>
                <a:ea typeface="Fira Code" panose="020B0509050000020004" pitchFamily="49" charset="0"/>
              </a:rPr>
              <a:t>@(edge signal);</a:t>
            </a:r>
          </a:p>
          <a:p>
            <a:pPr lvl="1"/>
            <a:r>
              <a:rPr lang="en-US" altLang="zh-TW" dirty="0"/>
              <a:t>Suspends execution until the signal changes</a:t>
            </a:r>
          </a:p>
          <a:p>
            <a:pPr lvl="1"/>
            <a:r>
              <a:rPr lang="en-US" altLang="zh-TW" dirty="0"/>
              <a:t>Edge: </a:t>
            </a:r>
            <a:r>
              <a:rPr lang="en-US" altLang="zh-TW" sz="1800" dirty="0" err="1">
                <a:latin typeface="Fira Code" panose="020B0509050000020004" pitchFamily="49" charset="0"/>
                <a:ea typeface="Fira Code" panose="020B0509050000020004" pitchFamily="49" charset="0"/>
              </a:rPr>
              <a:t>posedge</a:t>
            </a:r>
            <a:r>
              <a:rPr lang="en-US" altLang="zh-TW" dirty="0"/>
              <a:t> / </a:t>
            </a:r>
            <a:r>
              <a:rPr lang="en-US" altLang="zh-TW" sz="1800" dirty="0" err="1">
                <a:latin typeface="Fira Code" panose="020B0509050000020004" pitchFamily="49" charset="0"/>
                <a:ea typeface="Fira Code" panose="020B0509050000020004" pitchFamily="49" charset="0"/>
              </a:rPr>
              <a:t>negedge</a:t>
            </a:r>
            <a:endParaRPr lang="en-US" altLang="zh-TW" dirty="0">
              <a:latin typeface="Fira Code" panose="020B0509050000020004" pitchFamily="49" charset="0"/>
              <a:ea typeface="Fira Code" panose="020B0509050000020004" pitchFamily="49" charset="0"/>
            </a:endParaRPr>
          </a:p>
          <a:p>
            <a:r>
              <a:rPr lang="en-US" altLang="zh-TW" sz="2000" dirty="0">
                <a:latin typeface="Fira Code" panose="020B0509050000020004" pitchFamily="49" charset="0"/>
                <a:ea typeface="Fira Code" panose="020B0509050000020004" pitchFamily="49" charset="0"/>
              </a:rPr>
              <a:t>wait(expression);</a:t>
            </a:r>
            <a:endParaRPr lang="en-US" altLang="zh-TW" dirty="0">
              <a:latin typeface="Fira Code" panose="020B0509050000020004" pitchFamily="49" charset="0"/>
              <a:ea typeface="Fira Code" panose="020B0509050000020004" pitchFamily="49" charset="0"/>
            </a:endParaRPr>
          </a:p>
          <a:p>
            <a:pPr lvl="1"/>
            <a:r>
              <a:rPr lang="en-US" altLang="zh-TW" dirty="0"/>
              <a:t>Blocks until the expression is true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82A5E6-409D-9929-AF4E-BB07DD434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ED870F-9485-4D56-AFF4-B9828BB10F8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602778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66118305-9096-5616-9533-2FE8EBC40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File I/O</a:t>
            </a:r>
            <a:endParaRPr lang="zh-TW" altLang="en-US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639A9DFB-1447-5712-6B93-EF949C354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C-style functions for specified files</a:t>
            </a:r>
          </a:p>
          <a:p>
            <a:pPr marL="0" indent="0">
              <a:buNone/>
            </a:pPr>
            <a:endParaRPr lang="en-US" altLang="zh-TW" dirty="0"/>
          </a:p>
          <a:p>
            <a:r>
              <a:rPr lang="en-US" altLang="zh-TW" sz="2000" dirty="0" err="1">
                <a:latin typeface="Fira Code" panose="020B0509050000020004" pitchFamily="49" charset="0"/>
                <a:ea typeface="Fira Code" panose="020B0509050000020004" pitchFamily="49" charset="0"/>
              </a:rPr>
              <a:t>fd</a:t>
            </a:r>
            <a:r>
              <a:rPr lang="en-US" altLang="zh-TW" sz="2000" dirty="0">
                <a:latin typeface="Fira Code" panose="020B0509050000020004" pitchFamily="49" charset="0"/>
                <a:ea typeface="Fira Code" panose="020B0509050000020004" pitchFamily="49" charset="0"/>
              </a:rPr>
              <a:t> = $</a:t>
            </a:r>
            <a:r>
              <a:rPr lang="en-US" altLang="zh-TW" sz="2000" dirty="0" err="1">
                <a:latin typeface="Fira Code" panose="020B0509050000020004" pitchFamily="49" charset="0"/>
                <a:ea typeface="Fira Code" panose="020B0509050000020004" pitchFamily="49" charset="0"/>
              </a:rPr>
              <a:t>fopen</a:t>
            </a:r>
            <a:r>
              <a:rPr lang="en-US" altLang="zh-TW" sz="2000" dirty="0">
                <a:latin typeface="Fira Code" panose="020B0509050000020004" pitchFamily="49" charset="0"/>
                <a:ea typeface="Fira Code" panose="020B0509050000020004" pitchFamily="49" charset="0"/>
              </a:rPr>
              <a:t>("</a:t>
            </a:r>
            <a:r>
              <a:rPr lang="en-US" altLang="zh-TW" sz="2000" dirty="0" err="1">
                <a:latin typeface="Fira Code" panose="020B0509050000020004" pitchFamily="49" charset="0"/>
                <a:ea typeface="Fira Code" panose="020B0509050000020004" pitchFamily="49" charset="0"/>
              </a:rPr>
              <a:t>file_path</a:t>
            </a:r>
            <a:r>
              <a:rPr lang="en-US" altLang="zh-TW" sz="2000" dirty="0">
                <a:latin typeface="Fira Code" panose="020B0509050000020004" pitchFamily="49" charset="0"/>
                <a:ea typeface="Fira Code" panose="020B0509050000020004" pitchFamily="49" charset="0"/>
              </a:rPr>
              <a:t>", "type");</a:t>
            </a:r>
            <a:endParaRPr lang="en-US" altLang="zh-TW" dirty="0">
              <a:latin typeface="Fira Code" panose="020B0509050000020004" pitchFamily="49" charset="0"/>
              <a:ea typeface="Fira Code" panose="020B0509050000020004" pitchFamily="49" charset="0"/>
            </a:endParaRPr>
          </a:p>
          <a:p>
            <a:pPr lvl="1"/>
            <a:r>
              <a:rPr lang="en-US" altLang="zh-TW" dirty="0"/>
              <a:t>Returns a 32-bit descriptor for a file</a:t>
            </a:r>
          </a:p>
          <a:p>
            <a:pPr lvl="1"/>
            <a:r>
              <a:rPr lang="en-US" altLang="zh-TW" dirty="0"/>
              <a:t>Type: "r" for read, "w" for write (overwrite if exist), "a" for append</a:t>
            </a:r>
          </a:p>
          <a:p>
            <a:pPr lvl="1"/>
            <a:r>
              <a:rPr lang="en-US" altLang="zh-TW" dirty="0"/>
              <a:t>E.g., </a:t>
            </a:r>
            <a:r>
              <a:rPr lang="en-US" altLang="zh-TW" sz="16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f_in</a:t>
            </a:r>
            <a:r>
              <a:rPr lang="en-US" altLang="zh-TW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 = $</a:t>
            </a:r>
            <a:r>
              <a:rPr lang="en-US" altLang="zh-TW" sz="16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fopen</a:t>
            </a:r>
            <a:r>
              <a:rPr lang="en-US" altLang="zh-TW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("../00_TESTBED/input.txt", "r");</a:t>
            </a:r>
            <a:endParaRPr lang="en-US" altLang="zh-TW" dirty="0">
              <a:solidFill>
                <a:schemeClr val="tx2">
                  <a:lumMod val="60000"/>
                  <a:lumOff val="40000"/>
                </a:schemeClr>
              </a:solidFill>
              <a:latin typeface="Fira Code" pitchFamily="1" charset="0"/>
              <a:ea typeface="Fira Code" pitchFamily="1" charset="0"/>
              <a:cs typeface="Fira Code" pitchFamily="1" charset="0"/>
            </a:endParaRPr>
          </a:p>
          <a:p>
            <a:r>
              <a:rPr lang="en-US" altLang="zh-TW" sz="2000" dirty="0">
                <a:latin typeface="Fira Code" panose="020B0509050000020004" pitchFamily="49" charset="0"/>
                <a:ea typeface="Fira Code" panose="020B0509050000020004" pitchFamily="49" charset="0"/>
              </a:rPr>
              <a:t>$</a:t>
            </a:r>
            <a:r>
              <a:rPr lang="en-US" altLang="zh-TW" sz="2000" dirty="0" err="1">
                <a:latin typeface="Fira Code" panose="020B0509050000020004" pitchFamily="49" charset="0"/>
                <a:ea typeface="Fira Code" panose="020B0509050000020004" pitchFamily="49" charset="0"/>
              </a:rPr>
              <a:t>fclose</a:t>
            </a:r>
            <a:r>
              <a:rPr lang="en-US" altLang="zh-TW" sz="2000" dirty="0">
                <a:latin typeface="Fira Code" panose="020B0509050000020004" pitchFamily="49" charset="0"/>
                <a:ea typeface="Fira Code" panose="020B0509050000020004" pitchFamily="49" charset="0"/>
              </a:rPr>
              <a:t>(</a:t>
            </a:r>
            <a:r>
              <a:rPr lang="en-US" altLang="zh-TW" sz="2000" dirty="0" err="1">
                <a:latin typeface="Fira Code" panose="020B0509050000020004" pitchFamily="49" charset="0"/>
                <a:ea typeface="Fira Code" panose="020B0509050000020004" pitchFamily="49" charset="0"/>
              </a:rPr>
              <a:t>fd</a:t>
            </a:r>
            <a:r>
              <a:rPr lang="en-US" altLang="zh-TW" sz="2000" dirty="0">
                <a:latin typeface="Fira Code" panose="020B0509050000020004" pitchFamily="49" charset="0"/>
                <a:ea typeface="Fira Code" panose="020B0509050000020004" pitchFamily="49" charset="0"/>
              </a:rPr>
              <a:t>);</a:t>
            </a:r>
            <a:endParaRPr lang="en-US" altLang="zh-TW" dirty="0">
              <a:latin typeface="Fira Code" panose="020B0509050000020004" pitchFamily="49" charset="0"/>
              <a:ea typeface="Fira Code" panose="020B0509050000020004" pitchFamily="49" charset="0"/>
            </a:endParaRPr>
          </a:p>
          <a:p>
            <a:pPr lvl="1"/>
            <a:r>
              <a:rPr lang="en-US" altLang="zh-TW" dirty="0"/>
              <a:t>Closes the file for the descriptor</a:t>
            </a:r>
          </a:p>
          <a:p>
            <a:r>
              <a:rPr lang="en-US" altLang="zh-TW" sz="2000" dirty="0">
                <a:latin typeface="Fira Code" panose="020B0509050000020004" pitchFamily="49" charset="0"/>
                <a:ea typeface="Fira Code" panose="020B0509050000020004" pitchFamily="49" charset="0"/>
              </a:rPr>
              <a:t>status = $</a:t>
            </a:r>
            <a:r>
              <a:rPr lang="en-US" altLang="zh-TW" sz="2000" dirty="0" err="1">
                <a:latin typeface="Fira Code" panose="020B0509050000020004" pitchFamily="49" charset="0"/>
                <a:ea typeface="Fira Code" panose="020B0509050000020004" pitchFamily="49" charset="0"/>
              </a:rPr>
              <a:t>fscanf</a:t>
            </a:r>
            <a:r>
              <a:rPr lang="en-US" altLang="zh-TW" sz="2000" dirty="0">
                <a:latin typeface="Fira Code" panose="020B0509050000020004" pitchFamily="49" charset="0"/>
                <a:ea typeface="Fira Code" panose="020B0509050000020004" pitchFamily="49" charset="0"/>
              </a:rPr>
              <a:t>(</a:t>
            </a:r>
            <a:r>
              <a:rPr lang="en-US" altLang="zh-TW" sz="2000" dirty="0" err="1">
                <a:latin typeface="Fira Code" panose="020B0509050000020004" pitchFamily="49" charset="0"/>
                <a:ea typeface="Fira Code" panose="020B0509050000020004" pitchFamily="49" charset="0"/>
              </a:rPr>
              <a:t>fd</a:t>
            </a:r>
            <a:r>
              <a:rPr lang="en-US" altLang="zh-TW" sz="2000" dirty="0">
                <a:latin typeface="Fira Code" panose="020B0509050000020004" pitchFamily="49" charset="0"/>
                <a:ea typeface="Fira Code" panose="020B0509050000020004" pitchFamily="49" charset="0"/>
              </a:rPr>
              <a:t>, format, </a:t>
            </a:r>
            <a:r>
              <a:rPr lang="en-US" altLang="zh-TW" sz="2000" dirty="0" err="1">
                <a:latin typeface="Fira Code" panose="020B0509050000020004" pitchFamily="49" charset="0"/>
                <a:ea typeface="Fira Code" panose="020B0509050000020004" pitchFamily="49" charset="0"/>
              </a:rPr>
              <a:t>args</a:t>
            </a:r>
            <a:r>
              <a:rPr lang="en-US" altLang="zh-TW" sz="2000" dirty="0">
                <a:latin typeface="Fira Code" panose="020B0509050000020004" pitchFamily="49" charset="0"/>
                <a:ea typeface="Fira Code" panose="020B0509050000020004" pitchFamily="49" charset="0"/>
              </a:rPr>
              <a:t>...);</a:t>
            </a:r>
            <a:endParaRPr lang="en-US" altLang="zh-TW" dirty="0">
              <a:latin typeface="Fira Code" panose="020B0509050000020004" pitchFamily="49" charset="0"/>
              <a:ea typeface="Fira Code" panose="020B0509050000020004" pitchFamily="49" charset="0"/>
            </a:endParaRPr>
          </a:p>
          <a:p>
            <a:pPr lvl="1"/>
            <a:r>
              <a:rPr lang="en-US" altLang="zh-TW" dirty="0"/>
              <a:t>Reads data based on the format</a:t>
            </a:r>
          </a:p>
          <a:p>
            <a:pPr lvl="1"/>
            <a:r>
              <a:rPr lang="en-US" altLang="zh-TW" dirty="0"/>
              <a:t>Returns the number of arguments that are read successfully</a:t>
            </a:r>
          </a:p>
          <a:p>
            <a:pPr lvl="1"/>
            <a:r>
              <a:rPr lang="en-US" altLang="zh-TW" dirty="0"/>
              <a:t>E.g., </a:t>
            </a:r>
            <a:r>
              <a:rPr lang="en-US" altLang="zh-TW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status = $</a:t>
            </a:r>
            <a:r>
              <a:rPr lang="en-US" altLang="zh-TW" sz="16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fscanf</a:t>
            </a:r>
            <a:r>
              <a:rPr lang="en-US" altLang="zh-TW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(</a:t>
            </a:r>
            <a:r>
              <a:rPr lang="en-US" altLang="zh-TW" sz="16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f_in</a:t>
            </a:r>
            <a:r>
              <a:rPr lang="en-US" altLang="zh-TW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, "%</a:t>
            </a:r>
            <a:r>
              <a:rPr lang="en-US" altLang="zh-TW" sz="16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d%d%d%d</a:t>
            </a:r>
            <a:r>
              <a:rPr lang="en-US" altLang="zh-TW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", </a:t>
            </a:r>
            <a:r>
              <a:rPr lang="en-US" altLang="zh-TW" sz="16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in_d</a:t>
            </a:r>
            <a:r>
              <a:rPr lang="en-US" altLang="zh-TW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[0], </a:t>
            </a:r>
            <a:r>
              <a:rPr lang="en-US" altLang="zh-TW" sz="16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in_d</a:t>
            </a:r>
            <a:r>
              <a:rPr lang="en-US" altLang="zh-TW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[1], </a:t>
            </a:r>
            <a:r>
              <a:rPr lang="en-US" altLang="zh-TW" sz="16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in_d</a:t>
            </a:r>
            <a:r>
              <a:rPr lang="en-US" altLang="zh-TW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[2], </a:t>
            </a:r>
            <a:r>
              <a:rPr lang="en-US" altLang="zh-TW" sz="16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in_d</a:t>
            </a:r>
            <a:r>
              <a:rPr lang="en-US" altLang="zh-TW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[3]);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00ED30E-37C4-EF89-957C-705F83C76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ED870F-9485-4D56-AFF4-B9828BB10F8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767190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8BDEC-D90E-4DC2-26BE-EDEEEC77A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9C232DAC-5389-C61A-23F3-2B5923A2D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fork-join / fork-</a:t>
            </a:r>
            <a:r>
              <a:rPr lang="en-US" altLang="zh-TW" dirty="0" err="1"/>
              <a:t>join_any</a:t>
            </a:r>
            <a:r>
              <a:rPr lang="en-US" altLang="zh-TW" dirty="0"/>
              <a:t> / fork-</a:t>
            </a:r>
            <a:r>
              <a:rPr lang="en-US" altLang="zh-TW" dirty="0" err="1"/>
              <a:t>join_none</a:t>
            </a:r>
            <a:endParaRPr lang="zh-TW" altLang="en-US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E71792F-236E-E8C3-3A6F-6685E7C86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00808"/>
            <a:ext cx="10972800" cy="4896544"/>
          </a:xfrm>
        </p:spPr>
        <p:txBody>
          <a:bodyPr numCol="2">
            <a:normAutofit/>
          </a:bodyPr>
          <a:lstStyle/>
          <a:p>
            <a:r>
              <a:rPr lang="en-US" altLang="zh-TW" dirty="0"/>
              <a:t>fork-join</a:t>
            </a:r>
          </a:p>
          <a:p>
            <a:pPr lvl="1"/>
            <a:r>
              <a:rPr lang="en-US" altLang="zh-TW" dirty="0"/>
              <a:t>Spawns parallel processes and waits for all to complete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r>
              <a:rPr lang="en-US" altLang="zh-TW" dirty="0"/>
              <a:t>fork-</a:t>
            </a:r>
            <a:r>
              <a:rPr lang="en-US" altLang="zh-TW" dirty="0" err="1"/>
              <a:t>join_none</a:t>
            </a:r>
            <a:endParaRPr lang="en-US" altLang="zh-TW" dirty="0"/>
          </a:p>
          <a:p>
            <a:pPr lvl="1"/>
            <a:r>
              <a:rPr lang="en-US" altLang="zh-TW" dirty="0"/>
              <a:t>Spawns parallel processes but continues immediately without waiting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r>
              <a:rPr lang="en-US" altLang="zh-TW" dirty="0"/>
              <a:t>fork-</a:t>
            </a:r>
            <a:r>
              <a:rPr lang="en-US" altLang="zh-TW" dirty="0" err="1"/>
              <a:t>join_any</a:t>
            </a:r>
            <a:endParaRPr lang="en-US" altLang="zh-TW" dirty="0"/>
          </a:p>
          <a:p>
            <a:pPr lvl="1"/>
            <a:r>
              <a:rPr lang="en-US" altLang="zh-TW" dirty="0"/>
              <a:t>Waits for any one of the parallel processes to complete</a:t>
            </a:r>
          </a:p>
          <a:p>
            <a:pPr marL="457200" lvl="1" indent="0">
              <a:buNone/>
            </a:pPr>
            <a:endParaRPr lang="en-US" altLang="zh-TW" dirty="0"/>
          </a:p>
          <a:p>
            <a:pPr marL="457200" lvl="1" indent="0">
              <a:buNone/>
            </a:pPr>
            <a:endParaRPr lang="en-US" altLang="zh-TW" dirty="0"/>
          </a:p>
          <a:p>
            <a:pPr marL="457200" lvl="1" indent="0">
              <a:buNone/>
            </a:pPr>
            <a:endParaRPr lang="en-US" altLang="zh-TW" dirty="0"/>
          </a:p>
          <a:p>
            <a:pPr marL="457200" lvl="1" indent="0">
              <a:buNone/>
            </a:pPr>
            <a:endParaRPr lang="en-US" altLang="zh-TW" dirty="0"/>
          </a:p>
          <a:p>
            <a:r>
              <a:rPr lang="en-US" altLang="zh-TW" sz="2000" dirty="0">
                <a:latin typeface="Fira Code" panose="020B0509050000020004" pitchFamily="49" charset="0"/>
                <a:ea typeface="Fira Code" panose="020B0509050000020004" pitchFamily="49" charset="0"/>
              </a:rPr>
              <a:t>disable fork;</a:t>
            </a:r>
          </a:p>
          <a:p>
            <a:pPr lvl="1"/>
            <a:r>
              <a:rPr lang="en-US" altLang="zh-TW" dirty="0"/>
              <a:t>Kills all threads that are spawned by fork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5E29CB0-A62F-CBBC-1956-FD9E46557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ED870F-9485-4D56-AFF4-B9828BB10F8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C52D976-6893-4A8D-EFB7-48261BA533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3431" y="2889000"/>
            <a:ext cx="1313683" cy="108000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3896AF8C-765E-8F06-79F4-730927CE50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84032" y="2889911"/>
            <a:ext cx="1313683" cy="108000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CE30D4F6-9274-6A07-EF74-55609E16899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83430" y="5383946"/>
            <a:ext cx="1313683" cy="1080000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E0C648AB-F178-D175-EE82-602B91A5F47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383715" y="5312361"/>
            <a:ext cx="1314000" cy="1250826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08BA02B1-EECC-5431-3E55-2F7123A70A7A}"/>
              </a:ext>
            </a:extLst>
          </p:cNvPr>
          <p:cNvSpPr txBox="1"/>
          <p:nvPr/>
        </p:nvSpPr>
        <p:spPr>
          <a:xfrm>
            <a:off x="609600" y="1077582"/>
            <a:ext cx="10972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dirty="0"/>
              <a:t>A thread can be a single-line statement, a begin-end block, or a task</a:t>
            </a:r>
          </a:p>
          <a:p>
            <a:endParaRPr lang="zh-TW" altLang="en-US" sz="2400" dirty="0"/>
          </a:p>
        </p:txBody>
      </p:sp>
      <p:pic>
        <p:nvPicPr>
          <p:cNvPr id="15" name="圖形 14">
            <a:extLst>
              <a:ext uri="{FF2B5EF4-FFF2-40B4-BE49-F238E27FC236}">
                <a16:creationId xmlns:a16="http://schemas.microsoft.com/office/drawing/2014/main" id="{E17CA39D-0071-48EB-68DF-CC55B026F3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60793" y="2781080"/>
            <a:ext cx="3058882" cy="1368000"/>
          </a:xfrm>
          <a:prstGeom prst="rect">
            <a:avLst/>
          </a:prstGeom>
        </p:spPr>
      </p:pic>
      <p:pic>
        <p:nvPicPr>
          <p:cNvPr id="16" name="圖形 15">
            <a:extLst>
              <a:ext uri="{FF2B5EF4-FFF2-40B4-BE49-F238E27FC236}">
                <a16:creationId xmlns:a16="http://schemas.microsoft.com/office/drawing/2014/main" id="{52C09481-316C-A114-F638-BF805F2286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2760919" y="5312361"/>
            <a:ext cx="3058882" cy="1234285"/>
          </a:xfrm>
          <a:prstGeom prst="rect">
            <a:avLst/>
          </a:prstGeom>
        </p:spPr>
      </p:pic>
      <p:pic>
        <p:nvPicPr>
          <p:cNvPr id="17" name="圖形 16">
            <a:extLst>
              <a:ext uri="{FF2B5EF4-FFF2-40B4-BE49-F238E27FC236}">
                <a16:creationId xmlns:a16="http://schemas.microsoft.com/office/drawing/2014/main" id="{991D49F5-721F-C14A-7A29-462FCCC9E9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8161394" y="2781080"/>
            <a:ext cx="3058881" cy="1368000"/>
          </a:xfrm>
          <a:prstGeom prst="rect">
            <a:avLst/>
          </a:prstGeom>
        </p:spPr>
      </p:pic>
      <p:pic>
        <p:nvPicPr>
          <p:cNvPr id="18" name="圖形 17">
            <a:extLst>
              <a:ext uri="{FF2B5EF4-FFF2-40B4-BE49-F238E27FC236}">
                <a16:creationId xmlns:a16="http://schemas.microsoft.com/office/drawing/2014/main" id="{F7220587-9694-9C39-4B70-10309978B7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8161394" y="5245504"/>
            <a:ext cx="3058881" cy="13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55320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2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2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2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2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2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2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2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2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2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2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2.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2.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heme/theme1.xml><?xml version="1.0" encoding="utf-8"?>
<a:theme xmlns:a="http://schemas.openxmlformats.org/drawingml/2006/main" name="PPT_VSPLab_templat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_VSPLab_template1" id="{FECAED07-6776-4A84-B28C-C25BEC684FAA}" vid="{55DA80E3-522B-42E9-A5F8-F3F263DE1BEF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PPT_VSPLab_template1</Template>
  <TotalTime>20387</TotalTime>
  <Words>1564</Words>
  <Application>Microsoft Office PowerPoint</Application>
  <PresentationFormat>寬螢幕</PresentationFormat>
  <Paragraphs>253</Paragraphs>
  <Slides>25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25</vt:i4>
      </vt:variant>
    </vt:vector>
  </HeadingPairs>
  <TitlesOfParts>
    <vt:vector size="34" baseType="lpstr">
      <vt:lpstr>Times New Roman</vt:lpstr>
      <vt:lpstr>Cambria Math</vt:lpstr>
      <vt:lpstr>Fira Code</vt:lpstr>
      <vt:lpstr>微軟正黑體</vt:lpstr>
      <vt:lpstr>Arial Unicode MS</vt:lpstr>
      <vt:lpstr>Calibri</vt:lpstr>
      <vt:lpstr>Consolas</vt:lpstr>
      <vt:lpstr>Arial</vt:lpstr>
      <vt:lpstr>PPT_VSPLab_template1</vt:lpstr>
      <vt:lpstr>Lab 6 Pattern</vt:lpstr>
      <vt:lpstr>Purpose</vt:lpstr>
      <vt:lpstr>Lab06</vt:lpstr>
      <vt:lpstr>Design vs Testbench vs Pattern</vt:lpstr>
      <vt:lpstr>LOCK.sv from Lab05 (TA has written.)</vt:lpstr>
      <vt:lpstr>PATTERN.sv (under 00_TESTBED/)</vt:lpstr>
      <vt:lpstr>PATTERN.sv</vt:lpstr>
      <vt:lpstr>PATTERN.sv (input.txt example)</vt:lpstr>
      <vt:lpstr>PATTERN.sv</vt:lpstr>
      <vt:lpstr>Specifications</vt:lpstr>
      <vt:lpstr>Check 0</vt:lpstr>
      <vt:lpstr>Check 1</vt:lpstr>
      <vt:lpstr>Check 2</vt:lpstr>
      <vt:lpstr>Check 3</vt:lpstr>
      <vt:lpstr>Check 4</vt:lpstr>
      <vt:lpstr>Rules for Pattern</vt:lpstr>
      <vt:lpstr>File Usage</vt:lpstr>
      <vt:lpstr>Grading Policy</vt:lpstr>
      <vt:lpstr>Upload</vt:lpstr>
      <vt:lpstr>Debug Helper</vt:lpstr>
      <vt:lpstr>Appendix</vt:lpstr>
      <vt:lpstr>Control Flow</vt:lpstr>
      <vt:lpstr>Timing Control &amp; Events</vt:lpstr>
      <vt:lpstr>File I/O</vt:lpstr>
      <vt:lpstr>fork-join / fork-join_any / fork-join_none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DCS Lab06</dc:title>
  <dc:subject>Pattern</dc:subject>
  <dc:creator>Qun-Kai Lin</dc:creator>
  <cp:lastModifiedBy>林群凱</cp:lastModifiedBy>
  <cp:revision>49</cp:revision>
  <dcterms:created xsi:type="dcterms:W3CDTF">2009-12-14T10:41:03Z</dcterms:created>
  <dcterms:modified xsi:type="dcterms:W3CDTF">2026-04-22T09:15:15Z</dcterms:modified>
</cp:coreProperties>
</file>