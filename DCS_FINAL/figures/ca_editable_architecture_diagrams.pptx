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A299E9-5E54-4E9C-8EB3-AEA1282E039C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143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CA.sv Overall 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127EC0-4D9B-4D3E-8BEF-2C49472E7959}"/>
              </a:ext>
            </a:extLst>
          </p:cNvPr>
          <p:cNvSpPr>
            <a:spLocks noGrp="1"/>
          </p:cNvSpPr>
          <p:nvPr/>
        </p:nvSpPr>
        <p:spPr>
          <a:xfrm>
            <a:off x="228600" y="723900"/>
            <a:ext cx="9696450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AF334C-9073-4E84-AAA4-6CE66C444658}"/>
              </a:ext>
            </a:extLst>
          </p:cNvPr>
          <p:cNvSpPr>
            <a:spLocks noGrp="1"/>
          </p:cNvSpPr>
          <p:nvPr/>
        </p:nvSpPr>
        <p:spPr>
          <a:xfrm>
            <a:off x="4762500" y="8382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 Top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9218BB-6B4F-46A4-8C52-2CE9F750BEF2}"/>
              </a:ext>
            </a:extLst>
          </p:cNvPr>
          <p:cNvSpPr>
            <a:spLocks noGrp="1"/>
          </p:cNvSpPr>
          <p:nvPr/>
        </p:nvSpPr>
        <p:spPr>
          <a:xfrm>
            <a:off x="723900" y="1123950"/>
            <a:ext cx="2095500" cy="876300"/>
          </a:xfrm>
          <a:prstGeom prst="rect">
            <a:avLst/>
          </a:prstGeom>
          <a:solidFill>
            <a:srgbClr val="FFF7E6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CA_Control</a:t>
            </a:r>
            <a:endParaRPr sz="16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FSM + RAM </a:t>
            </a:r>
            <a:r>
              <a:rPr sz="16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Cmd</a:t>
            </a:r>
            <a:endParaRPr sz="16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020325-EC6E-4FAF-9ECF-72A5AE128811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8572500" cy="3810000"/>
          </a:xfrm>
          <a:prstGeom prst="rect">
            <a:avLst/>
          </a:prstGeom>
          <a:solidFill>
            <a:srgbClr val="EEF7FF"/>
          </a:solidFill>
          <a:ln w="19050">
            <a:solidFill>
              <a:srgbClr val="1D4ED8"/>
            </a:solidFill>
            <a:prstDash val="solid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12A4A9-548C-4545-8404-76B618F4E9B5}"/>
              </a:ext>
            </a:extLst>
          </p:cNvPr>
          <p:cNvSpPr>
            <a:spLocks noGrp="1"/>
          </p:cNvSpPr>
          <p:nvPr/>
        </p:nvSpPr>
        <p:spPr>
          <a:xfrm>
            <a:off x="4333875" y="2619375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CA_DataPath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8140C9-E761-4783-B771-55BF4EEEC988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166687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Multiple_Processor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Issue Decode + Tags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D5D1B8-5232-41C2-860C-53AA604AEE12}"/>
              </a:ext>
            </a:extLst>
          </p:cNvPr>
          <p:cNvSpPr>
            <a:spLocks noGrp="1"/>
          </p:cNvSpPr>
          <p:nvPr/>
        </p:nvSpPr>
        <p:spPr>
          <a:xfrm>
            <a:off x="3009900" y="3143250"/>
            <a:ext cx="1695450" cy="87630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Mult_5Stage_Parallel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64-lane Dot Product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9AD4D4-56C8-4635-B626-0F9520B26CD4}"/>
              </a:ext>
            </a:extLst>
          </p:cNvPr>
          <p:cNvSpPr>
            <a:spLocks noGrp="1"/>
          </p:cNvSpPr>
          <p:nvPr/>
        </p:nvSpPr>
        <p:spPr>
          <a:xfrm>
            <a:off x="5143500" y="3143250"/>
            <a:ext cx="1695450" cy="876300"/>
          </a:xfrm>
          <a:prstGeom prst="rect">
            <a:avLst/>
          </a:prstGeom>
          <a:solidFill>
            <a:srgbClr val="FFFBEA"/>
          </a:solidFill>
          <a:ln w="19050">
            <a:solidFill>
              <a:srgbClr val="CA8A04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ACT_5Stage_Parallel</a:t>
            </a:r>
          </a:p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ReLU</a:t>
            </a:r>
            <a:r>
              <a:rPr sz="12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/ RAT / CAT / BAT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18565D-094D-4413-8BDA-2265E755878C}"/>
              </a:ext>
            </a:extLst>
          </p:cNvPr>
          <p:cNvSpPr>
            <a:spLocks noGrp="1"/>
          </p:cNvSpPr>
          <p:nvPr/>
        </p:nvSpPr>
        <p:spPr>
          <a:xfrm>
            <a:off x="7277100" y="3000375"/>
            <a:ext cx="1809750" cy="1162050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PoT_5Stage_Parallel</a:t>
            </a:r>
          </a:p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Max Shift + Clamp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D47342-6236-47C4-A9B8-13B550C0CDA5}"/>
              </a:ext>
            </a:extLst>
          </p:cNvPr>
          <p:cNvSpPr>
            <a:spLocks noGrp="1"/>
          </p:cNvSpPr>
          <p:nvPr/>
        </p:nvSpPr>
        <p:spPr>
          <a:xfrm>
            <a:off x="7449639" y="3780609"/>
            <a:ext cx="1457325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Matrix_Max</a:t>
            </a:r>
            <a:endParaRPr sz="9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3Stage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55F748-9899-4440-A650-7C6768D5A79D}"/>
              </a:ext>
            </a:extLst>
          </p:cNvPr>
          <p:cNvSpPr>
            <a:spLocks noGrp="1"/>
          </p:cNvSpPr>
          <p:nvPr/>
        </p:nvSpPr>
        <p:spPr>
          <a:xfrm>
            <a:off x="1104900" y="5219700"/>
            <a:ext cx="1219200" cy="47625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x_mem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9D6204-41AC-455A-9ED3-74EB5A5D1C08}"/>
              </a:ext>
            </a:extLst>
          </p:cNvPr>
          <p:cNvSpPr>
            <a:spLocks noGrp="1"/>
          </p:cNvSpPr>
          <p:nvPr/>
        </p:nvSpPr>
        <p:spPr>
          <a:xfrm>
            <a:off x="2590800" y="5219700"/>
            <a:ext cx="1219200" cy="47625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q_mem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41049D-C42E-408F-981C-64566C47E93D}"/>
              </a:ext>
            </a:extLst>
          </p:cNvPr>
          <p:cNvSpPr>
            <a:spLocks noGrp="1"/>
          </p:cNvSpPr>
          <p:nvPr/>
        </p:nvSpPr>
        <p:spPr>
          <a:xfrm>
            <a:off x="4076700" y="5219700"/>
            <a:ext cx="1219200" cy="47625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k_mem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3BC1C1-8532-45B2-9D43-A417A2591B65}"/>
              </a:ext>
            </a:extLst>
          </p:cNvPr>
          <p:cNvSpPr>
            <a:spLocks noGrp="1"/>
          </p:cNvSpPr>
          <p:nvPr/>
        </p:nvSpPr>
        <p:spPr>
          <a:xfrm>
            <a:off x="5562600" y="5219700"/>
            <a:ext cx="1219200" cy="47625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v_mem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FF59C4-99A1-414C-8E5F-436F9C2FCE95}"/>
              </a:ext>
            </a:extLst>
          </p:cNvPr>
          <p:cNvSpPr>
            <a:spLocks noGrp="1"/>
          </p:cNvSpPr>
          <p:nvPr/>
        </p:nvSpPr>
        <p:spPr>
          <a:xfrm>
            <a:off x="7048500" y="5219700"/>
            <a:ext cx="1219200" cy="47625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score_mem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E87B7A-87C9-45E8-AAC2-220912D69FCA}"/>
              </a:ext>
            </a:extLst>
          </p:cNvPr>
          <p:cNvSpPr>
            <a:spLocks noGrp="1"/>
          </p:cNvSpPr>
          <p:nvPr/>
        </p:nvSpPr>
        <p:spPr>
          <a:xfrm>
            <a:off x="971550" y="4933950"/>
            <a:ext cx="7442539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7E22CE"/>
            </a:solidFill>
            <a:prstDash val="dash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4705C1-654E-4B9B-BF6E-7974D5947AF5}"/>
              </a:ext>
            </a:extLst>
          </p:cNvPr>
          <p:cNvSpPr>
            <a:spLocks noGrp="1"/>
          </p:cNvSpPr>
          <p:nvPr/>
        </p:nvSpPr>
        <p:spPr>
          <a:xfrm>
            <a:off x="5959020" y="4967288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75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7E22CE"/>
                </a:solidFill>
                <a:latin typeface="Aptos"/>
                <a:ea typeface="Aptos"/>
                <a:cs typeface="Aptos"/>
              </a:rPr>
              <a:t>attention reuse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4453B1-F725-4038-A4AE-E65DA89DD1E5}"/>
              </a:ext>
            </a:extLst>
          </p:cNvPr>
          <p:cNvSpPr>
            <a:spLocks noGrp="1"/>
          </p:cNvSpPr>
          <p:nvPr/>
        </p:nvSpPr>
        <p:spPr>
          <a:xfrm>
            <a:off x="10572750" y="1676400"/>
            <a:ext cx="1314450" cy="4095750"/>
          </a:xfrm>
          <a:prstGeom prst="rect">
            <a:avLst/>
          </a:prstGeom>
          <a:solidFill>
            <a:srgbClr val="F8FAFC"/>
          </a:solidFill>
          <a:ln w="19050">
            <a:solidFill>
              <a:srgbClr val="111827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External</a:t>
            </a:r>
          </a:p>
          <a:p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98C7C-52DA-4710-A110-50BB1A4F5AB1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7581900" cy="381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51B443-D776-4FC6-A52B-9970BCBF232A}"/>
              </a:ext>
            </a:extLst>
          </p:cNvPr>
          <p:cNvSpPr>
            <a:spLocks noGrp="1"/>
          </p:cNvSpPr>
          <p:nvPr/>
        </p:nvSpPr>
        <p:spPr>
          <a:xfrm>
            <a:off x="10391775" y="14668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FD5C5-A784-4DF0-918E-8310F967D662}"/>
              </a:ext>
            </a:extLst>
          </p:cNvPr>
          <p:cNvSpPr>
            <a:spLocks noGrp="1"/>
          </p:cNvSpPr>
          <p:nvPr/>
        </p:nvSpPr>
        <p:spPr>
          <a:xfrm>
            <a:off x="2876550" y="1276350"/>
            <a:ext cx="7639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97316"/>
                </a:solidFill>
                <a:latin typeface="Aptos"/>
                <a:ea typeface="Aptos"/>
                <a:cs typeface="Aptos"/>
              </a:rPr>
              <a:t>RAM </a:t>
            </a:r>
            <a:r>
              <a:rPr sz="975" b="1" dirty="0" err="1">
                <a:solidFill>
                  <a:srgbClr val="F97316"/>
                </a:solidFill>
                <a:latin typeface="Aptos"/>
                <a:ea typeface="Aptos"/>
                <a:cs typeface="Aptos"/>
              </a:rPr>
              <a:t>cmd</a:t>
            </a:r>
            <a:endParaRPr sz="975" b="1" dirty="0">
              <a:solidFill>
                <a:srgbClr val="F973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B73FE1-D240-4158-B67D-6EE6B4FABE0B}"/>
              </a:ext>
            </a:extLst>
          </p:cNvPr>
          <p:cNvSpPr>
            <a:spLocks noGrp="1"/>
          </p:cNvSpPr>
          <p:nvPr/>
        </p:nvSpPr>
        <p:spPr>
          <a:xfrm>
            <a:off x="1752600" y="2000250"/>
            <a:ext cx="38100" cy="285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56027E5-A682-4D9A-BCC7-32B18901C4F8}"/>
              </a:ext>
            </a:extLst>
          </p:cNvPr>
          <p:cNvSpPr>
            <a:spLocks noGrp="1"/>
          </p:cNvSpPr>
          <p:nvPr/>
        </p:nvSpPr>
        <p:spPr>
          <a:xfrm>
            <a:off x="1676400" y="22764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C5A773-92C1-494B-B0EC-CD6B63BC432B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issue / capture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EAB4B8-5B16-48D2-8586-F62B663D1E72}"/>
              </a:ext>
            </a:extLst>
          </p:cNvPr>
          <p:cNvSpPr>
            <a:spLocks noGrp="1"/>
          </p:cNvSpPr>
          <p:nvPr/>
        </p:nvSpPr>
        <p:spPr>
          <a:xfrm>
            <a:off x="4743450" y="2171700"/>
            <a:ext cx="38100" cy="285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AD649A-038D-40B4-BF31-AFFF6EBEB656}"/>
              </a:ext>
            </a:extLst>
          </p:cNvPr>
          <p:cNvSpPr>
            <a:spLocks noGrp="1"/>
          </p:cNvSpPr>
          <p:nvPr/>
        </p:nvSpPr>
        <p:spPr>
          <a:xfrm>
            <a:off x="2819400" y="2152650"/>
            <a:ext cx="1943100" cy="381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8C37256-8A11-4445-9ADC-42883D411FEF}"/>
              </a:ext>
            </a:extLst>
          </p:cNvPr>
          <p:cNvSpPr>
            <a:spLocks noGrp="1"/>
          </p:cNvSpPr>
          <p:nvPr/>
        </p:nvSpPr>
        <p:spPr>
          <a:xfrm>
            <a:off x="2800350" y="2000250"/>
            <a:ext cx="38100" cy="1714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125C18A-0D7D-4B14-BDCE-B05E5E22BB97}"/>
              </a:ext>
            </a:extLst>
          </p:cNvPr>
          <p:cNvSpPr>
            <a:spLocks noGrp="1"/>
          </p:cNvSpPr>
          <p:nvPr/>
        </p:nvSpPr>
        <p:spPr>
          <a:xfrm>
            <a:off x="2724150" y="19050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D26B87F-F4DF-41B8-BC88-336B1EB1190D}"/>
              </a:ext>
            </a:extLst>
          </p:cNvPr>
          <p:cNvSpPr>
            <a:spLocks noGrp="1"/>
          </p:cNvSpPr>
          <p:nvPr/>
        </p:nvSpPr>
        <p:spPr>
          <a:xfrm>
            <a:off x="2895600" y="1771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ready / result status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ABBBF8-92D1-4654-90FF-F9A41E985DF6}"/>
              </a:ext>
            </a:extLst>
          </p:cNvPr>
          <p:cNvSpPr>
            <a:spLocks noGrp="1"/>
          </p:cNvSpPr>
          <p:nvPr/>
        </p:nvSpPr>
        <p:spPr>
          <a:xfrm>
            <a:off x="9410700" y="3276600"/>
            <a:ext cx="116205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959875-272A-4548-9788-998685DF3359}"/>
              </a:ext>
            </a:extLst>
          </p:cNvPr>
          <p:cNvSpPr>
            <a:spLocks noGrp="1"/>
          </p:cNvSpPr>
          <p:nvPr/>
        </p:nvSpPr>
        <p:spPr>
          <a:xfrm>
            <a:off x="9258300" y="3195638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C452D6-685C-49DD-AAAB-A0F3BE0B18C2}"/>
              </a:ext>
            </a:extLst>
          </p:cNvPr>
          <p:cNvSpPr>
            <a:spLocks noGrp="1"/>
          </p:cNvSpPr>
          <p:nvPr/>
        </p:nvSpPr>
        <p:spPr>
          <a:xfrm>
            <a:off x="9001125" y="2976563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 dirty="0" err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rd_data</a:t>
            </a:r>
            <a:endParaRPr sz="97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F26D24-235D-4B71-92C6-C1DE3E8BBCE6}"/>
              </a:ext>
            </a:extLst>
          </p:cNvPr>
          <p:cNvSpPr>
            <a:spLocks noGrp="1"/>
          </p:cNvSpPr>
          <p:nvPr/>
        </p:nvSpPr>
        <p:spPr>
          <a:xfrm>
            <a:off x="9239250" y="4895850"/>
            <a:ext cx="116205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B940A2F-FB1D-4315-9458-CC0F4A4C98FE}"/>
              </a:ext>
            </a:extLst>
          </p:cNvPr>
          <p:cNvSpPr>
            <a:spLocks noGrp="1"/>
          </p:cNvSpPr>
          <p:nvPr/>
        </p:nvSpPr>
        <p:spPr>
          <a:xfrm>
            <a:off x="10391775" y="48196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580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6012CAF-538B-4160-A7D8-3D76B0BAC2D7}"/>
              </a:ext>
            </a:extLst>
          </p:cNvPr>
          <p:cNvSpPr>
            <a:spLocks noGrp="1"/>
          </p:cNvSpPr>
          <p:nvPr/>
        </p:nvSpPr>
        <p:spPr>
          <a:xfrm>
            <a:off x="9639300" y="4617993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 dirty="0" err="1">
                <a:solidFill>
                  <a:srgbClr val="15803D"/>
                </a:solidFill>
                <a:latin typeface="Aptos"/>
                <a:ea typeface="Aptos"/>
                <a:cs typeface="Aptos"/>
              </a:rPr>
              <a:t>wr_data</a:t>
            </a:r>
            <a:endParaRPr sz="975" b="1" dirty="0">
              <a:solidFill>
                <a:srgbClr val="1580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F41E783-4F96-4F26-A381-C94C208EC7FD}"/>
              </a:ext>
            </a:extLst>
          </p:cNvPr>
          <p:cNvSpPr>
            <a:spLocks noGrp="1"/>
          </p:cNvSpPr>
          <p:nvPr/>
        </p:nvSpPr>
        <p:spPr>
          <a:xfrm>
            <a:off x="9236198" y="6004696"/>
            <a:ext cx="23622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8C8FC9-AC85-4125-A897-56768295AF05}"/>
              </a:ext>
            </a:extLst>
          </p:cNvPr>
          <p:cNvSpPr>
            <a:spLocks noGrp="1"/>
          </p:cNvSpPr>
          <p:nvPr/>
        </p:nvSpPr>
        <p:spPr>
          <a:xfrm>
            <a:off x="10220325" y="6091277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 dirty="0" err="1">
                <a:solidFill>
                  <a:srgbClr val="15803D"/>
                </a:solidFill>
                <a:latin typeface="Aptos"/>
                <a:ea typeface="Aptos"/>
                <a:cs typeface="Aptos"/>
              </a:rPr>
              <a:t>out_valid</a:t>
            </a:r>
            <a:r>
              <a:rPr sz="975" b="1" dirty="0">
                <a:solidFill>
                  <a:srgbClr val="15803D"/>
                </a:solidFill>
                <a:latin typeface="Aptos"/>
                <a:ea typeface="Aptos"/>
                <a:cs typeface="Aptos"/>
              </a:rPr>
              <a:t> / </a:t>
            </a:r>
            <a:r>
              <a:rPr sz="975" b="1" dirty="0" err="1">
                <a:solidFill>
                  <a:srgbClr val="15803D"/>
                </a:solidFill>
                <a:latin typeface="Aptos"/>
                <a:ea typeface="Aptos"/>
                <a:cs typeface="Aptos"/>
              </a:rPr>
              <a:t>out_data</a:t>
            </a:r>
            <a:endParaRPr sz="975" b="1" dirty="0">
              <a:solidFill>
                <a:srgbClr val="15803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917CB2-1E3F-477F-8B7D-6D3EE1B70D0A}"/>
              </a:ext>
            </a:extLst>
          </p:cNvPr>
          <p:cNvSpPr>
            <a:spLocks noGrp="1"/>
          </p:cNvSpPr>
          <p:nvPr/>
        </p:nvSpPr>
        <p:spPr>
          <a:xfrm>
            <a:off x="2581275" y="3562350"/>
            <a:ext cx="257175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3BFD4CF-A765-4044-9E16-1F6F49173F9E}"/>
              </a:ext>
            </a:extLst>
          </p:cNvPr>
          <p:cNvSpPr>
            <a:spLocks noGrp="1"/>
          </p:cNvSpPr>
          <p:nvPr/>
        </p:nvSpPr>
        <p:spPr>
          <a:xfrm>
            <a:off x="2828925" y="34861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A49EB76-764E-4230-B9D6-4400BDDCD266}"/>
              </a:ext>
            </a:extLst>
          </p:cNvPr>
          <p:cNvSpPr>
            <a:spLocks noGrp="1"/>
          </p:cNvSpPr>
          <p:nvPr/>
        </p:nvSpPr>
        <p:spPr>
          <a:xfrm>
            <a:off x="4705350" y="3562350"/>
            <a:ext cx="2667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BE4E05B-BAD9-4BB5-9A5C-DCB9083480AB}"/>
              </a:ext>
            </a:extLst>
          </p:cNvPr>
          <p:cNvSpPr>
            <a:spLocks noGrp="1"/>
          </p:cNvSpPr>
          <p:nvPr/>
        </p:nvSpPr>
        <p:spPr>
          <a:xfrm>
            <a:off x="4962525" y="34861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D7C2D85-F4F3-482B-9B05-AF3D1B9629EC}"/>
              </a:ext>
            </a:extLst>
          </p:cNvPr>
          <p:cNvSpPr>
            <a:spLocks noGrp="1"/>
          </p:cNvSpPr>
          <p:nvPr/>
        </p:nvSpPr>
        <p:spPr>
          <a:xfrm>
            <a:off x="6838950" y="3562350"/>
            <a:ext cx="2667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15AB028-01B4-4BEF-A48D-ED93D540E75D}"/>
              </a:ext>
            </a:extLst>
          </p:cNvPr>
          <p:cNvSpPr>
            <a:spLocks noGrp="1"/>
          </p:cNvSpPr>
          <p:nvPr/>
        </p:nvSpPr>
        <p:spPr>
          <a:xfrm>
            <a:off x="7096125" y="34861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95D958-6242-4E47-B9DB-C88B1386D136}"/>
              </a:ext>
            </a:extLst>
          </p:cNvPr>
          <p:cNvSpPr>
            <a:spLocks noGrp="1"/>
          </p:cNvSpPr>
          <p:nvPr/>
        </p:nvSpPr>
        <p:spPr>
          <a:xfrm>
            <a:off x="2509838" y="2881789"/>
            <a:ext cx="523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 dirty="0" err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issue_mode</a:t>
            </a:r>
            <a:r>
              <a:rPr sz="900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 + operands    |    </a:t>
            </a:r>
            <a:r>
              <a:rPr sz="900" b="1" dirty="0" err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mult_data</a:t>
            </a:r>
            <a:r>
              <a:rPr sz="900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 + MT tag    |    activated 16-bit matrix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C2092A9-E182-4484-9597-48069B84CAE8}"/>
              </a:ext>
            </a:extLst>
          </p:cNvPr>
          <p:cNvSpPr>
            <a:spLocks noGrp="1"/>
          </p:cNvSpPr>
          <p:nvPr/>
        </p:nvSpPr>
        <p:spPr>
          <a:xfrm>
            <a:off x="1700213" y="4191000"/>
            <a:ext cx="28575" cy="1028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E0A7388-6C16-4C97-825B-DB4CB6AB8009}"/>
              </a:ext>
            </a:extLst>
          </p:cNvPr>
          <p:cNvSpPr>
            <a:spLocks noGrp="1"/>
          </p:cNvSpPr>
          <p:nvPr/>
        </p:nvSpPr>
        <p:spPr>
          <a:xfrm>
            <a:off x="1619250" y="52101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A429CD5-D130-4973-BCB6-A0388F1CA62C}"/>
              </a:ext>
            </a:extLst>
          </p:cNvPr>
          <p:cNvSpPr>
            <a:spLocks noGrp="1"/>
          </p:cNvSpPr>
          <p:nvPr/>
        </p:nvSpPr>
        <p:spPr>
          <a:xfrm>
            <a:off x="3186113" y="4191000"/>
            <a:ext cx="28575" cy="1028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29A3173-A4B2-4075-92FB-652C473849E8}"/>
              </a:ext>
            </a:extLst>
          </p:cNvPr>
          <p:cNvSpPr>
            <a:spLocks noGrp="1"/>
          </p:cNvSpPr>
          <p:nvPr/>
        </p:nvSpPr>
        <p:spPr>
          <a:xfrm>
            <a:off x="3105150" y="52101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38DD240-687C-40AE-AAC6-A190424B2204}"/>
              </a:ext>
            </a:extLst>
          </p:cNvPr>
          <p:cNvSpPr>
            <a:spLocks noGrp="1"/>
          </p:cNvSpPr>
          <p:nvPr/>
        </p:nvSpPr>
        <p:spPr>
          <a:xfrm>
            <a:off x="4672013" y="4191000"/>
            <a:ext cx="28575" cy="1028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13D9B1E-3614-41BB-90A5-41820D8D4A99}"/>
              </a:ext>
            </a:extLst>
          </p:cNvPr>
          <p:cNvSpPr>
            <a:spLocks noGrp="1"/>
          </p:cNvSpPr>
          <p:nvPr/>
        </p:nvSpPr>
        <p:spPr>
          <a:xfrm>
            <a:off x="4591050" y="52101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9F57208-49FF-44CF-95A3-A0CE36ABC49C}"/>
              </a:ext>
            </a:extLst>
          </p:cNvPr>
          <p:cNvSpPr>
            <a:spLocks noGrp="1"/>
          </p:cNvSpPr>
          <p:nvPr/>
        </p:nvSpPr>
        <p:spPr>
          <a:xfrm>
            <a:off x="6157913" y="4191000"/>
            <a:ext cx="28575" cy="1028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C0BA054-EDD2-4511-9DF8-E8F6DDCE1D78}"/>
              </a:ext>
            </a:extLst>
          </p:cNvPr>
          <p:cNvSpPr>
            <a:spLocks noGrp="1"/>
          </p:cNvSpPr>
          <p:nvPr/>
        </p:nvSpPr>
        <p:spPr>
          <a:xfrm>
            <a:off x="6076950" y="52101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4824A4C-26A2-4801-B0CD-A1ED891D0944}"/>
              </a:ext>
            </a:extLst>
          </p:cNvPr>
          <p:cNvSpPr>
            <a:spLocks noGrp="1"/>
          </p:cNvSpPr>
          <p:nvPr/>
        </p:nvSpPr>
        <p:spPr>
          <a:xfrm>
            <a:off x="7643813" y="4191000"/>
            <a:ext cx="28575" cy="1028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B6B8F0F-EA84-4392-8FF7-02DD60F2FF31}"/>
              </a:ext>
            </a:extLst>
          </p:cNvPr>
          <p:cNvSpPr>
            <a:spLocks noGrp="1"/>
          </p:cNvSpPr>
          <p:nvPr/>
        </p:nvSpPr>
        <p:spPr>
          <a:xfrm>
            <a:off x="7562850" y="52101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79FF293-E3F7-4FE0-879E-070B6B57E5BE}"/>
              </a:ext>
            </a:extLst>
          </p:cNvPr>
          <p:cNvSpPr>
            <a:spLocks noGrp="1"/>
          </p:cNvSpPr>
          <p:nvPr/>
        </p:nvSpPr>
        <p:spPr>
          <a:xfrm>
            <a:off x="4876800" y="4291013"/>
            <a:ext cx="24003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43E00D8-B454-4DB7-8C42-C67E7C21041E}"/>
              </a:ext>
            </a:extLst>
          </p:cNvPr>
          <p:cNvSpPr>
            <a:spLocks noGrp="1"/>
          </p:cNvSpPr>
          <p:nvPr/>
        </p:nvSpPr>
        <p:spPr>
          <a:xfrm>
            <a:off x="4741069" y="42100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5377D5F-7E27-4EA8-842C-17207F1EFB1A}"/>
              </a:ext>
            </a:extLst>
          </p:cNvPr>
          <p:cNvSpPr>
            <a:spLocks noGrp="1"/>
          </p:cNvSpPr>
          <p:nvPr/>
        </p:nvSpPr>
        <p:spPr>
          <a:xfrm>
            <a:off x="4762500" y="4076700"/>
            <a:ext cx="2457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 / K / V bypass ACT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1F57015-E091-4304-81AF-BF329E98F17A}"/>
              </a:ext>
            </a:extLst>
          </p:cNvPr>
          <p:cNvSpPr>
            <a:spLocks noGrp="1"/>
          </p:cNvSpPr>
          <p:nvPr/>
        </p:nvSpPr>
        <p:spPr>
          <a:xfrm>
            <a:off x="944064" y="6322627"/>
            <a:ext cx="8477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AE2BE55-B0BB-4031-A5C2-12F8D5DA70D5}"/>
              </a:ext>
            </a:extLst>
          </p:cNvPr>
          <p:cNvSpPr>
            <a:spLocks noGrp="1"/>
          </p:cNvSpPr>
          <p:nvPr/>
        </p:nvSpPr>
        <p:spPr>
          <a:xfrm>
            <a:off x="1334589" y="6496050"/>
            <a:ext cx="2667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B1721BE-3056-441E-9E32-35F7387E3721}"/>
              </a:ext>
            </a:extLst>
          </p:cNvPr>
          <p:cNvSpPr>
            <a:spLocks noGrp="1"/>
          </p:cNvSpPr>
          <p:nvPr/>
        </p:nvSpPr>
        <p:spPr>
          <a:xfrm>
            <a:off x="1677489" y="6400800"/>
            <a:ext cx="8858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blue=data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5A8D8E-EB08-4309-AF67-AAB59A7E6F3C}"/>
              </a:ext>
            </a:extLst>
          </p:cNvPr>
          <p:cNvSpPr>
            <a:spLocks noGrp="1"/>
          </p:cNvSpPr>
          <p:nvPr/>
        </p:nvSpPr>
        <p:spPr>
          <a:xfrm>
            <a:off x="2620464" y="6496050"/>
            <a:ext cx="266700" cy="381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061D1E3-BC50-4DF3-94D2-CF47510C7CED}"/>
              </a:ext>
            </a:extLst>
          </p:cNvPr>
          <p:cNvSpPr>
            <a:spLocks noGrp="1"/>
          </p:cNvSpPr>
          <p:nvPr/>
        </p:nvSpPr>
        <p:spPr>
          <a:xfrm>
            <a:off x="2963364" y="64008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orange=control/status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4703D5E-45EC-4C82-877B-A688E9BF13BC}"/>
              </a:ext>
            </a:extLst>
          </p:cNvPr>
          <p:cNvSpPr>
            <a:spLocks noGrp="1"/>
          </p:cNvSpPr>
          <p:nvPr/>
        </p:nvSpPr>
        <p:spPr>
          <a:xfrm>
            <a:off x="4906464" y="6496050"/>
            <a:ext cx="266700" cy="381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5E461F4-4FAE-409A-B0F4-A3B68D07C307}"/>
              </a:ext>
            </a:extLst>
          </p:cNvPr>
          <p:cNvSpPr>
            <a:spLocks noGrp="1"/>
          </p:cNvSpPr>
          <p:nvPr/>
        </p:nvSpPr>
        <p:spPr>
          <a:xfrm>
            <a:off x="5249364" y="640080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7E22CE"/>
                </a:solidFill>
                <a:latin typeface="Aptos"/>
                <a:ea typeface="Aptos"/>
                <a:cs typeface="Aptos"/>
              </a:rPr>
              <a:t>purple=attention buffers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7DDE989-2325-4839-8AD6-4BA871194E80}"/>
              </a:ext>
            </a:extLst>
          </p:cNvPr>
          <p:cNvSpPr>
            <a:spLocks noGrp="1"/>
          </p:cNvSpPr>
          <p:nvPr/>
        </p:nvSpPr>
        <p:spPr>
          <a:xfrm>
            <a:off x="7478214" y="6496050"/>
            <a:ext cx="2667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159B565-C7E3-4512-B750-BBC31C400A1B}"/>
              </a:ext>
            </a:extLst>
          </p:cNvPr>
          <p:cNvSpPr>
            <a:spLocks noGrp="1"/>
          </p:cNvSpPr>
          <p:nvPr/>
        </p:nvSpPr>
        <p:spPr>
          <a:xfrm>
            <a:off x="7821114" y="640080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15803D"/>
                </a:solidFill>
                <a:latin typeface="Aptos"/>
                <a:ea typeface="Aptos"/>
                <a:cs typeface="Aptos"/>
              </a:rPr>
              <a:t>green=write/output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ECB31BC-E988-944F-C739-1245C33DAE93}"/>
              </a:ext>
            </a:extLst>
          </p:cNvPr>
          <p:cNvSpPr>
            <a:spLocks noGrp="1"/>
          </p:cNvSpPr>
          <p:nvPr/>
        </p:nvSpPr>
        <p:spPr>
          <a:xfrm>
            <a:off x="11489832" y="5928088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580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537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D034D7AF-D562-4F47-A7E0-DEEA2023D0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0CDCF7-E886-42B0-9455-03D5DC1847CC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143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CA.sv Data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8CBD39-E3E7-4876-9847-C0D45482A9C1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04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Main path: RAM read -&gt; operand dispatch -&gt; multiply -&gt; activation -&gt; </a:t>
            </a:r>
            <a:r>
              <a:rPr sz="1125" b="0" dirty="0" err="1">
                <a:solidFill>
                  <a:srgbClr val="4B5563"/>
                </a:solidFill>
                <a:latin typeface="Aptos"/>
                <a:ea typeface="Aptos"/>
                <a:cs typeface="Aptos"/>
              </a:rPr>
              <a:t>PoT</a:t>
            </a:r>
            <a:r>
              <a:rPr sz="1125" b="0" dirty="0">
                <a:solidFill>
                  <a:srgbClr val="4B5563"/>
                </a:solidFill>
                <a:latin typeface="Aptos"/>
                <a:ea typeface="Aptos"/>
                <a:cs typeface="Aptos"/>
              </a:rPr>
              <a:t> quantization -&gt; writeback/output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CAFEF8-F6C0-4DD1-8566-754C9C5D4C83}"/>
              </a:ext>
            </a:extLst>
          </p:cNvPr>
          <p:cNvSpPr>
            <a:spLocks noGrp="1"/>
          </p:cNvSpPr>
          <p:nvPr/>
        </p:nvSpPr>
        <p:spPr>
          <a:xfrm>
            <a:off x="342900" y="2000250"/>
            <a:ext cx="914400" cy="1504950"/>
          </a:xfrm>
          <a:prstGeom prst="rect">
            <a:avLst/>
          </a:prstGeom>
          <a:solidFill>
            <a:srgbClr val="F8FAFC"/>
          </a:solidFill>
          <a:ln w="19050">
            <a:solidFill>
              <a:srgbClr val="111827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External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5BB6AE-9C13-4CCF-B992-41E2AD436604}"/>
              </a:ext>
            </a:extLst>
          </p:cNvPr>
          <p:cNvSpPr>
            <a:spLocks noGrp="1"/>
          </p:cNvSpPr>
          <p:nvPr/>
        </p:nvSpPr>
        <p:spPr>
          <a:xfrm>
            <a:off x="1809750" y="1981200"/>
            <a:ext cx="1676400" cy="78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Multiple_Processor</a:t>
            </a:r>
            <a:endParaRPr sz="12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issue decode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71963B-35B4-420A-B2BD-4829BBC97007}"/>
              </a:ext>
            </a:extLst>
          </p:cNvPr>
          <p:cNvSpPr>
            <a:spLocks noGrp="1"/>
          </p:cNvSpPr>
          <p:nvPr/>
        </p:nvSpPr>
        <p:spPr>
          <a:xfrm>
            <a:off x="4038600" y="1981200"/>
            <a:ext cx="1752600" cy="78105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Mult_5Stage_Parallel</a:t>
            </a:r>
          </a:p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64-lane dot product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433722-7899-447E-B05A-ED6725B070A1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1657350" cy="781050"/>
          </a:xfrm>
          <a:prstGeom prst="rect">
            <a:avLst/>
          </a:prstGeom>
          <a:solidFill>
            <a:srgbClr val="FFFBEA"/>
          </a:solidFill>
          <a:ln w="19050">
            <a:solidFill>
              <a:srgbClr val="CA8A04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ACT_5Stage_Parallel</a:t>
            </a:r>
          </a:p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D813B5-E14C-40AE-A5F1-D3CE3569436B}"/>
              </a:ext>
            </a:extLst>
          </p:cNvPr>
          <p:cNvSpPr>
            <a:spLocks noGrp="1"/>
          </p:cNvSpPr>
          <p:nvPr/>
        </p:nvSpPr>
        <p:spPr>
          <a:xfrm>
            <a:off x="8324850" y="1981200"/>
            <a:ext cx="1752600" cy="781050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PoT_5Stage_Parallel</a:t>
            </a:r>
          </a:p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quantize to 4-bit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679D39-5CCD-412D-9293-F21E98FE1D4D}"/>
              </a:ext>
            </a:extLst>
          </p:cNvPr>
          <p:cNvSpPr>
            <a:spLocks noGrp="1"/>
          </p:cNvSpPr>
          <p:nvPr/>
        </p:nvSpPr>
        <p:spPr>
          <a:xfrm>
            <a:off x="10477500" y="2038350"/>
            <a:ext cx="7429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wr_data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D84602-77C7-4461-82BC-E88FD336FE9D}"/>
              </a:ext>
            </a:extLst>
          </p:cNvPr>
          <p:cNvSpPr>
            <a:spLocks noGrp="1"/>
          </p:cNvSpPr>
          <p:nvPr/>
        </p:nvSpPr>
        <p:spPr>
          <a:xfrm>
            <a:off x="11239500" y="2000250"/>
            <a:ext cx="857250" cy="1504950"/>
          </a:xfrm>
          <a:prstGeom prst="rect">
            <a:avLst/>
          </a:prstGeom>
          <a:solidFill>
            <a:srgbClr val="F8FAFC"/>
          </a:solidFill>
          <a:ln w="19050">
            <a:solidFill>
              <a:srgbClr val="111827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External</a:t>
            </a:r>
          </a:p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982CBD-02A6-47C9-A41A-50772C8AA81A}"/>
              </a:ext>
            </a:extLst>
          </p:cNvPr>
          <p:cNvSpPr>
            <a:spLocks noGrp="1"/>
          </p:cNvSpPr>
          <p:nvPr/>
        </p:nvSpPr>
        <p:spPr>
          <a:xfrm>
            <a:off x="10344150" y="3352800"/>
            <a:ext cx="16954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out_data[31:0]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DCAF0E-7AF9-45D9-B0CA-B63A06795820}"/>
              </a:ext>
            </a:extLst>
          </p:cNvPr>
          <p:cNvSpPr>
            <a:spLocks noGrp="1"/>
          </p:cNvSpPr>
          <p:nvPr/>
        </p:nvSpPr>
        <p:spPr>
          <a:xfrm>
            <a:off x="1257300" y="2343150"/>
            <a:ext cx="3810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6F5AE9-7CBF-4635-A24C-36AFE3B456A2}"/>
              </a:ext>
            </a:extLst>
          </p:cNvPr>
          <p:cNvSpPr>
            <a:spLocks noGrp="1"/>
          </p:cNvSpPr>
          <p:nvPr/>
        </p:nvSpPr>
        <p:spPr>
          <a:xfrm>
            <a:off x="1628775" y="2266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787A8D-934C-4A2E-A497-777AF8A1D93D}"/>
              </a:ext>
            </a:extLst>
          </p:cNvPr>
          <p:cNvSpPr>
            <a:spLocks noGrp="1"/>
          </p:cNvSpPr>
          <p:nvPr/>
        </p:nvSpPr>
        <p:spPr>
          <a:xfrm>
            <a:off x="1314450" y="2095500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rd_data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D09AA5-3C25-43A5-8D2E-CEE214EC70F9}"/>
              </a:ext>
            </a:extLst>
          </p:cNvPr>
          <p:cNvSpPr>
            <a:spLocks noGrp="1"/>
          </p:cNvSpPr>
          <p:nvPr/>
        </p:nvSpPr>
        <p:spPr>
          <a:xfrm>
            <a:off x="3486150" y="2343150"/>
            <a:ext cx="3810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87C853-1DC1-4B58-B4FC-264486EB4922}"/>
              </a:ext>
            </a:extLst>
          </p:cNvPr>
          <p:cNvSpPr>
            <a:spLocks noGrp="1"/>
          </p:cNvSpPr>
          <p:nvPr/>
        </p:nvSpPr>
        <p:spPr>
          <a:xfrm>
            <a:off x="3857625" y="2266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784008-9DCE-42DB-93A9-AB59CEA41930}"/>
              </a:ext>
            </a:extLst>
          </p:cNvPr>
          <p:cNvSpPr>
            <a:spLocks noGrp="1"/>
          </p:cNvSpPr>
          <p:nvPr/>
        </p:nvSpPr>
        <p:spPr>
          <a:xfrm>
            <a:off x="3543300" y="2076450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operands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C2A195-BFDB-4300-826E-4494E724C958}"/>
              </a:ext>
            </a:extLst>
          </p:cNvPr>
          <p:cNvSpPr>
            <a:spLocks noGrp="1"/>
          </p:cNvSpPr>
          <p:nvPr/>
        </p:nvSpPr>
        <p:spPr>
          <a:xfrm>
            <a:off x="5791200" y="2343150"/>
            <a:ext cx="2286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F990A7-8477-40D3-893C-5F8BC8F86FE0}"/>
              </a:ext>
            </a:extLst>
          </p:cNvPr>
          <p:cNvSpPr>
            <a:spLocks noGrp="1"/>
          </p:cNvSpPr>
          <p:nvPr/>
        </p:nvSpPr>
        <p:spPr>
          <a:xfrm>
            <a:off x="6010275" y="2266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864F2C-1097-4DAD-8B50-CDC317A79B1F}"/>
              </a:ext>
            </a:extLst>
          </p:cNvPr>
          <p:cNvSpPr>
            <a:spLocks noGrp="1"/>
          </p:cNvSpPr>
          <p:nvPr/>
        </p:nvSpPr>
        <p:spPr>
          <a:xfrm>
            <a:off x="5791200" y="290512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NORM / FINAL path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2885D9-5FE1-4935-A611-399AC0184871}"/>
              </a:ext>
            </a:extLst>
          </p:cNvPr>
          <p:cNvSpPr>
            <a:spLocks noGrp="1"/>
          </p:cNvSpPr>
          <p:nvPr/>
        </p:nvSpPr>
        <p:spPr>
          <a:xfrm>
            <a:off x="7848600" y="2343150"/>
            <a:ext cx="304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D575BA-CC8C-4C2F-AC87-79F2AF8F8B59}"/>
              </a:ext>
            </a:extLst>
          </p:cNvPr>
          <p:cNvSpPr>
            <a:spLocks noGrp="1"/>
          </p:cNvSpPr>
          <p:nvPr/>
        </p:nvSpPr>
        <p:spPr>
          <a:xfrm>
            <a:off x="8143875" y="2266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5496AC-4875-4054-B8CE-E47EC79AEBF8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activated 16-bit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3F4FBC-2BE9-4CE2-A09E-3855AD12BD2D}"/>
              </a:ext>
            </a:extLst>
          </p:cNvPr>
          <p:cNvSpPr>
            <a:spLocks noGrp="1"/>
          </p:cNvSpPr>
          <p:nvPr/>
        </p:nvSpPr>
        <p:spPr>
          <a:xfrm>
            <a:off x="10077450" y="2276475"/>
            <a:ext cx="2286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D101AD-EEA7-4979-9B45-A08C31F41476}"/>
              </a:ext>
            </a:extLst>
          </p:cNvPr>
          <p:cNvSpPr>
            <a:spLocks noGrp="1"/>
          </p:cNvSpPr>
          <p:nvPr/>
        </p:nvSpPr>
        <p:spPr>
          <a:xfrm>
            <a:off x="10296525" y="22002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86FD4C-EFEA-421D-892C-D883240CE968}"/>
              </a:ext>
            </a:extLst>
          </p:cNvPr>
          <p:cNvSpPr>
            <a:spLocks noGrp="1"/>
          </p:cNvSpPr>
          <p:nvPr/>
        </p:nvSpPr>
        <p:spPr>
          <a:xfrm>
            <a:off x="10134600" y="2028825"/>
            <a:ext cx="28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packed 4-bit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9F5634-E3B4-402B-A694-2EC7C4FA23E9}"/>
              </a:ext>
            </a:extLst>
          </p:cNvPr>
          <p:cNvSpPr>
            <a:spLocks noGrp="1"/>
          </p:cNvSpPr>
          <p:nvPr/>
        </p:nvSpPr>
        <p:spPr>
          <a:xfrm>
            <a:off x="11220450" y="2276475"/>
            <a:ext cx="381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451191-F89C-4506-B926-E6D399EDC31B}"/>
              </a:ext>
            </a:extLst>
          </p:cNvPr>
          <p:cNvSpPr>
            <a:spLocks noGrp="1"/>
          </p:cNvSpPr>
          <p:nvPr/>
        </p:nvSpPr>
        <p:spPr>
          <a:xfrm>
            <a:off x="11058525" y="22002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EB8E1E-69EB-4AF1-B2BE-727721F856C4}"/>
              </a:ext>
            </a:extLst>
          </p:cNvPr>
          <p:cNvSpPr>
            <a:spLocks noGrp="1"/>
          </p:cNvSpPr>
          <p:nvPr/>
        </p:nvSpPr>
        <p:spPr>
          <a:xfrm>
            <a:off x="10820400" y="2552700"/>
            <a:ext cx="38100" cy="10668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B97AC6-4EA7-426E-A780-748633132051}"/>
              </a:ext>
            </a:extLst>
          </p:cNvPr>
          <p:cNvSpPr>
            <a:spLocks noGrp="1"/>
          </p:cNvSpPr>
          <p:nvPr/>
        </p:nvSpPr>
        <p:spPr>
          <a:xfrm>
            <a:off x="10344150" y="3600450"/>
            <a:ext cx="4953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9B45951-932D-49BB-ADE5-3BE124A6A1DA}"/>
              </a:ext>
            </a:extLst>
          </p:cNvPr>
          <p:cNvSpPr>
            <a:spLocks noGrp="1"/>
          </p:cNvSpPr>
          <p:nvPr/>
        </p:nvSpPr>
        <p:spPr>
          <a:xfrm>
            <a:off x="10248900" y="35242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2C3DF2-93E9-4DEA-B8AE-7DD348236C3C}"/>
              </a:ext>
            </a:extLst>
          </p:cNvPr>
          <p:cNvSpPr>
            <a:spLocks noGrp="1"/>
          </p:cNvSpPr>
          <p:nvPr/>
        </p:nvSpPr>
        <p:spPr>
          <a:xfrm>
            <a:off x="10420350" y="33909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last row token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C50FF4D-03EC-4401-8D68-BCD339C4BC3A}"/>
              </a:ext>
            </a:extLst>
          </p:cNvPr>
          <p:cNvSpPr>
            <a:spLocks noGrp="1"/>
          </p:cNvSpPr>
          <p:nvPr/>
        </p:nvSpPr>
        <p:spPr>
          <a:xfrm>
            <a:off x="5791200" y="1681163"/>
            <a:ext cx="34099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891A27-1DAD-4455-BF0F-0CA77D6CD18E}"/>
              </a:ext>
            </a:extLst>
          </p:cNvPr>
          <p:cNvSpPr>
            <a:spLocks noGrp="1"/>
          </p:cNvSpPr>
          <p:nvPr/>
        </p:nvSpPr>
        <p:spPr>
          <a:xfrm>
            <a:off x="9186863" y="1695450"/>
            <a:ext cx="28575" cy="2857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8AD28F3-0A43-45AD-979B-B6A4557DB4E3}"/>
              </a:ext>
            </a:extLst>
          </p:cNvPr>
          <p:cNvSpPr>
            <a:spLocks noGrp="1"/>
          </p:cNvSpPr>
          <p:nvPr/>
        </p:nvSpPr>
        <p:spPr>
          <a:xfrm>
            <a:off x="9105900" y="1885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7C0751F-4F7F-47B4-9279-841B1ECBBF39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 / K / V bypass ACT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FA1A18-EE5D-4FDA-9C14-A4F4CC59EEFC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8953500" cy="1200150"/>
          </a:xfrm>
          <a:prstGeom prst="rect">
            <a:avLst/>
          </a:prstGeom>
          <a:solidFill>
            <a:srgbClr val="FBF7FF"/>
          </a:solidFill>
          <a:ln w="19050">
            <a:solidFill>
              <a:srgbClr val="7E22CE"/>
            </a:solidFill>
            <a:prstDash val="dash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10B599C-6ED3-4C9C-B524-6204E2463777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275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Attention Scratch Buffers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A67AE21-4BDE-44C3-8221-F5C66AD590DF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1295400" cy="49530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x_mem[0..3]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9E30E7-063B-4948-92F2-D52AF32FE728}"/>
              </a:ext>
            </a:extLst>
          </p:cNvPr>
          <p:cNvSpPr>
            <a:spLocks noGrp="1"/>
          </p:cNvSpPr>
          <p:nvPr/>
        </p:nvSpPr>
        <p:spPr>
          <a:xfrm>
            <a:off x="2762250" y="4686300"/>
            <a:ext cx="1295400" cy="49530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q_mem[0..3]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E328AC6-123B-4CED-AC02-5E6E89DC5B42}"/>
              </a:ext>
            </a:extLst>
          </p:cNvPr>
          <p:cNvSpPr>
            <a:spLocks noGrp="1"/>
          </p:cNvSpPr>
          <p:nvPr/>
        </p:nvSpPr>
        <p:spPr>
          <a:xfrm>
            <a:off x="4248150" y="4686300"/>
            <a:ext cx="1295400" cy="49530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k_mem[0..3]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F7C3CCC-4955-48E6-B641-442E63108D58}"/>
              </a:ext>
            </a:extLst>
          </p:cNvPr>
          <p:cNvSpPr>
            <a:spLocks noGrp="1"/>
          </p:cNvSpPr>
          <p:nvPr/>
        </p:nvSpPr>
        <p:spPr>
          <a:xfrm>
            <a:off x="5734050" y="4686300"/>
            <a:ext cx="1295400" cy="49530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v_mem[0..3]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DFE52A5-C081-4113-BD0F-4A0ABD039AE2}"/>
              </a:ext>
            </a:extLst>
          </p:cNvPr>
          <p:cNvSpPr>
            <a:spLocks noGrp="1"/>
          </p:cNvSpPr>
          <p:nvPr/>
        </p:nvSpPr>
        <p:spPr>
          <a:xfrm>
            <a:off x="7372350" y="4686300"/>
            <a:ext cx="1295400" cy="495300"/>
          </a:xfrm>
          <a:prstGeom prst="rect">
            <a:avLst/>
          </a:prstGeom>
          <a:solidFill>
            <a:srgbClr val="F5F0FF"/>
          </a:solidFill>
          <a:ln w="19050">
            <a:solidFill>
              <a:srgbClr val="7E22C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score_mem[0..7]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49FC84-EEA6-4858-B40D-8A1D367DB76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38100" cy="609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4C38A3C-4759-4E35-AF47-736B24180294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9144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8FEAA0-FA27-4512-A5A2-E1A683E9C932}"/>
              </a:ext>
            </a:extLst>
          </p:cNvPr>
          <p:cNvSpPr>
            <a:spLocks noGrp="1"/>
          </p:cNvSpPr>
          <p:nvPr/>
        </p:nvSpPr>
        <p:spPr>
          <a:xfrm>
            <a:off x="1695450" y="4114800"/>
            <a:ext cx="38100" cy="5715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A77D4F3-BE97-4980-A8D4-CDCEF03B8F62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44DC35-38EF-449B-9556-AA0F923BC177}"/>
              </a:ext>
            </a:extLst>
          </p:cNvPr>
          <p:cNvSpPr>
            <a:spLocks noGrp="1"/>
          </p:cNvSpPr>
          <p:nvPr/>
        </p:nvSpPr>
        <p:spPr>
          <a:xfrm>
            <a:off x="1790700" y="44577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SHA / MHA capture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31744BA-2DC8-421C-8AE7-49EF68CAFFE1}"/>
              </a:ext>
            </a:extLst>
          </p:cNvPr>
          <p:cNvSpPr>
            <a:spLocks noGrp="1"/>
          </p:cNvSpPr>
          <p:nvPr/>
        </p:nvSpPr>
        <p:spPr>
          <a:xfrm>
            <a:off x="1809750" y="3028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97316"/>
                </a:solidFill>
                <a:latin typeface="Aptos"/>
                <a:ea typeface="Aptos"/>
                <a:cs typeface="Aptos"/>
              </a:rPr>
              <a:t>issue modes: IM_QKV / IM_SV / IM_FINAL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ED011BB-7159-4E5C-8C7F-801461E68EB3}"/>
              </a:ext>
            </a:extLst>
          </p:cNvPr>
          <p:cNvSpPr>
            <a:spLocks noGrp="1"/>
          </p:cNvSpPr>
          <p:nvPr/>
        </p:nvSpPr>
        <p:spPr>
          <a:xfrm>
            <a:off x="1700213" y="3390900"/>
            <a:ext cx="28575" cy="12954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5B71271-9C29-4812-AB39-8D420AF98663}"/>
              </a:ext>
            </a:extLst>
          </p:cNvPr>
          <p:cNvSpPr>
            <a:spLocks noGrp="1"/>
          </p:cNvSpPr>
          <p:nvPr/>
        </p:nvSpPr>
        <p:spPr>
          <a:xfrm>
            <a:off x="1700213" y="2762250"/>
            <a:ext cx="28575" cy="6286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89F503C-9F8E-46C2-8EC3-56C673693660}"/>
              </a:ext>
            </a:extLst>
          </p:cNvPr>
          <p:cNvSpPr>
            <a:spLocks noGrp="1"/>
          </p:cNvSpPr>
          <p:nvPr/>
        </p:nvSpPr>
        <p:spPr>
          <a:xfrm>
            <a:off x="2095500" y="26670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B10222B-1801-4F4B-A3A0-3DCF8DA1B6BF}"/>
              </a:ext>
            </a:extLst>
          </p:cNvPr>
          <p:cNvSpPr>
            <a:spLocks noGrp="1"/>
          </p:cNvSpPr>
          <p:nvPr/>
        </p:nvSpPr>
        <p:spPr>
          <a:xfrm>
            <a:off x="3395663" y="3390900"/>
            <a:ext cx="28575" cy="12954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AA76A96-7FE1-46B2-B3D1-BA1430BCCBFA}"/>
              </a:ext>
            </a:extLst>
          </p:cNvPr>
          <p:cNvSpPr>
            <a:spLocks noGrp="1"/>
          </p:cNvSpPr>
          <p:nvPr/>
        </p:nvSpPr>
        <p:spPr>
          <a:xfrm>
            <a:off x="3395663" y="2762250"/>
            <a:ext cx="28575" cy="6286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D47CDA1-1974-492E-AB91-EF0677B26838}"/>
              </a:ext>
            </a:extLst>
          </p:cNvPr>
          <p:cNvSpPr>
            <a:spLocks noGrp="1"/>
          </p:cNvSpPr>
          <p:nvPr/>
        </p:nvSpPr>
        <p:spPr>
          <a:xfrm>
            <a:off x="2305050" y="26670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CDCAE8F-3355-4CED-A048-2B030B4CFC7F}"/>
              </a:ext>
            </a:extLst>
          </p:cNvPr>
          <p:cNvSpPr>
            <a:spLocks noGrp="1"/>
          </p:cNvSpPr>
          <p:nvPr/>
        </p:nvSpPr>
        <p:spPr>
          <a:xfrm>
            <a:off x="4881563" y="3390900"/>
            <a:ext cx="28575" cy="12954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B758E8-A517-465E-936E-E4C827BB5EF5}"/>
              </a:ext>
            </a:extLst>
          </p:cNvPr>
          <p:cNvSpPr>
            <a:spLocks noGrp="1"/>
          </p:cNvSpPr>
          <p:nvPr/>
        </p:nvSpPr>
        <p:spPr>
          <a:xfrm>
            <a:off x="4881563" y="2762250"/>
            <a:ext cx="28575" cy="6286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C7846C7-ED1B-4F43-A3F4-0283C0486AF1}"/>
              </a:ext>
            </a:extLst>
          </p:cNvPr>
          <p:cNvSpPr>
            <a:spLocks noGrp="1"/>
          </p:cNvSpPr>
          <p:nvPr/>
        </p:nvSpPr>
        <p:spPr>
          <a:xfrm>
            <a:off x="2476500" y="26670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465CFDA-3BD5-43F5-B1F1-0FE41DD863B7}"/>
              </a:ext>
            </a:extLst>
          </p:cNvPr>
          <p:cNvSpPr>
            <a:spLocks noGrp="1"/>
          </p:cNvSpPr>
          <p:nvPr/>
        </p:nvSpPr>
        <p:spPr>
          <a:xfrm>
            <a:off x="8005763" y="3276600"/>
            <a:ext cx="28575" cy="1409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77A33D9-695A-4589-A0C5-02FAE7090247}"/>
              </a:ext>
            </a:extLst>
          </p:cNvPr>
          <p:cNvSpPr>
            <a:spLocks noGrp="1"/>
          </p:cNvSpPr>
          <p:nvPr/>
        </p:nvSpPr>
        <p:spPr>
          <a:xfrm>
            <a:off x="8005763" y="2762250"/>
            <a:ext cx="28575" cy="5143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F54FD86-060E-4733-95AF-394B85D371F0}"/>
              </a:ext>
            </a:extLst>
          </p:cNvPr>
          <p:cNvSpPr>
            <a:spLocks noGrp="1"/>
          </p:cNvSpPr>
          <p:nvPr/>
        </p:nvSpPr>
        <p:spPr>
          <a:xfrm>
            <a:off x="2628900" y="26670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2613A02-8860-4FC9-AC2F-82E8DFE93168}"/>
              </a:ext>
            </a:extLst>
          </p:cNvPr>
          <p:cNvSpPr>
            <a:spLocks noGrp="1"/>
          </p:cNvSpPr>
          <p:nvPr/>
        </p:nvSpPr>
        <p:spPr>
          <a:xfrm>
            <a:off x="6367463" y="3276600"/>
            <a:ext cx="28575" cy="1409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06C9664-E162-4D08-82F0-74AAB5280005}"/>
              </a:ext>
            </a:extLst>
          </p:cNvPr>
          <p:cNvSpPr>
            <a:spLocks noGrp="1"/>
          </p:cNvSpPr>
          <p:nvPr/>
        </p:nvSpPr>
        <p:spPr>
          <a:xfrm>
            <a:off x="6381750" y="3262313"/>
            <a:ext cx="1638300" cy="28575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D8685EC-55A4-4D8C-98BA-7DA3BFA472EF}"/>
              </a:ext>
            </a:extLst>
          </p:cNvPr>
          <p:cNvSpPr>
            <a:spLocks noGrp="1"/>
          </p:cNvSpPr>
          <p:nvPr/>
        </p:nvSpPr>
        <p:spPr>
          <a:xfrm>
            <a:off x="7924800" y="31813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5E85C7B-5E2E-4DA8-AA52-76F6C54F2C81}"/>
              </a:ext>
            </a:extLst>
          </p:cNvPr>
          <p:cNvSpPr>
            <a:spLocks noGrp="1"/>
          </p:cNvSpPr>
          <p:nvPr/>
        </p:nvSpPr>
        <p:spPr>
          <a:xfrm>
            <a:off x="5810250" y="39814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975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scratch feedback: Q/K/V, score, score*V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DC718F1-4A38-478F-AF76-9C26346880C1}"/>
              </a:ext>
            </a:extLst>
          </p:cNvPr>
          <p:cNvSpPr>
            <a:spLocks noGrp="1"/>
          </p:cNvSpPr>
          <p:nvPr/>
        </p:nvSpPr>
        <p:spPr>
          <a:xfrm>
            <a:off x="4900613" y="2762250"/>
            <a:ext cx="28575" cy="12763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474FDD7-0BAD-4589-9639-34C45C66AF98}"/>
              </a:ext>
            </a:extLst>
          </p:cNvPr>
          <p:cNvSpPr>
            <a:spLocks noGrp="1"/>
          </p:cNvSpPr>
          <p:nvPr/>
        </p:nvSpPr>
        <p:spPr>
          <a:xfrm>
            <a:off x="4900613" y="4038600"/>
            <a:ext cx="28575" cy="647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99D1FBF-9D56-40FC-9E57-D5AA8126E6A6}"/>
              </a:ext>
            </a:extLst>
          </p:cNvPr>
          <p:cNvSpPr>
            <a:spLocks noGrp="1"/>
          </p:cNvSpPr>
          <p:nvPr/>
        </p:nvSpPr>
        <p:spPr>
          <a:xfrm>
            <a:off x="7924800" y="45910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514B94D-81A4-45FA-9C5D-B828C4CF6860}"/>
              </a:ext>
            </a:extLst>
          </p:cNvPr>
          <p:cNvSpPr>
            <a:spLocks noGrp="1"/>
          </p:cNvSpPr>
          <p:nvPr/>
        </p:nvSpPr>
        <p:spPr>
          <a:xfrm>
            <a:off x="9186863" y="2762250"/>
            <a:ext cx="28575" cy="12763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20FF36E-FB48-4392-808A-F567FF632C5D}"/>
              </a:ext>
            </a:extLst>
          </p:cNvPr>
          <p:cNvSpPr>
            <a:spLocks noGrp="1"/>
          </p:cNvSpPr>
          <p:nvPr/>
        </p:nvSpPr>
        <p:spPr>
          <a:xfrm>
            <a:off x="9186863" y="4038600"/>
            <a:ext cx="28575" cy="647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C7E19A8-BF3E-4AAF-8A30-CE8F4A4D1B04}"/>
              </a:ext>
            </a:extLst>
          </p:cNvPr>
          <p:cNvSpPr>
            <a:spLocks noGrp="1"/>
          </p:cNvSpPr>
          <p:nvPr/>
        </p:nvSpPr>
        <p:spPr>
          <a:xfrm>
            <a:off x="3314700" y="45910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2118339-EC45-46A7-975E-41EE60BB3732}"/>
              </a:ext>
            </a:extLst>
          </p:cNvPr>
          <p:cNvSpPr>
            <a:spLocks noGrp="1"/>
          </p:cNvSpPr>
          <p:nvPr/>
        </p:nvSpPr>
        <p:spPr>
          <a:xfrm>
            <a:off x="9186863" y="2762250"/>
            <a:ext cx="28575" cy="12763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A65C9B2-07ED-4E95-91CC-733E99FC1CF1}"/>
              </a:ext>
            </a:extLst>
          </p:cNvPr>
          <p:cNvSpPr>
            <a:spLocks noGrp="1"/>
          </p:cNvSpPr>
          <p:nvPr/>
        </p:nvSpPr>
        <p:spPr>
          <a:xfrm>
            <a:off x="9186863" y="4038600"/>
            <a:ext cx="28575" cy="647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CBA39B2-41E4-4431-B5CF-B4FE526D69B4}"/>
              </a:ext>
            </a:extLst>
          </p:cNvPr>
          <p:cNvSpPr>
            <a:spLocks noGrp="1"/>
          </p:cNvSpPr>
          <p:nvPr/>
        </p:nvSpPr>
        <p:spPr>
          <a:xfrm>
            <a:off x="4800600" y="45910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7330B07-CE71-470B-8F11-D60CA09B9E87}"/>
              </a:ext>
            </a:extLst>
          </p:cNvPr>
          <p:cNvSpPr>
            <a:spLocks noGrp="1"/>
          </p:cNvSpPr>
          <p:nvPr/>
        </p:nvSpPr>
        <p:spPr>
          <a:xfrm>
            <a:off x="9186863" y="2762250"/>
            <a:ext cx="28575" cy="127635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101A440-AC6F-4517-AFF8-14BA8C25440E}"/>
              </a:ext>
            </a:extLst>
          </p:cNvPr>
          <p:cNvSpPr>
            <a:spLocks noGrp="1"/>
          </p:cNvSpPr>
          <p:nvPr/>
        </p:nvSpPr>
        <p:spPr>
          <a:xfrm>
            <a:off x="9186863" y="4038600"/>
            <a:ext cx="28575" cy="6477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C27A788-9943-4C9E-AEDC-407A57D09EAB}"/>
              </a:ext>
            </a:extLst>
          </p:cNvPr>
          <p:cNvSpPr>
            <a:spLocks noGrp="1"/>
          </p:cNvSpPr>
          <p:nvPr/>
        </p:nvSpPr>
        <p:spPr>
          <a:xfrm>
            <a:off x="6286500" y="45910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B04A6C0-5EE0-465C-99E1-0FBE3653E625}"/>
              </a:ext>
            </a:extLst>
          </p:cNvPr>
          <p:cNvSpPr>
            <a:spLocks noGrp="1"/>
          </p:cNvSpPr>
          <p:nvPr/>
        </p:nvSpPr>
        <p:spPr>
          <a:xfrm>
            <a:off x="2333625" y="6000750"/>
            <a:ext cx="7429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669A2D7-395F-4A26-8FB7-5DD4CE36DADB}"/>
              </a:ext>
            </a:extLst>
          </p:cNvPr>
          <p:cNvSpPr>
            <a:spLocks noGrp="1"/>
          </p:cNvSpPr>
          <p:nvPr/>
        </p:nvSpPr>
        <p:spPr>
          <a:xfrm>
            <a:off x="2505075" y="6219825"/>
            <a:ext cx="2667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B4B775E-B39F-4F7B-8A86-4EAA9434522B}"/>
              </a:ext>
            </a:extLst>
          </p:cNvPr>
          <p:cNvSpPr>
            <a:spLocks noGrp="1"/>
          </p:cNvSpPr>
          <p:nvPr/>
        </p:nvSpPr>
        <p:spPr>
          <a:xfrm>
            <a:off x="2847975" y="6124575"/>
            <a:ext cx="102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blue=data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AAF4EA6-EC51-4C61-B9DB-67B229580BFE}"/>
              </a:ext>
            </a:extLst>
          </p:cNvPr>
          <p:cNvSpPr>
            <a:spLocks noGrp="1"/>
          </p:cNvSpPr>
          <p:nvPr/>
        </p:nvSpPr>
        <p:spPr>
          <a:xfrm>
            <a:off x="3933825" y="6219825"/>
            <a:ext cx="266700" cy="38100"/>
          </a:xfrm>
          <a:prstGeom prst="rect">
            <a:avLst/>
          </a:prstGeom>
          <a:solidFill>
            <a:srgbClr val="7E22CE"/>
          </a:solidFill>
          <a:ln w="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329CE1-F638-4D58-A886-74D49E5472D8}"/>
              </a:ext>
            </a:extLst>
          </p:cNvPr>
          <p:cNvSpPr>
            <a:spLocks noGrp="1"/>
          </p:cNvSpPr>
          <p:nvPr/>
        </p:nvSpPr>
        <p:spPr>
          <a:xfrm>
            <a:off x="4276725" y="6124575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7E22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E22CE"/>
                </a:solidFill>
                <a:latin typeface="Aptos"/>
                <a:ea typeface="Aptos"/>
                <a:cs typeface="Aptos"/>
              </a:rPr>
              <a:t>purple=attention reuse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D14DBB9-E175-4BF8-8287-5C9E614D9917}"/>
              </a:ext>
            </a:extLst>
          </p:cNvPr>
          <p:cNvSpPr>
            <a:spLocks noGrp="1"/>
          </p:cNvSpPr>
          <p:nvPr/>
        </p:nvSpPr>
        <p:spPr>
          <a:xfrm>
            <a:off x="6410325" y="6219825"/>
            <a:ext cx="2667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B8F248A-A73E-4D73-A893-5A001E176DF3}"/>
              </a:ext>
            </a:extLst>
          </p:cNvPr>
          <p:cNvSpPr>
            <a:spLocks noGrp="1"/>
          </p:cNvSpPr>
          <p:nvPr/>
        </p:nvSpPr>
        <p:spPr>
          <a:xfrm>
            <a:off x="6753225" y="6124575"/>
            <a:ext cx="179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l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green=write/output</a:t>
            </a:r>
          </a:p>
        </p:txBody>
      </p:sp>
    </p:spTree>
    <p:extLst>
      <p:ext uri="{BB962C8B-B14F-4D97-AF65-F5344CB8AC3E}">
        <p14:creationId xmlns:p14="http://schemas.microsoft.com/office/powerpoint/2010/main" val="8812742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345</Words>
  <Application>Microsoft Office PowerPoint</Application>
  <DocSecurity>0</DocSecurity>
  <PresentationFormat>寬螢幕</PresentationFormat>
  <Paragraphs>103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Calibri</vt:lpstr>
      <vt:lpstr>ChatGPT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楊庭瑞</cp:lastModifiedBy>
  <cp:revision>2</cp:revision>
  <dcterms:created xsi:type="dcterms:W3CDTF">2026-06-03T19:00:09Z</dcterms:created>
  <dcterms:modified xsi:type="dcterms:W3CDTF">2026-06-04T17:17:46Z</dcterms:modified>
</cp:coreProperties>
</file>