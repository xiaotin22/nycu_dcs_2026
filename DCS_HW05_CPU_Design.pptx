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60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68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64008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3538728"/>
            <a:ext cx="91440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4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NYCU DCS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HW05：CPU 設計說明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 | Q1.15 定點數 | Pipeline | Restoring Divider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5890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xiaotin22  ·  2026-05-06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069080"/>
            <a:ext cx="1645920" cy="292608"/>
          </a:xfrm>
          <a:prstGeom prst="rect">
            <a:avLst/>
          </a:prstGeom>
          <a:solidFill>
            <a:srgbClr val="0D7EA2">
              <a:alpha val="60000"/>
            </a:srgbClr>
          </a:solidFill>
          <a:ln w="12700">
            <a:solidFill>
              <a:srgbClr val="0D7E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4069080"/>
            <a:ext cx="1645920" cy="292608"/>
          </a:xfrm>
          <a:prstGeom prst="rect">
            <a:avLst/>
          </a:prstGeom>
          <a:solidFill>
            <a:srgbClr val="0D7EA2">
              <a:alpha val="60000"/>
            </a:srgbClr>
          </a:solidFill>
          <a:ln w="12700">
            <a:solidFill>
              <a:srgbClr val="0D7E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74320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4069080"/>
            <a:ext cx="1645920" cy="292608"/>
          </a:xfrm>
          <a:prstGeom prst="rect">
            <a:avLst/>
          </a:prstGeom>
          <a:solidFill>
            <a:srgbClr val="0D7EA2">
              <a:alpha val="60000"/>
            </a:srgbClr>
          </a:solidFill>
          <a:ln w="12700">
            <a:solidFill>
              <a:srgbClr val="0D7E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4069080"/>
            <a:ext cx="1645920" cy="292608"/>
          </a:xfrm>
          <a:prstGeom prst="rect">
            <a:avLst/>
          </a:prstGeom>
          <a:solidFill>
            <a:srgbClr val="0D7EA2">
              <a:alpha val="60000"/>
            </a:srgbClr>
          </a:solidFill>
          <a:ln w="12700">
            <a:solidFill>
              <a:srgbClr val="0D7E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76656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SLA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645920" cy="292608"/>
          </a:xfrm>
          <a:prstGeom prst="rect">
            <a:avLst/>
          </a:prstGeom>
          <a:solidFill>
            <a:srgbClr val="0D7EA2">
              <a:alpha val="60000"/>
            </a:srgbClr>
          </a:solidFill>
          <a:ln w="12700">
            <a:solidFill>
              <a:srgbClr val="0D7E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SRA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4480560"/>
            <a:ext cx="1645920" cy="292608"/>
          </a:xfrm>
          <a:prstGeom prst="rect">
            <a:avLst/>
          </a:prstGeom>
          <a:solidFill>
            <a:srgbClr val="0D7EA2">
              <a:alpha val="60000"/>
            </a:srgbClr>
          </a:solidFill>
          <a:ln w="12700">
            <a:solidFill>
              <a:srgbClr val="0D7E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743200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4480560"/>
            <a:ext cx="1645920" cy="292608"/>
          </a:xfrm>
          <a:prstGeom prst="rect">
            <a:avLst/>
          </a:prstGeom>
          <a:solidFill>
            <a:srgbClr val="0D7EA2">
              <a:alpha val="60000"/>
            </a:srgbClr>
          </a:solidFill>
          <a:ln w="12700">
            <a:solidFill>
              <a:srgbClr val="0D7E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754880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ADDI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4480560"/>
            <a:ext cx="1645920" cy="292608"/>
          </a:xfrm>
          <a:prstGeom prst="rect">
            <a:avLst/>
          </a:prstGeom>
          <a:solidFill>
            <a:srgbClr val="0D7EA2">
              <a:alpha val="60000"/>
            </a:srgbClr>
          </a:solidFill>
          <a:ln w="12700">
            <a:solidFill>
              <a:srgbClr val="0D7EA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766560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題目意思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設計一個能處理 MIPS-like 指令集的單檔 SystemVerilog CPU，支援定點數運算。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64008" cy="137160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輸入介面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in_valid / in_ready 握手協議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指令輸入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64008" cy="13716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3375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輸出介面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7099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out_valid 拉高表示結果就緒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bad_ins 標示錯誤類型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64008" cy="13716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26364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資料格式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7099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個 16-bit 暫存器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Q1.15 有號定點數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28346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關鍵約束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不可使用 for / while 迴圈（迴圈展開，Unrolled Logic）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暫存器地址為非連續 5-bit 編碼，非法地址觸發 bad_ins = 01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除以零觸發 bad_ins = 10，不寫入目標暫存器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 結果取乘積 [30:15] 位元（Q1.15 格式）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模組介面（Module Interface）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017520" y="822960"/>
            <a:ext cx="3108960" cy="393192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017520" y="1371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CPU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017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</a:rPr>
              <a:t>SystemVerilog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2240280"/>
            <a:ext cx="2743200" cy="18288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" y="1097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594360" cy="4572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971800" y="1097280"/>
            <a:ext cx="73152" cy="22860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1440" y="1664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rst_n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23160" y="1755648"/>
            <a:ext cx="594360" cy="4572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2971800" y="1664208"/>
            <a:ext cx="73152" cy="22860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1440" y="2231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in_valid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23160" y="2322576"/>
            <a:ext cx="594360" cy="4572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2971800" y="2231136"/>
            <a:ext cx="73152" cy="22860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1440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instruction[31:0]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423160" y="2889504"/>
            <a:ext cx="594360" cy="4572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2971800" y="2798064"/>
            <a:ext cx="73152" cy="22860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099048" y="1097280"/>
            <a:ext cx="73152" cy="2286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172200" y="1188720"/>
            <a:ext cx="594360" cy="4572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766560" y="1097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in_ready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99048" y="1664208"/>
            <a:ext cx="73152" cy="2286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6172200" y="1755648"/>
            <a:ext cx="594360" cy="4572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766560" y="1664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out_valid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99048" y="2231136"/>
            <a:ext cx="73152" cy="2286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6172200" y="2322576"/>
            <a:ext cx="594360" cy="4572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6766560" y="2231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bad_ins[1:0]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99048" y="2798064"/>
            <a:ext cx="73152" cy="2286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172200" y="2889504"/>
            <a:ext cx="594360" cy="4572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766560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out_0..out_5[15:0]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4320" y="4389120"/>
            <a:ext cx="274320" cy="13716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594360" y="4334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輸入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45920" y="4389120"/>
            <a:ext cx="274320" cy="13716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1965960" y="4334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輸出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暫存器設計（Register File）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個 16-bit 有號暫存器，採用非連續 5-bit 地址編碼（防止誤用）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5029200" cy="3200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暫存器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5-bit 地址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十六進位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輸出端口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out_0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out_1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out_2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10111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out_3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11111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out_4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out_5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18872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6309360" y="1188720"/>
            <a:ext cx="64008" cy="32004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6446520" y="12618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地址映射函式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46520" y="1627632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map_reg(addr)
</a:t>
            </a:r>
            <a:r>
              <a:rPr lang="en-US" sz="10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case(addr)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10001 → idx=0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10010 → idx=1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01000 → idx=2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10111 → idx=3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11111 → idx=4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10000 → idx=5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→ invalid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任何不在此集合內的地址皆為非法，觸發 bad_ins = 2'b01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指令集編碼（MIPS-like Instruction Format）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EA2"/>
                </a:solidFill>
              </a:rPr>
              <a:t>R-type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1371600" cy="548640"/>
          </a:xfrm>
          <a:prstGeom prst="rect">
            <a:avLst/>
          </a:prstGeom>
          <a:solidFill>
            <a:srgbClr val="0D7EA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[31:26]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91640" y="1115568"/>
            <a:ext cx="1097280" cy="548640"/>
          </a:xfrm>
          <a:prstGeom prst="rect">
            <a:avLst/>
          </a:prstGeom>
          <a:solidFill>
            <a:srgbClr val="2E86A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691640" y="11155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[25:21]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115568"/>
            <a:ext cx="1097280" cy="548640"/>
          </a:xfrm>
          <a:prstGeom prst="rect">
            <a:avLst/>
          </a:prstGeom>
          <a:solidFill>
            <a:srgbClr val="2E86A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788920" y="11155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[20:16]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86200" y="1115568"/>
            <a:ext cx="1097280" cy="548640"/>
          </a:xfrm>
          <a:prstGeom prst="rect">
            <a:avLst/>
          </a:prstGeom>
          <a:solidFill>
            <a:srgbClr val="F0A5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886200" y="11155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[15:11]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83480" y="1115568"/>
            <a:ext cx="1097280" cy="548640"/>
          </a:xfrm>
          <a:prstGeom prst="rect">
            <a:avLst/>
          </a:prstGeom>
          <a:solidFill>
            <a:srgbClr val="7B68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983480" y="11155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shamt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[10:6]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115568"/>
            <a:ext cx="1371600" cy="548640"/>
          </a:xfrm>
          <a:prstGeom prst="rect">
            <a:avLst/>
          </a:prstGeom>
          <a:solidFill>
            <a:srgbClr val="0D7EA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080760" y="11155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[5:0]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169799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</a:rPr>
              <a:t>I-type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018030"/>
            <a:ext cx="1371600" cy="548640"/>
          </a:xfrm>
          <a:prstGeom prst="rect">
            <a:avLst/>
          </a:prstGeom>
          <a:solidFill>
            <a:srgbClr val="F0A5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20040" y="201803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[31:26]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91640" y="2018030"/>
            <a:ext cx="1097280" cy="548640"/>
          </a:xfrm>
          <a:prstGeom prst="rect">
            <a:avLst/>
          </a:prstGeom>
          <a:solidFill>
            <a:srgbClr val="2E86A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1691640" y="201803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[25:21]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88920" y="2018030"/>
            <a:ext cx="1097280" cy="548640"/>
          </a:xfrm>
          <a:prstGeom prst="rect">
            <a:avLst/>
          </a:prstGeom>
          <a:solidFill>
            <a:srgbClr val="F0A5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2788920" y="201803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[20:16]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86200" y="2018030"/>
            <a:ext cx="3566160" cy="548640"/>
          </a:xfrm>
          <a:prstGeom prst="rect">
            <a:avLst/>
          </a:prstGeom>
          <a:solidFill>
            <a:srgbClr val="7B68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886200" y="201803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[15:0]</a:t>
            </a:r>
            <a:endParaRPr lang="en-US" sz="9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743423"/>
              </p:ext>
            </p:extLst>
          </p:nvPr>
        </p:nvGraphicFramePr>
        <p:xfrm>
          <a:off x="274320" y="2702560"/>
          <a:ext cx="8686800" cy="23317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8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型別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E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rd = rs + 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E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rd = (rs×rt)[30:15]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E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011001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rd = rs | 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E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rd = rt &lt;&lt; shamt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E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rd = rt &gt;&gt;&gt; shamt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E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110001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rd = floor(rs_shr / rt)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E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 = rs + imm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E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001101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 = rs | imm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管線設計與狀態機（Pipeline &amp; FSM）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657350"/>
            <a:ext cx="1828800" cy="914400"/>
          </a:xfrm>
          <a:prstGeom prst="ellipse">
            <a:avLst/>
          </a:prstGeom>
          <a:solidFill>
            <a:srgbClr val="0D7EA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94360" y="165735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S_IDLE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11880" y="1657350"/>
            <a:ext cx="1828800" cy="914400"/>
          </a:xfrm>
          <a:prstGeom prst="ellipse">
            <a:avLst/>
          </a:prstGeom>
          <a:solidFill>
            <a:srgbClr val="F0A50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11880" y="165735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S_EXEC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29400" y="1657350"/>
            <a:ext cx="1828800" cy="914400"/>
          </a:xfrm>
          <a:prstGeom prst="ellipse">
            <a:avLst/>
          </a:prstGeom>
          <a:solidFill>
            <a:srgbClr val="3CB37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629400" y="165735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S_OUT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41448" y="2114550"/>
            <a:ext cx="11612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441448" y="1794510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in_valid &amp; in_ready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58968" y="2114550"/>
            <a:ext cx="11612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458968" y="1794510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always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508760" y="2590038"/>
            <a:ext cx="5577840" cy="0"/>
          </a:xfrm>
          <a:prstGeom prst="line">
            <a:avLst/>
          </a:prstGeom>
          <a:noFill/>
          <a:ln w="19050">
            <a:solidFill>
              <a:srgbClr val="AABBCC"/>
            </a:solidFill>
            <a:prstDash val="dash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611880" y="264490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always (next cycle)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307467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時序示意（Pipeline Timing）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40430"/>
            <a:ext cx="2560320" cy="1051560"/>
          </a:xfrm>
          <a:prstGeom prst="rect">
            <a:avLst/>
          </a:prstGeom>
          <a:solidFill>
            <a:srgbClr val="0D7EA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44043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Cycle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9763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latch ins_r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instruction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17520" y="3870198"/>
            <a:ext cx="274320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291840" y="3440430"/>
            <a:ext cx="2560320" cy="1051560"/>
          </a:xfrm>
          <a:prstGeom prst="rect">
            <a:avLst/>
          </a:prstGeom>
          <a:solidFill>
            <a:srgbClr val="F0A50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291840" y="344043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Cycle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89763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 + ALU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regs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52160" y="3870198"/>
            <a:ext cx="274320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6126480" y="3440430"/>
            <a:ext cx="2560320" cy="1051560"/>
          </a:xfrm>
          <a:prstGeom prst="rect">
            <a:avLst/>
          </a:prstGeom>
          <a:solidFill>
            <a:srgbClr val="3CB37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126480" y="344043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Cycle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89763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out_valid=1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out_*輸出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設計（運算單元）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41148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ADD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" y="128016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= rs + rt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加法（允許溢位）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41148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00400" y="822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MULT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10128" y="128016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有號乘積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= product[30:15]（Q1.15）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6126480" y="822960"/>
            <a:ext cx="2743200" cy="411480"/>
          </a:xfrm>
          <a:prstGeom prst="rect">
            <a:avLst/>
          </a:prstGeom>
          <a:solidFill>
            <a:srgbClr val="5B6F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36208" y="128016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= rs | rt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位元OR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2743200" cy="411480"/>
          </a:xfrm>
          <a:prstGeom prst="rect">
            <a:avLst/>
          </a:prstGeom>
          <a:solidFill>
            <a:srgbClr val="3CB37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27432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SLA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" y="310896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= rt &lt;&lt; shamt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邏輯左移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26517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200400" y="2651760"/>
            <a:ext cx="2743200" cy="4114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20040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SRA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10128" y="310896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= rt &gt;&gt;&gt; shamt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算術右移（符號保持）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6126480" y="2651760"/>
            <a:ext cx="2743200" cy="41148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12648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DIV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36208" y="310896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Q1.15 有號除法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15次Restoring Divider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4526280"/>
            <a:ext cx="411480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C8DF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411480" y="4526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ADDI: rt = rs + imm（16-bit 立即數，符號延伸）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4526280"/>
            <a:ext cx="4114800" cy="502920"/>
          </a:xfrm>
          <a:prstGeom prst="rect">
            <a:avLst/>
          </a:prstGeom>
          <a:solidFill>
            <a:srgbClr val="EAF3FB"/>
          </a:solidFill>
          <a:ln w="12700">
            <a:solidFill>
              <a:srgbClr val="C8DF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800600" y="4526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ORI: rt = rs | imm（16-bit 立即數）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演算法（Restoring Binary Divider）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目標：計算 floor(rs / rt) 以 Q1.15 定點數格式輸出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" cy="411480"/>
          </a:xfrm>
          <a:prstGeom prst="ellipse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取絕對值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59105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abs_A = |rs|，abs_B = |rt|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（Two's Complement 取反加一）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411480" cy="411480"/>
          </a:xfrm>
          <a:prstGeom prst="ellipse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 MSB 位置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159105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pos_A, pos_B = 最高有效位元位置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（展開 16 個 if-else，無迴圈）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231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11480" cy="411480"/>
          </a:xfrm>
          <a:prstGeom prst="ellipse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657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496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計算位移量 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82549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|rs| ≥ |rt|：n = pos_A - pos_B + 1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否則：n = 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4231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4800600" y="2743200"/>
            <a:ext cx="411480" cy="411480"/>
          </a:xfrm>
          <a:prstGeom prst="ellipse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8006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496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算術右移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82549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A_shifted = rs &gt;&gt;&gt; 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 |A_shifted| &lt; |rt|，確保商 &lt; 1.0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411480" cy="411480"/>
          </a:xfrm>
          <a:prstGeom prst="ellipse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3657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730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15次 Restoring除法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05993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|A_shifted| / |rt| 逐位展開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產生 15-bit 商 div_quo[14:0]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6576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4800600" y="3977640"/>
            <a:ext cx="411480" cy="411480"/>
          </a:xfrm>
          <a:prstGeom prst="ellipse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80060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3730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符號與溢位處理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405993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= rs[15] XOR rt[15]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A_shifted ≥ abs_B → 輸出 8000h（-1.0）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FF3CD"/>
          </a:solidFill>
          <a:ln w="1905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411480" y="46634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除以零（rt == 0）：不寫入暫存器，bad_ins 輸出 2'b10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錯誤處理（Exception Handling）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64008" cy="192024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bad_ins = 2'b01（非法指令）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R-type: rs / rt / rd 任一地址非法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I-type: rs / rt 任一地址非法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opcode 或 funct 不在支援列表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不寫入暫存器，bad_ins 輸出 01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64008" cy="19202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80060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bad_ins = 2'b10（除以零）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207008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 指令且 rt 暫存器值 == 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不寫入 rd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bad_ins 輸出 10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（其他暫存器值不變）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2880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例外處理流程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291840"/>
            <a:ext cx="1828800" cy="594360"/>
          </a:xfrm>
          <a:prstGeom prst="rect">
            <a:avLst/>
          </a:prstGeom>
          <a:solidFill>
            <a:srgbClr val="0D7EA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27432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指令解碼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3589020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2331720" y="3291840"/>
            <a:ext cx="1828800" cy="594360"/>
          </a:xfrm>
          <a:prstGeom prst="rect">
            <a:avLst/>
          </a:prstGeom>
          <a:solidFill>
            <a:srgbClr val="5B6FB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33172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地址驗證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60520" y="3589020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389120" y="3291840"/>
            <a:ext cx="1828800" cy="594360"/>
          </a:xfrm>
          <a:prstGeom prst="rect">
            <a:avLst/>
          </a:prstGeom>
          <a:solidFill>
            <a:srgbClr val="F0A50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38912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除零檢查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589020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46520" y="3291840"/>
            <a:ext cx="1828800" cy="594360"/>
          </a:xfrm>
          <a:prstGeom prst="rect">
            <a:avLst/>
          </a:prstGeom>
          <a:solidFill>
            <a:srgbClr val="D953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44652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寫入/例外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06908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274320" y="4069080"/>
            <a:ext cx="64008" cy="109728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411480" y="4133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EA2"/>
                </a:solidFill>
              </a:rPr>
              <a:t>時序說明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4074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bad_ins_type</a:t>
            </a: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在 S_EXEC 階段組合邏輯計算，於 posedge clk 鎖存至 </a:t>
            </a: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bad_ins_r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 S_OUT 後由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bad_ins = bad_ins_r</a:t>
            </a: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輸出，與 out_valid 同步拉高。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64008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1984248"/>
            <a:ext cx="91440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設計成果摘要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1828800" cy="182880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1828800" cy="4572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7EA2"/>
                </a:solidFill>
              </a:rPr>
              <a:t>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State FSM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→ EXEC → OUT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2194560"/>
            <a:ext cx="1828800" cy="182880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2468880" y="2194560"/>
            <a:ext cx="1828800" cy="4572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246888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7EA2"/>
                </a:solidFill>
              </a:rPr>
              <a:t>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4688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指令支援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R/I-type 全覆蓋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94560"/>
            <a:ext cx="1828800" cy="182880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572000" y="2194560"/>
            <a:ext cx="1828800" cy="4572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57200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7EA2"/>
                </a:solidFill>
              </a:rPr>
              <a:t>15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720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Divider Stages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Unrolled Restoring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2194560"/>
            <a:ext cx="1828800" cy="182880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675120" y="2194560"/>
            <a:ext cx="1828800" cy="45720"/>
          </a:xfrm>
          <a:prstGeom prst="rect">
            <a:avLst/>
          </a:prstGeom>
          <a:solidFill>
            <a:srgbClr val="0D7EA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6751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7EA2"/>
                </a:solidFill>
              </a:rPr>
              <a:t>Q1.15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67512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數值格式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有號定點數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合成結果：Latency 15000 cycles  ·  Cycle Time 25ns  ·  Area 117664.74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NYCU DCS 2026 HW05  ·  xiaotin22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886</Words>
  <Application>Microsoft Office PowerPoint</Application>
  <PresentationFormat>如螢幕大小 (16:9)</PresentationFormat>
  <Paragraphs>262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NYCU DCS HW05 - CPU 設計說明</dc:title>
  <dc:subject>PptxGenJS Presentation</dc:subject>
  <dc:creator>PptxGenJS</dc:creator>
  <cp:lastModifiedBy>庭瑞 楊</cp:lastModifiedBy>
  <cp:revision>2</cp:revision>
  <dcterms:created xsi:type="dcterms:W3CDTF">2026-05-06T13:19:52Z</dcterms:created>
  <dcterms:modified xsi:type="dcterms:W3CDTF">2026-05-06T13:29:17Z</dcterms:modified>
</cp:coreProperties>
</file>