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1" r:id="rId4"/>
    <p:sldId id="284" r:id="rId5"/>
    <p:sldId id="286" r:id="rId6"/>
    <p:sldId id="294" r:id="rId7"/>
    <p:sldId id="292" r:id="rId8"/>
    <p:sldId id="288" r:id="rId9"/>
    <p:sldId id="283" r:id="rId10"/>
    <p:sldId id="293" r:id="rId11"/>
    <p:sldId id="287" r:id="rId12"/>
    <p:sldId id="291" r:id="rId13"/>
    <p:sldId id="273" r:id="rId14"/>
    <p:sldId id="274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76"/>
    <p:restoredTop sz="94719"/>
  </p:normalViewPr>
  <p:slideViewPr>
    <p:cSldViewPr snapToGrid="0">
      <p:cViewPr>
        <p:scale>
          <a:sx n="180" d="100"/>
          <a:sy n="180" d="100"/>
        </p:scale>
        <p:origin x="-2448" y="-2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7E7A22-9957-CE49-B993-26697A959109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81909-5ACF-CB4E-8E86-EDFE5DBF71D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83887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E6124B-2483-E562-B1AC-625A9A560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2C184BE-2062-7E0B-C29A-406CEC7C6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21D706-39A8-9255-FC9F-34E5DC6D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16C8-A18F-6840-9C86-5B301C8A16D9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301E7E-56D0-FD7B-CFFC-E6E5A29F3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225041-4A0D-6374-FA6F-892B6A44C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4B0B8-84DC-C443-8855-966C362A1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1561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99E520-69B7-B7EB-405F-B92001E04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AAFC8D-7DA9-A421-1F5C-4CA24ACD1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54BAC7-F2DC-852C-D09A-13EC1711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16C8-A18F-6840-9C86-5B301C8A16D9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8F7CD1-8D90-8E19-4CD8-EE2AE98C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D428C2-22F6-704F-6A4A-34B3ED933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4B0B8-84DC-C443-8855-966C362A1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16989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A34021-380A-6EB3-4C99-9A7B8E2E1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18FBD8C-8B0D-692F-7DE0-F08A837C4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F1CBFA-9321-26CD-2E1E-01D852D3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16C8-A18F-6840-9C86-5B301C8A16D9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9985D7-47EC-C844-8A0E-63D097D2C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2F5F66-7E44-EEBD-2B9A-76CD478AF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4B0B8-84DC-C443-8855-966C362A1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52549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8E910A-B368-BDA3-7FE1-51A63EAD1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D7BD80-D0A7-8834-5EF8-1FC1CFB0A7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0043196-5287-E90C-91D8-3A5782D99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1963424-3DF0-456F-1E9B-9906F6E6C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16C8-A18F-6840-9C86-5B301C8A16D9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B871D6-A65B-5168-4058-BDE0F5F6F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F100C9D-BBD7-DF74-5413-07E48C528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4B0B8-84DC-C443-8855-966C362A1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26868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88CD06-A761-0DA8-D149-259432D88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1EFA7AA-F7CB-937D-D667-668B90999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4576BDD-FC34-EE7E-C857-259B9362B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3331B5B-DB3E-B44A-A13A-06950B86B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5B20503-E410-E46D-92D0-C77043DBB5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C86398D-C845-1DBB-C242-60FB600CB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16C8-A18F-6840-9C86-5B301C8A16D9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FA76411-7F65-0EEB-1CE4-4A49FE910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71A2523-A662-8C98-98AB-8A78B685A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4B0B8-84DC-C443-8855-966C362A1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271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240D28-F9C9-A31B-B5C0-24C8F31A1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610BE6B-DDC6-F29A-395F-666F59519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16C8-A18F-6840-9C86-5B301C8A16D9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173F2BD-C657-197F-0D0F-C5732902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507CC2F-3AA7-B388-1853-C7DACA00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4B0B8-84DC-C443-8855-966C362A1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8651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6EDA785-C1EB-3A95-98E3-21C724CDB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16C8-A18F-6840-9C86-5B301C8A16D9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9B5C2FD-BDD0-FFF2-602F-DED8CA021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29EF84-EAF9-7433-E13F-C2F3C16F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4B0B8-84DC-C443-8855-966C362A1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00581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65D5A7-1461-67C3-0D4C-92035540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445806-8D5C-306E-8CC6-0988AF26E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685404F-A1A7-683A-E776-DFFECA45F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C97AABE-715E-2E78-E911-2FE7A35D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16C8-A18F-6840-9C86-5B301C8A16D9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F40A6F9-7E47-F2C3-2920-B56A6D7C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7A22C45-7CDF-0CF9-5834-1F778E654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4B0B8-84DC-C443-8855-966C362A1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00949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C568D5-2912-D14E-3B2A-8DDF0E6C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CC6FA5C-76F2-453E-D37B-90D1130315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798A779-CBFD-177F-1A2B-C4E333EF8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30B28CA-4DD2-57F0-D64E-40DAE0FC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16C8-A18F-6840-9C86-5B301C8A16D9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C65EF05-D0DF-BF58-A2B3-0AE9E655D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FDF1BF9-447E-9E2E-8730-867D30A73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4B0B8-84DC-C443-8855-966C362A1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76048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3CDD06-15B3-D18A-937B-DA1985E9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BBFA720-91DF-F7FC-B279-B761C188E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F1ADE3-8928-282B-298E-77322A886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16C8-A18F-6840-9C86-5B301C8A16D9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FEF3AD-00D4-318B-6D0A-3F40E13B7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F8F2ED-039F-4FF1-5B21-669C2DBA1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4B0B8-84DC-C443-8855-966C362A1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15097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54D361E-F2FD-4FCC-B6EA-27F743F817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8CF7B80-34EC-4095-B993-BF3B1EF8C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35F090-DAED-768F-E12B-02B1F2812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16C8-A18F-6840-9C86-5B301C8A16D9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BEB1A8-4E6F-A535-1230-DA09662A9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842961-3AC2-2F8C-80AC-CD35D50E1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4B0B8-84DC-C443-8855-966C362A1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32381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4F659DB-A34A-D86B-1FD2-E75B2C714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DA57D8C-C47F-F622-1DF4-1C0A8A338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180BB2-EE15-17BB-E166-BF8A0C74B6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1A16C8-A18F-6840-9C86-5B301C8A16D9}" type="datetimeFigureOut">
              <a:rPr kumimoji="1" lang="zh-TW" altLang="en-US" smtClean="0"/>
              <a:t>2026/5/27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529827-3721-F96B-2467-D77C2A32B5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DD972C-E7AD-F5F0-2DEE-0F976CB81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F4B0B8-84DC-C443-8855-966C362A11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02705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00A63C2-7BE9-C956-B6E2-A9E4D6509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kumimoji="1" lang="en-US" altLang="zh-TW" sz="6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DCS HW05 Code</a:t>
            </a:r>
            <a:endParaRPr kumimoji="1" lang="zh-TW" altLang="en-US" sz="6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E8D957D-52BC-944C-94A9-7A8EFEBAE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113511270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蔡騏伍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DCS153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765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7BCE6ED-DF4A-DD1D-E520-445FB90E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kumimoji="1" lang="en-US" altLang="zh-TW" sz="4800" dirty="0"/>
              <a:t>Content</a:t>
            </a:r>
            <a:endParaRPr kumimoji="1" lang="zh-TW" altLang="en-US" sz="4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583105-F019-8D62-D57A-F6D3F430AA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760" b="19760"/>
          <a:stretch/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25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onnsiteX0" fmla="*/ 0 w 1371600"/>
              <a:gd name="connsiteY0" fmla="*/ 0 h 18288"/>
              <a:gd name="connsiteX1" fmla="*/ 685800 w 1371600"/>
              <a:gd name="connsiteY1" fmla="*/ 0 h 18288"/>
              <a:gd name="connsiteX2" fmla="*/ 1371600 w 1371600"/>
              <a:gd name="connsiteY2" fmla="*/ 0 h 18288"/>
              <a:gd name="connsiteX3" fmla="*/ 1371600 w 1371600"/>
              <a:gd name="connsiteY3" fmla="*/ 18288 h 18288"/>
              <a:gd name="connsiteX4" fmla="*/ 713232 w 1371600"/>
              <a:gd name="connsiteY4" fmla="*/ 18288 h 18288"/>
              <a:gd name="connsiteX5" fmla="*/ 0 w 1371600"/>
              <a:gd name="connsiteY5" fmla="*/ 18288 h 18288"/>
              <a:gd name="connsiteX6" fmla="*/ 0 w 1371600"/>
              <a:gd name="connsiteY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16B96B-D0BD-24F3-50D9-9B167301D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4777739"/>
            <a:ext cx="6897626" cy="1399223"/>
          </a:xfrm>
        </p:spPr>
        <p:txBody>
          <a:bodyPr anchor="ctr">
            <a:normAutofit/>
          </a:bodyPr>
          <a:lstStyle/>
          <a:p>
            <a:r>
              <a:rPr kumimoji="1" lang="en-US" altLang="zh-TW" sz="2200" dirty="0"/>
              <a:t>Design</a:t>
            </a:r>
          </a:p>
          <a:p>
            <a:r>
              <a:rPr kumimoji="1" lang="en-US" altLang="zh-TW" sz="2200" dirty="0"/>
              <a:t>Optimization</a:t>
            </a:r>
          </a:p>
          <a:p>
            <a:r>
              <a:rPr kumimoji="1" lang="en-US" altLang="zh-TW" sz="2200" dirty="0"/>
              <a:t>Report</a:t>
            </a:r>
            <a:endParaRPr kumimoji="1" lang="zh-TW" altLang="en-US" sz="2200"/>
          </a:p>
        </p:txBody>
      </p:sp>
    </p:spTree>
    <p:extLst>
      <p:ext uri="{BB962C8B-B14F-4D97-AF65-F5344CB8AC3E}">
        <p14:creationId xmlns:p14="http://schemas.microsoft.com/office/powerpoint/2010/main" val="629650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CC71D-0E43-F2E9-6DFC-2CDB46D96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D2FFC72-4AF7-362A-F371-B71B998F2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Design - </a:t>
            </a:r>
            <a:r>
              <a:rPr kumimoji="1" lang="en-US" altLang="zh-TW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6-Stage Pipeline Architecture</a:t>
            </a:r>
          </a:p>
        </p:txBody>
      </p:sp>
      <p:pic>
        <p:nvPicPr>
          <p:cNvPr id="15" name="圖片 14" descr="一張含有 文字, 字型, 螢幕擷取畫面, 圖表 的圖片&#10;&#10;自動產生的描述">
            <a:extLst>
              <a:ext uri="{FF2B5EF4-FFF2-40B4-BE49-F238E27FC236}">
                <a16:creationId xmlns:a16="http://schemas.microsoft.com/office/drawing/2014/main" id="{5731CC56-ADE6-6DC4-1B61-1CF1706B4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84" y="1338885"/>
            <a:ext cx="9483221" cy="533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47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C4D48-8EC4-B6E1-915B-DE194928B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D8E2F87-035E-69A2-6842-8A74D4BAA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5400" dirty="0"/>
              <a:t>Design</a:t>
            </a:r>
            <a:endParaRPr kumimoji="1" lang="zh-TW" altLang="en-US" sz="5400" dirty="0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5AA062E-8C0A-D326-8099-F10428D69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278" y="1918233"/>
            <a:ext cx="11004395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sz="2000" b="1" dirty="0"/>
              <a:t>1.</a:t>
            </a:r>
            <a:r>
              <a:rPr kumimoji="1" lang="zh-TW" altLang="en-US" sz="2000" b="1" dirty="0"/>
              <a:t>整體流程：</a:t>
            </a:r>
            <a:endParaRPr kumimoji="1" lang="en-US" altLang="zh-TW" sz="2000" b="1" dirty="0"/>
          </a:p>
          <a:p>
            <a:pPr marL="0" indent="0">
              <a:buNone/>
            </a:pPr>
            <a:r>
              <a:rPr kumimoji="1" lang="en-US" altLang="zh-TW" sz="2000" dirty="0"/>
              <a:t>Instruction Input→Queue Buffer→Decode→Hazard Check→Operand Read→Execute→Pipeline Result Propagation→Writeback→Output</a:t>
            </a:r>
          </a:p>
          <a:p>
            <a:pPr marL="0" indent="0">
              <a:buNone/>
            </a:pPr>
            <a:r>
              <a:rPr kumimoji="1" lang="en-US" altLang="zh-TW" sz="2000" b="1" dirty="0"/>
              <a:t>2.Datapath</a:t>
            </a:r>
            <a:r>
              <a:rPr kumimoji="1" lang="zh-TW" altLang="en-US" sz="2000" b="1" dirty="0"/>
              <a:t>分流：</a:t>
            </a:r>
            <a:r>
              <a:rPr kumimoji="1" lang="zh-TW" altLang="en-US" sz="2000" dirty="0"/>
              <a:t>將不同複雜度的指令分流處理。</a:t>
            </a:r>
            <a:endParaRPr kumimoji="1" lang="en-US" altLang="zh-TW" sz="2000" dirty="0"/>
          </a:p>
          <a:p>
            <a:pPr lvl="1"/>
            <a:r>
              <a:rPr kumimoji="1" lang="en-US" altLang="zh-TW" sz="2000" dirty="0"/>
              <a:t>ALU Path</a:t>
            </a:r>
            <a:r>
              <a:rPr kumimoji="1" lang="zh-TW" altLang="en-US" sz="2000" dirty="0"/>
              <a:t>：處理</a:t>
            </a:r>
            <a:r>
              <a:rPr kumimoji="1" lang="en-US" altLang="zh-TW" sz="2000" dirty="0"/>
              <a:t>ADD</a:t>
            </a:r>
            <a:r>
              <a:rPr kumimoji="1" lang="zh-TW" altLang="en-US" sz="2000" dirty="0"/>
              <a:t>、</a:t>
            </a:r>
            <a:r>
              <a:rPr kumimoji="1" lang="en-US" altLang="zh-TW" sz="2000" dirty="0"/>
              <a:t>OR</a:t>
            </a:r>
            <a:r>
              <a:rPr kumimoji="1" lang="zh-TW" altLang="en-US" sz="2000" dirty="0"/>
              <a:t>、</a:t>
            </a:r>
            <a:r>
              <a:rPr kumimoji="1" lang="en-US" altLang="zh-TW" sz="2000" dirty="0"/>
              <a:t>SLA</a:t>
            </a:r>
            <a:r>
              <a:rPr kumimoji="1" lang="zh-TW" altLang="en-US" sz="2000" dirty="0"/>
              <a:t>、</a:t>
            </a:r>
            <a:r>
              <a:rPr kumimoji="1" lang="en-US" altLang="zh-TW" sz="2000" dirty="0"/>
              <a:t>SRA</a:t>
            </a:r>
            <a:r>
              <a:rPr kumimoji="1" lang="zh-TW" altLang="en-US" sz="2000" dirty="0"/>
              <a:t>、</a:t>
            </a:r>
            <a:r>
              <a:rPr kumimoji="1" lang="en-US" altLang="zh-TW" sz="2000" dirty="0"/>
              <a:t>ADDI</a:t>
            </a:r>
            <a:r>
              <a:rPr kumimoji="1" lang="zh-TW" altLang="en-US" sz="2000" dirty="0"/>
              <a:t>、</a:t>
            </a:r>
            <a:r>
              <a:rPr kumimoji="1" lang="en-US" altLang="zh-TW" sz="2000" dirty="0"/>
              <a:t>ORI</a:t>
            </a:r>
            <a:r>
              <a:rPr kumimoji="1" lang="zh-TW" altLang="en-US" sz="2000" dirty="0"/>
              <a:t>等指令，因為運算簡單，一個</a:t>
            </a:r>
            <a:r>
              <a:rPr kumimoji="1" lang="en-US" altLang="zh-TW" sz="2000" dirty="0"/>
              <a:t>cycle</a:t>
            </a:r>
            <a:r>
              <a:rPr kumimoji="1" lang="zh-TW" altLang="en-US" sz="2000" dirty="0"/>
              <a:t>即可完成。</a:t>
            </a:r>
            <a:endParaRPr kumimoji="1" lang="en-US" altLang="zh-TW" sz="2000" dirty="0"/>
          </a:p>
          <a:p>
            <a:pPr lvl="1"/>
            <a:r>
              <a:rPr kumimoji="1" lang="en-US" altLang="zh-TW" sz="2000" dirty="0"/>
              <a:t>Multiplier Path</a:t>
            </a:r>
            <a:r>
              <a:rPr kumimoji="1" lang="zh-TW" altLang="en-US" sz="2000" dirty="0"/>
              <a:t>：將乘法拆成多個</a:t>
            </a:r>
            <a:r>
              <a:rPr kumimoji="1" lang="en-US" altLang="zh-TW" sz="2000" dirty="0"/>
              <a:t>cycle</a:t>
            </a:r>
            <a:r>
              <a:rPr kumimoji="1" lang="zh-TW" altLang="en-US" sz="2000" dirty="0"/>
              <a:t>分階段計算，降低單一</a:t>
            </a:r>
            <a:r>
              <a:rPr kumimoji="1" lang="en-US" altLang="zh-TW" sz="2000" dirty="0"/>
              <a:t>cycle</a:t>
            </a:r>
            <a:r>
              <a:rPr kumimoji="1" lang="zh-TW" altLang="en-US" sz="2000" dirty="0"/>
              <a:t>的</a:t>
            </a:r>
            <a:r>
              <a:rPr kumimoji="1" lang="en-US" altLang="zh-TW" sz="2000" dirty="0"/>
              <a:t>critical path</a:t>
            </a:r>
            <a:r>
              <a:rPr kumimoji="1" lang="zh-TW" altLang="en-US" sz="2000" dirty="0"/>
              <a:t>。</a:t>
            </a:r>
            <a:endParaRPr kumimoji="1" lang="en-US" altLang="zh-TW" sz="2000" dirty="0"/>
          </a:p>
          <a:p>
            <a:pPr lvl="1"/>
            <a:r>
              <a:rPr kumimoji="1" lang="en-US" altLang="zh-TW" sz="2000" dirty="0"/>
              <a:t>Divider Path</a:t>
            </a:r>
            <a:r>
              <a:rPr kumimoji="1" lang="zh-TW" altLang="en-US" sz="2000" dirty="0"/>
              <a:t>：處理除法指令，先進行符號與</a:t>
            </a:r>
            <a:r>
              <a:rPr kumimoji="1" lang="en-US" altLang="zh-TW" sz="2000" dirty="0"/>
              <a:t>magnitude</a:t>
            </a:r>
            <a:r>
              <a:rPr kumimoji="1" lang="zh-TW" altLang="en-US" sz="2000" dirty="0"/>
              <a:t>的前處理，接著每個</a:t>
            </a:r>
            <a:r>
              <a:rPr kumimoji="1" lang="en-US" altLang="zh-TW" sz="2000" dirty="0"/>
              <a:t>cycle</a:t>
            </a:r>
            <a:r>
              <a:rPr kumimoji="1" lang="zh-TW" altLang="en-US" sz="2000" dirty="0"/>
              <a:t>推進部分</a:t>
            </a:r>
            <a:r>
              <a:rPr kumimoji="1" lang="en-US" altLang="zh-TW" sz="2000" dirty="0"/>
              <a:t>quotient</a:t>
            </a:r>
            <a:r>
              <a:rPr kumimoji="1" lang="zh-TW" altLang="en-US" sz="2000" dirty="0"/>
              <a:t>，最後再進行修正與寫回，降低單一</a:t>
            </a:r>
            <a:r>
              <a:rPr kumimoji="1" lang="en-US" altLang="zh-TW" sz="2000" dirty="0"/>
              <a:t>cycle</a:t>
            </a:r>
            <a:r>
              <a:rPr kumimoji="1" lang="zh-TW" altLang="en-US" sz="2000" dirty="0"/>
              <a:t>的</a:t>
            </a:r>
            <a:r>
              <a:rPr kumimoji="1" lang="en-US" altLang="zh-TW" sz="2000" dirty="0"/>
              <a:t>critical path</a:t>
            </a:r>
            <a:r>
              <a:rPr kumimoji="1" lang="zh-TW" altLang="en-US" sz="2000" dirty="0"/>
              <a:t>。</a:t>
            </a:r>
            <a:endParaRPr kumimoji="1" lang="en-US" altLang="zh-TW" sz="2000" dirty="0"/>
          </a:p>
          <a:p>
            <a:pPr marL="0" indent="0">
              <a:buNone/>
            </a:pPr>
            <a:r>
              <a:rPr kumimoji="1" lang="en-US" altLang="zh-TW" sz="2000" b="1" dirty="0"/>
              <a:t>3.</a:t>
            </a:r>
            <a:r>
              <a:rPr kumimoji="1" lang="zh-TW" altLang="en-US" sz="2000" b="1" dirty="0"/>
              <a:t>除法器共用</a:t>
            </a:r>
            <a:r>
              <a:rPr kumimoji="1" lang="en-US" altLang="zh-TW" sz="2000" b="1" dirty="0"/>
              <a:t>:</a:t>
            </a:r>
            <a:r>
              <a:rPr kumimoji="1" lang="zh-TW" altLang="en-US" sz="2000" dirty="0"/>
              <a:t>於後方解釋</a:t>
            </a:r>
            <a:endParaRPr kumimoji="1" lang="en-US" altLang="zh-TW" sz="2000" dirty="0"/>
          </a:p>
          <a:p>
            <a:pPr marL="0" indent="0">
              <a:buNone/>
            </a:pPr>
            <a:r>
              <a:rPr kumimoji="1" lang="en-US" altLang="zh-TW" sz="2000" b="1" dirty="0"/>
              <a:t>4.</a:t>
            </a:r>
            <a:r>
              <a:rPr kumimoji="1" lang="zh-TW" altLang="en-US" sz="2000" b="1" dirty="0"/>
              <a:t>乘法器共用</a:t>
            </a:r>
            <a:r>
              <a:rPr kumimoji="1" lang="en-US" altLang="zh-TW" sz="2000" b="1" dirty="0"/>
              <a:t>:</a:t>
            </a:r>
            <a:r>
              <a:rPr kumimoji="1" lang="zh-TW" altLang="en-US" sz="2000" dirty="0"/>
              <a:t>於後方解釋</a:t>
            </a:r>
            <a:endParaRPr kumimoji="1" lang="en-US" altLang="zh-TW" sz="2000" dirty="0"/>
          </a:p>
          <a:p>
            <a:pPr marL="0" indent="0">
              <a:buNone/>
            </a:pPr>
            <a:r>
              <a:rPr kumimoji="1" lang="en-US" altLang="zh-TW" sz="2000" b="1" dirty="0"/>
              <a:t>5.Foawrding</a:t>
            </a:r>
            <a:r>
              <a:rPr kumimoji="1" lang="zh-TW" altLang="en-US" sz="2000" b="1" dirty="0"/>
              <a:t>機制</a:t>
            </a:r>
            <a:r>
              <a:rPr kumimoji="1" lang="en-US" altLang="zh-TW" sz="2000" b="1" dirty="0"/>
              <a:t>:</a:t>
            </a:r>
            <a:r>
              <a:rPr kumimoji="1" lang="zh-TW" altLang="en-US" sz="2000" dirty="0"/>
              <a:t>於後方解釋</a:t>
            </a:r>
            <a:endParaRPr kumimoji="1"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40193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0E74AD8-BAD6-F232-53FE-E5D9F72DD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471079"/>
              </p:ext>
            </p:extLst>
          </p:nvPr>
        </p:nvGraphicFramePr>
        <p:xfrm>
          <a:off x="356839" y="289932"/>
          <a:ext cx="11619573" cy="642310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91737">
                  <a:extLst>
                    <a:ext uri="{9D8B030D-6E8A-4147-A177-3AD203B41FA5}">
                      <a16:colId xmlns:a16="http://schemas.microsoft.com/office/drawing/2014/main" val="4146548561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1312602508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1064644369"/>
                    </a:ext>
                  </a:extLst>
                </a:gridCol>
                <a:gridCol w="1095050">
                  <a:extLst>
                    <a:ext uri="{9D8B030D-6E8A-4147-A177-3AD203B41FA5}">
                      <a16:colId xmlns:a16="http://schemas.microsoft.com/office/drawing/2014/main" val="756446934"/>
                    </a:ext>
                  </a:extLst>
                </a:gridCol>
                <a:gridCol w="1095050">
                  <a:extLst>
                    <a:ext uri="{9D8B030D-6E8A-4147-A177-3AD203B41FA5}">
                      <a16:colId xmlns:a16="http://schemas.microsoft.com/office/drawing/2014/main" val="961335051"/>
                    </a:ext>
                  </a:extLst>
                </a:gridCol>
                <a:gridCol w="1095050">
                  <a:extLst>
                    <a:ext uri="{9D8B030D-6E8A-4147-A177-3AD203B41FA5}">
                      <a16:colId xmlns:a16="http://schemas.microsoft.com/office/drawing/2014/main" val="4121694105"/>
                    </a:ext>
                  </a:extLst>
                </a:gridCol>
                <a:gridCol w="1095050">
                  <a:extLst>
                    <a:ext uri="{9D8B030D-6E8A-4147-A177-3AD203B41FA5}">
                      <a16:colId xmlns:a16="http://schemas.microsoft.com/office/drawing/2014/main" val="45818621"/>
                    </a:ext>
                  </a:extLst>
                </a:gridCol>
                <a:gridCol w="1095050">
                  <a:extLst>
                    <a:ext uri="{9D8B030D-6E8A-4147-A177-3AD203B41FA5}">
                      <a16:colId xmlns:a16="http://schemas.microsoft.com/office/drawing/2014/main" val="1576383306"/>
                    </a:ext>
                  </a:extLst>
                </a:gridCol>
              </a:tblGrid>
              <a:tr h="2569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指令</a:t>
                      </a:r>
                      <a:r>
                        <a:rPr lang="en-US" sz="900" b="0" u="none" strike="noStrike" dirty="0">
                          <a:effectLst/>
                        </a:rPr>
                        <a:t> / Stage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Decode / Issue</a:t>
                      </a:r>
                      <a:r>
                        <a:rPr lang="zh-TW" sz="900" b="0" u="none" strike="noStrike" dirty="0">
                          <a:effectLst/>
                        </a:rPr>
                        <a:t>前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P0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P1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P2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P3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P4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P5 / Output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extLst>
                  <a:ext uri="{0D108BD9-81ED-4DB2-BD59-A6C34878D82A}">
                    <a16:rowId xmlns:a16="http://schemas.microsoft.com/office/drawing/2014/main" val="1109922349"/>
                  </a:ext>
                </a:extLst>
              </a:tr>
              <a:tr h="6072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ADD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檢查</a:t>
                      </a:r>
                      <a:r>
                        <a:rPr lang="en-US" sz="900" b="0" u="none" strike="noStrike" dirty="0">
                          <a:effectLst/>
                        </a:rPr>
                        <a:t>opcode / funct、rs / rt / </a:t>
                      </a:r>
                      <a:r>
                        <a:rPr lang="en-US" sz="900" b="0" u="none" strike="noStrike" dirty="0" err="1">
                          <a:effectLst/>
                        </a:rPr>
                        <a:t>rd</a:t>
                      </a:r>
                      <a:r>
                        <a:rPr lang="en-US" sz="900" b="0" u="none" strike="noStrike" dirty="0">
                          <a:effectLst/>
                        </a:rPr>
                        <a:t> address</a:t>
                      </a:r>
                      <a:r>
                        <a:rPr lang="zh-TW" sz="900" b="0" u="none" strike="noStrike" dirty="0">
                          <a:effectLst/>
                        </a:rPr>
                        <a:t>合法。讀</a:t>
                      </a:r>
                      <a:r>
                        <a:rPr lang="en-US" sz="900" b="0" u="none" strike="noStrike" dirty="0">
                          <a:effectLst/>
                        </a:rPr>
                        <a:t>rs_val、rt_val。</a:t>
                      </a:r>
                      <a:r>
                        <a:rPr lang="zh-TW" sz="900" b="0" u="none" strike="noStrike" dirty="0">
                          <a:effectLst/>
                        </a:rPr>
                        <a:t>若有</a:t>
                      </a:r>
                      <a:r>
                        <a:rPr lang="en-US" sz="900" b="0" u="none" strike="noStrike" dirty="0">
                          <a:effectLst/>
                        </a:rPr>
                        <a:t>RAW hazard</a:t>
                      </a:r>
                      <a:r>
                        <a:rPr lang="zh-TW" sz="900" b="0" u="none" strike="noStrike" dirty="0">
                          <a:effectLst/>
                        </a:rPr>
                        <a:t>則</a:t>
                      </a:r>
                      <a:r>
                        <a:rPr lang="en-US" sz="900" b="0" u="none" strike="noStrike" dirty="0">
                          <a:effectLst/>
                        </a:rPr>
                        <a:t>stall。dst=rd。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暫存</a:t>
                      </a:r>
                      <a:r>
                        <a:rPr lang="en-US" sz="900" b="0" u="none" strike="noStrike" dirty="0">
                          <a:effectLst/>
                        </a:rPr>
                        <a:t>rs_val、rt_val、dst。p_add0=1。</a:t>
                      </a:r>
                      <a:r>
                        <a:rPr lang="zh-TW" sz="900" b="0" u="none" strike="noStrike" dirty="0">
                          <a:effectLst/>
                        </a:rPr>
                        <a:t>組合邏輯計算</a:t>
                      </a:r>
                      <a:r>
                        <a:rPr lang="en-US" sz="900" b="0" u="none" strike="noStrike" dirty="0">
                          <a:effectLst/>
                        </a:rPr>
                        <a:t>rs_val + rt_val。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p_result[1]</a:t>
                      </a:r>
                      <a:r>
                        <a:rPr lang="zh-TW" sz="900" b="0" u="none" strike="noStrike" dirty="0">
                          <a:effectLst/>
                        </a:rPr>
                        <a:t>保存</a:t>
                      </a:r>
                      <a:r>
                        <a:rPr lang="en-US" sz="900" b="0" u="none" strike="noStrike" dirty="0">
                          <a:effectLst/>
                        </a:rPr>
                        <a:t>ADD</a:t>
                      </a:r>
                      <a:r>
                        <a:rPr lang="zh-TW" sz="900" b="0" u="none" strike="noStrike" dirty="0">
                          <a:effectLst/>
                        </a:rPr>
                        <a:t>結果。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result，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900" b="0" u="none" strike="noStrike">
                          <a:effectLst/>
                        </a:rPr>
                        <a:t>可</a:t>
                      </a:r>
                      <a:r>
                        <a:rPr lang="en-US" sz="900" b="0" u="none" strike="noStrike" dirty="0">
                          <a:effectLst/>
                        </a:rPr>
                        <a:t>forwarding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result，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900" b="0" u="none" strike="noStrike">
                          <a:effectLst/>
                        </a:rPr>
                        <a:t>可</a:t>
                      </a:r>
                      <a:r>
                        <a:rPr lang="en-US" sz="900" b="0" u="none" strike="noStrike" dirty="0">
                          <a:effectLst/>
                        </a:rPr>
                        <a:t>forwarding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write rd。out_valid=1。bad_ins=00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extLst>
                  <a:ext uri="{0D108BD9-81ED-4DB2-BD59-A6C34878D82A}">
                    <a16:rowId xmlns:a16="http://schemas.microsoft.com/office/drawing/2014/main" val="2144814110"/>
                  </a:ext>
                </a:extLst>
              </a:tr>
              <a:tr h="4321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OR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檢查</a:t>
                      </a:r>
                      <a:r>
                        <a:rPr lang="en-US" sz="900" b="0" u="none" strike="noStrike" dirty="0">
                          <a:effectLst/>
                        </a:rPr>
                        <a:t>opcode / funct、rs / rt / </a:t>
                      </a:r>
                      <a:r>
                        <a:rPr lang="en-US" sz="900" b="0" u="none" strike="noStrike" dirty="0" err="1">
                          <a:effectLst/>
                        </a:rPr>
                        <a:t>rd</a:t>
                      </a:r>
                      <a:r>
                        <a:rPr lang="en-US" sz="900" b="0" u="none" strike="noStrike" dirty="0">
                          <a:effectLst/>
                        </a:rPr>
                        <a:t> address</a:t>
                      </a:r>
                      <a:r>
                        <a:rPr lang="zh-TW" sz="900" b="0" u="none" strike="noStrike" dirty="0">
                          <a:effectLst/>
                        </a:rPr>
                        <a:t>合法。讀</a:t>
                      </a:r>
                      <a:r>
                        <a:rPr lang="en-US" sz="900" b="0" u="none" strike="noStrike" dirty="0">
                          <a:effectLst/>
                        </a:rPr>
                        <a:t>rs_val、rt_val。dst=rd。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暫存</a:t>
                      </a:r>
                      <a:r>
                        <a:rPr lang="en-US" sz="900" b="0" u="none" strike="noStrike" dirty="0">
                          <a:effectLst/>
                        </a:rPr>
                        <a:t>operands。p_or_op0=1。</a:t>
                      </a:r>
                      <a:r>
                        <a:rPr lang="zh-TW" sz="900" b="0" u="none" strike="noStrike" dirty="0">
                          <a:effectLst/>
                        </a:rPr>
                        <a:t>組合邏輯計算</a:t>
                      </a:r>
                      <a:r>
                        <a:rPr lang="en-US" sz="900" b="0" u="none" strike="noStrike" dirty="0">
                          <a:effectLst/>
                        </a:rPr>
                        <a:t>rs_val | rt_val。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p_result[1]</a:t>
                      </a:r>
                      <a:r>
                        <a:rPr lang="zh-TW" sz="900" b="0" u="none" strike="noStrike" dirty="0">
                          <a:effectLst/>
                        </a:rPr>
                        <a:t>保存</a:t>
                      </a:r>
                      <a:r>
                        <a:rPr lang="en-US" sz="900" b="0" u="none" strike="noStrike" dirty="0">
                          <a:effectLst/>
                        </a:rPr>
                        <a:t>OR</a:t>
                      </a:r>
                      <a:r>
                        <a:rPr lang="zh-TW" sz="900" b="0" u="none" strike="noStrike" dirty="0">
                          <a:effectLst/>
                        </a:rPr>
                        <a:t>結果。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result，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900" b="0" u="none" strike="noStrike">
                          <a:effectLst/>
                        </a:rPr>
                        <a:t>可</a:t>
                      </a:r>
                      <a:r>
                        <a:rPr lang="en-US" sz="900" b="0" u="none" strike="noStrike" dirty="0">
                          <a:effectLst/>
                        </a:rPr>
                        <a:t>forwarding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result，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900" b="0" u="none" strike="noStrike">
                          <a:effectLst/>
                        </a:rPr>
                        <a:t>可</a:t>
                      </a:r>
                      <a:r>
                        <a:rPr lang="en-US" sz="900" b="0" u="none" strike="noStrike" dirty="0">
                          <a:effectLst/>
                        </a:rPr>
                        <a:t>forwarding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write rd，</a:t>
                      </a:r>
                      <a:r>
                        <a:rPr lang="zh-TW" sz="900" b="0" u="none" strike="noStrike" dirty="0">
                          <a:effectLst/>
                        </a:rPr>
                        <a:t>輸出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extLst>
                  <a:ext uri="{0D108BD9-81ED-4DB2-BD59-A6C34878D82A}">
                    <a16:rowId xmlns:a16="http://schemas.microsoft.com/office/drawing/2014/main" val="1737493650"/>
                  </a:ext>
                </a:extLst>
              </a:tr>
              <a:tr h="6072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SLA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檢查</a:t>
                      </a:r>
                      <a:r>
                        <a:rPr lang="en-US" sz="900" b="0" u="none" strike="noStrike" dirty="0">
                          <a:effectLst/>
                        </a:rPr>
                        <a:t>opcode / funct、rs / rt / </a:t>
                      </a:r>
                      <a:r>
                        <a:rPr lang="en-US" sz="900" b="0" u="none" strike="noStrike" dirty="0" err="1">
                          <a:effectLst/>
                        </a:rPr>
                        <a:t>rd</a:t>
                      </a:r>
                      <a:r>
                        <a:rPr lang="en-US" sz="900" b="0" u="none" strike="noStrike" dirty="0">
                          <a:effectLst/>
                        </a:rPr>
                        <a:t> address</a:t>
                      </a:r>
                      <a:r>
                        <a:rPr lang="zh-TW" sz="900" b="0" u="none" strike="noStrike" dirty="0">
                          <a:effectLst/>
                        </a:rPr>
                        <a:t>合法。注意：</a:t>
                      </a:r>
                      <a:r>
                        <a:rPr lang="en-US" sz="900" b="0" u="none" strike="noStrike" dirty="0">
                          <a:effectLst/>
                        </a:rPr>
                        <a:t>rs address</a:t>
                      </a:r>
                      <a:r>
                        <a:rPr lang="zh-TW" sz="900" b="0" u="none" strike="noStrike" dirty="0">
                          <a:effectLst/>
                        </a:rPr>
                        <a:t>要合法，但不參與運算。只讀</a:t>
                      </a:r>
                      <a:r>
                        <a:rPr lang="en-US" sz="900" b="0" u="none" strike="noStrike" dirty="0">
                          <a:effectLst/>
                        </a:rPr>
                        <a:t>rt_val。dst=rd。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暫存</a:t>
                      </a:r>
                      <a:r>
                        <a:rPr lang="en-US" sz="900" b="0" u="none" strike="noStrike" dirty="0">
                          <a:effectLst/>
                        </a:rPr>
                        <a:t>rt_val、shamt、dst。p_sla0=1。</a:t>
                      </a:r>
                      <a:r>
                        <a:rPr lang="zh-TW" sz="900" b="0" u="none" strike="noStrike" dirty="0">
                          <a:effectLst/>
                        </a:rPr>
                        <a:t>組合邏輯計算</a:t>
                      </a:r>
                      <a:r>
                        <a:rPr lang="en-US" sz="900" b="0" u="none" strike="noStrike" dirty="0">
                          <a:effectLst/>
                        </a:rPr>
                        <a:t>rt_val &lt;&lt; shamt。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p_result[1]</a:t>
                      </a:r>
                      <a:r>
                        <a:rPr lang="zh-TW" sz="900" b="0" u="none" strike="noStrike" dirty="0">
                          <a:effectLst/>
                        </a:rPr>
                        <a:t>保存</a:t>
                      </a:r>
                      <a:r>
                        <a:rPr lang="en-US" sz="900" b="0" u="none" strike="noStrike" dirty="0">
                          <a:effectLst/>
                        </a:rPr>
                        <a:t>SLA</a:t>
                      </a:r>
                      <a:r>
                        <a:rPr lang="zh-TW" sz="900" b="0" u="none" strike="noStrike" dirty="0">
                          <a:effectLst/>
                        </a:rPr>
                        <a:t>結果。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result，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900" b="0" u="none" strike="noStrike">
                          <a:effectLst/>
                        </a:rPr>
                        <a:t>可</a:t>
                      </a:r>
                      <a:r>
                        <a:rPr lang="en-US" sz="900" b="0" u="none" strike="noStrike" dirty="0">
                          <a:effectLst/>
                        </a:rPr>
                        <a:t>forwarding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result，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900" b="0" u="none" strike="noStrike">
                          <a:effectLst/>
                        </a:rPr>
                        <a:t>可</a:t>
                      </a:r>
                      <a:r>
                        <a:rPr lang="en-US" sz="900" b="0" u="none" strike="noStrike" dirty="0">
                          <a:effectLst/>
                        </a:rPr>
                        <a:t>forwarding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write rd，</a:t>
                      </a:r>
                      <a:r>
                        <a:rPr lang="zh-TW" sz="900" b="0" u="none" strike="noStrike" dirty="0">
                          <a:effectLst/>
                        </a:rPr>
                        <a:t>輸出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extLst>
                  <a:ext uri="{0D108BD9-81ED-4DB2-BD59-A6C34878D82A}">
                    <a16:rowId xmlns:a16="http://schemas.microsoft.com/office/drawing/2014/main" val="2563198122"/>
                  </a:ext>
                </a:extLst>
              </a:tr>
              <a:tr h="6072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SRA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檢查</a:t>
                      </a:r>
                      <a:r>
                        <a:rPr lang="en-US" sz="900" b="0" u="none" strike="noStrike" dirty="0">
                          <a:effectLst/>
                        </a:rPr>
                        <a:t>opcode / funct、rs / rt / </a:t>
                      </a:r>
                      <a:r>
                        <a:rPr lang="en-US" sz="900" b="0" u="none" strike="noStrike" dirty="0" err="1">
                          <a:effectLst/>
                        </a:rPr>
                        <a:t>rd</a:t>
                      </a:r>
                      <a:r>
                        <a:rPr lang="en-US" sz="900" b="0" u="none" strike="noStrike" dirty="0">
                          <a:effectLst/>
                        </a:rPr>
                        <a:t> address</a:t>
                      </a:r>
                      <a:r>
                        <a:rPr lang="zh-TW" sz="900" b="0" u="none" strike="noStrike" dirty="0">
                          <a:effectLst/>
                        </a:rPr>
                        <a:t>合法。注意：</a:t>
                      </a:r>
                      <a:r>
                        <a:rPr lang="en-US" sz="900" b="0" u="none" strike="noStrike" dirty="0">
                          <a:effectLst/>
                        </a:rPr>
                        <a:t>rs address</a:t>
                      </a:r>
                      <a:r>
                        <a:rPr lang="zh-TW" sz="900" b="0" u="none" strike="noStrike" dirty="0">
                          <a:effectLst/>
                        </a:rPr>
                        <a:t>要合法，但不參與運算。只讀</a:t>
                      </a:r>
                      <a:r>
                        <a:rPr lang="en-US" sz="900" b="0" u="none" strike="noStrike" dirty="0">
                          <a:effectLst/>
                        </a:rPr>
                        <a:t>rt_val。dst=rd。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暫存</a:t>
                      </a:r>
                      <a:r>
                        <a:rPr lang="en-US" sz="900" b="0" u="none" strike="noStrike" dirty="0">
                          <a:effectLst/>
                        </a:rPr>
                        <a:t>rt_val、shamt、dst。p_sra0=1。</a:t>
                      </a:r>
                      <a:r>
                        <a:rPr lang="zh-TW" sz="900" b="0" u="none" strike="noStrike" dirty="0">
                          <a:effectLst/>
                        </a:rPr>
                        <a:t>組合邏輯計算</a:t>
                      </a:r>
                      <a:r>
                        <a:rPr lang="en-US" sz="900" b="0" u="none" strike="noStrike" dirty="0">
                          <a:effectLst/>
                        </a:rPr>
                        <a:t>$signed(rt_val) &gt;&gt;&gt; shamt。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p_result[1]</a:t>
                      </a:r>
                      <a:r>
                        <a:rPr lang="zh-TW" sz="900" b="0" u="none" strike="noStrike" dirty="0">
                          <a:effectLst/>
                        </a:rPr>
                        <a:t>保存</a:t>
                      </a:r>
                      <a:r>
                        <a:rPr lang="en-US" sz="900" b="0" u="none" strike="noStrike" dirty="0">
                          <a:effectLst/>
                        </a:rPr>
                        <a:t>SRA</a:t>
                      </a:r>
                      <a:r>
                        <a:rPr lang="zh-TW" sz="900" b="0" u="none" strike="noStrike" dirty="0">
                          <a:effectLst/>
                        </a:rPr>
                        <a:t>結果。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result，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900" b="0" u="none" strike="noStrike">
                          <a:effectLst/>
                        </a:rPr>
                        <a:t>可</a:t>
                      </a:r>
                      <a:r>
                        <a:rPr lang="en-US" sz="900" b="0" u="none" strike="noStrike" dirty="0">
                          <a:effectLst/>
                        </a:rPr>
                        <a:t>forwarding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result，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900" b="0" u="none" strike="noStrike">
                          <a:effectLst/>
                        </a:rPr>
                        <a:t>可</a:t>
                      </a:r>
                      <a:r>
                        <a:rPr lang="en-US" sz="900" b="0" u="none" strike="noStrike" dirty="0">
                          <a:effectLst/>
                        </a:rPr>
                        <a:t>forwarding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write rd，</a:t>
                      </a:r>
                      <a:r>
                        <a:rPr lang="zh-TW" sz="900" b="0" u="none" strike="noStrike" dirty="0">
                          <a:effectLst/>
                        </a:rPr>
                        <a:t>輸出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extLst>
                  <a:ext uri="{0D108BD9-81ED-4DB2-BD59-A6C34878D82A}">
                    <a16:rowId xmlns:a16="http://schemas.microsoft.com/office/drawing/2014/main" val="2331100345"/>
                  </a:ext>
                </a:extLst>
              </a:tr>
              <a:tr h="6072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ADDI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檢查</a:t>
                      </a:r>
                      <a:r>
                        <a:rPr lang="en-US" sz="900" b="0" u="none" strike="noStrike" dirty="0" err="1">
                          <a:effectLst/>
                        </a:rPr>
                        <a:t>rs</a:t>
                      </a:r>
                      <a:r>
                        <a:rPr lang="en-US" sz="900" b="0" u="none" strike="noStrike" dirty="0">
                          <a:effectLst/>
                        </a:rPr>
                        <a:t> / rt address</a:t>
                      </a:r>
                      <a:r>
                        <a:rPr lang="zh-TW" sz="900" b="0" u="none" strike="noStrike" dirty="0">
                          <a:effectLst/>
                        </a:rPr>
                        <a:t>合法。只讀</a:t>
                      </a:r>
                      <a:r>
                        <a:rPr lang="en-US" sz="900" b="0" u="none" strike="noStrike" dirty="0">
                          <a:effectLst/>
                        </a:rPr>
                        <a:t>rs_val。rt</a:t>
                      </a:r>
                      <a:r>
                        <a:rPr lang="zh-TW" sz="900" b="0" u="none" strike="noStrike" dirty="0">
                          <a:effectLst/>
                        </a:rPr>
                        <a:t>是</a:t>
                      </a:r>
                      <a:r>
                        <a:rPr lang="en-US" sz="900" b="0" u="none" strike="noStrike" dirty="0">
                          <a:effectLst/>
                        </a:rPr>
                        <a:t>destination，</a:t>
                      </a:r>
                      <a:r>
                        <a:rPr lang="zh-TW" sz="900" b="0" u="none" strike="noStrike" dirty="0">
                          <a:effectLst/>
                        </a:rPr>
                        <a:t>不是</a:t>
                      </a:r>
                      <a:r>
                        <a:rPr lang="en-US" sz="900" b="0" u="none" strike="noStrike" dirty="0">
                          <a:effectLst/>
                        </a:rPr>
                        <a:t>source。dst=rt。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暫存</a:t>
                      </a:r>
                      <a:r>
                        <a:rPr lang="en-US" sz="900" b="0" u="none" strike="noStrike" dirty="0">
                          <a:effectLst/>
                        </a:rPr>
                        <a:t>rs_val。p_rt_val[0]</a:t>
                      </a:r>
                      <a:r>
                        <a:rPr lang="zh-TW" sz="900" b="0" u="none" strike="noStrike" dirty="0">
                          <a:effectLst/>
                        </a:rPr>
                        <a:t>欄位改放</a:t>
                      </a:r>
                      <a:r>
                        <a:rPr lang="en-US" sz="900" b="0" u="none" strike="noStrike" dirty="0">
                          <a:effectLst/>
                        </a:rPr>
                        <a:t>immediate。p_addi0=1。</a:t>
                      </a:r>
                      <a:r>
                        <a:rPr lang="zh-TW" sz="900" b="0" u="none" strike="noStrike" dirty="0">
                          <a:effectLst/>
                        </a:rPr>
                        <a:t>組合邏輯計算</a:t>
                      </a:r>
                      <a:r>
                        <a:rPr lang="en-US" sz="900" b="0" u="none" strike="noStrike" dirty="0">
                          <a:effectLst/>
                        </a:rPr>
                        <a:t>rs_val + immediate。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p_result[1]</a:t>
                      </a:r>
                      <a:r>
                        <a:rPr lang="zh-TW" sz="900" b="0" u="none" strike="noStrike" dirty="0">
                          <a:effectLst/>
                        </a:rPr>
                        <a:t>保存</a:t>
                      </a:r>
                      <a:r>
                        <a:rPr lang="en-US" sz="900" b="0" u="none" strike="noStrike" dirty="0">
                          <a:effectLst/>
                        </a:rPr>
                        <a:t>ADDI</a:t>
                      </a:r>
                      <a:r>
                        <a:rPr lang="zh-TW" sz="900" b="0" u="none" strike="noStrike" dirty="0">
                          <a:effectLst/>
                        </a:rPr>
                        <a:t>結果。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result，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900" b="0" u="none" strike="noStrike">
                          <a:effectLst/>
                        </a:rPr>
                        <a:t>可</a:t>
                      </a:r>
                      <a:r>
                        <a:rPr lang="en-US" sz="900" b="0" u="none" strike="noStrike" dirty="0">
                          <a:effectLst/>
                        </a:rPr>
                        <a:t>forwarding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result，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900" b="0" u="none" strike="noStrike">
                          <a:effectLst/>
                        </a:rPr>
                        <a:t>可</a:t>
                      </a:r>
                      <a:r>
                        <a:rPr lang="en-US" sz="900" b="0" u="none" strike="noStrike" dirty="0">
                          <a:effectLst/>
                        </a:rPr>
                        <a:t>forwarding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write rt，</a:t>
                      </a:r>
                      <a:r>
                        <a:rPr lang="zh-TW" sz="900" b="0" u="none" strike="noStrike">
                          <a:effectLst/>
                        </a:rPr>
                        <a:t>輸出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extLst>
                  <a:ext uri="{0D108BD9-81ED-4DB2-BD59-A6C34878D82A}">
                    <a16:rowId xmlns:a16="http://schemas.microsoft.com/office/drawing/2014/main" val="645483561"/>
                  </a:ext>
                </a:extLst>
              </a:tr>
              <a:tr h="6072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ORI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檢查</a:t>
                      </a:r>
                      <a:r>
                        <a:rPr lang="en-US" sz="900" b="0" u="none" strike="noStrike" dirty="0" err="1">
                          <a:effectLst/>
                        </a:rPr>
                        <a:t>rs</a:t>
                      </a:r>
                      <a:r>
                        <a:rPr lang="en-US" sz="900" b="0" u="none" strike="noStrike" dirty="0">
                          <a:effectLst/>
                        </a:rPr>
                        <a:t> / rt address</a:t>
                      </a:r>
                      <a:r>
                        <a:rPr lang="zh-TW" sz="900" b="0" u="none" strike="noStrike" dirty="0">
                          <a:effectLst/>
                        </a:rPr>
                        <a:t>合法。只讀</a:t>
                      </a:r>
                      <a:r>
                        <a:rPr lang="en-US" sz="900" b="0" u="none" strike="noStrike" dirty="0">
                          <a:effectLst/>
                        </a:rPr>
                        <a:t>rs_val。rt</a:t>
                      </a:r>
                      <a:r>
                        <a:rPr lang="zh-TW" sz="900" b="0" u="none" strike="noStrike" dirty="0">
                          <a:effectLst/>
                        </a:rPr>
                        <a:t>是</a:t>
                      </a:r>
                      <a:r>
                        <a:rPr lang="en-US" sz="900" b="0" u="none" strike="noStrike" dirty="0">
                          <a:effectLst/>
                        </a:rPr>
                        <a:t>destination，</a:t>
                      </a:r>
                      <a:r>
                        <a:rPr lang="zh-TW" sz="900" b="0" u="none" strike="noStrike" dirty="0">
                          <a:effectLst/>
                        </a:rPr>
                        <a:t>不是</a:t>
                      </a:r>
                      <a:r>
                        <a:rPr lang="en-US" sz="900" b="0" u="none" strike="noStrike" dirty="0">
                          <a:effectLst/>
                        </a:rPr>
                        <a:t>source。dst=rt。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暫存</a:t>
                      </a:r>
                      <a:r>
                        <a:rPr lang="en-US" sz="900" b="0" u="none" strike="noStrike" dirty="0">
                          <a:effectLst/>
                        </a:rPr>
                        <a:t>rs_val。p_rt_val[0]</a:t>
                      </a:r>
                      <a:r>
                        <a:rPr lang="zh-TW" sz="900" b="0" u="none" strike="noStrike" dirty="0">
                          <a:effectLst/>
                        </a:rPr>
                        <a:t>欄位改放</a:t>
                      </a:r>
                      <a:r>
                        <a:rPr lang="en-US" sz="900" b="0" u="none" strike="noStrike" dirty="0">
                          <a:effectLst/>
                        </a:rPr>
                        <a:t>immediate。p_ori0=1。</a:t>
                      </a:r>
                      <a:r>
                        <a:rPr lang="zh-TW" sz="900" b="0" u="none" strike="noStrike" dirty="0">
                          <a:effectLst/>
                        </a:rPr>
                        <a:t>組合邏輯計算</a:t>
                      </a:r>
                      <a:r>
                        <a:rPr lang="en-US" sz="900" b="0" u="none" strike="noStrike" dirty="0">
                          <a:effectLst/>
                        </a:rPr>
                        <a:t>rs_val | immediate。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p_result[1]</a:t>
                      </a:r>
                      <a:r>
                        <a:rPr lang="zh-TW" sz="900" b="0" u="none" strike="noStrike" dirty="0">
                          <a:effectLst/>
                        </a:rPr>
                        <a:t>保存</a:t>
                      </a:r>
                      <a:r>
                        <a:rPr lang="en-US" sz="900" b="0" u="none" strike="noStrike" dirty="0">
                          <a:effectLst/>
                        </a:rPr>
                        <a:t>ORI</a:t>
                      </a:r>
                      <a:r>
                        <a:rPr lang="zh-TW" sz="900" b="0" u="none" strike="noStrike" dirty="0">
                          <a:effectLst/>
                        </a:rPr>
                        <a:t>結果。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result，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900" b="0" u="none" strike="noStrike">
                          <a:effectLst/>
                        </a:rPr>
                        <a:t>可</a:t>
                      </a:r>
                      <a:r>
                        <a:rPr lang="en-US" sz="900" b="0" u="none" strike="noStrike" dirty="0">
                          <a:effectLst/>
                        </a:rPr>
                        <a:t>forwarding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result，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900" b="0" u="none" strike="noStrike">
                          <a:effectLst/>
                        </a:rPr>
                        <a:t>可</a:t>
                      </a:r>
                      <a:r>
                        <a:rPr lang="en-US" sz="900" b="0" u="none" strike="noStrike" dirty="0">
                          <a:effectLst/>
                        </a:rPr>
                        <a:t>forwarding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write rt，</a:t>
                      </a:r>
                      <a:r>
                        <a:rPr lang="zh-TW" sz="900" b="0" u="none" strike="noStrike">
                          <a:effectLst/>
                        </a:rPr>
                        <a:t>輸出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extLst>
                  <a:ext uri="{0D108BD9-81ED-4DB2-BD59-A6C34878D82A}">
                    <a16:rowId xmlns:a16="http://schemas.microsoft.com/office/drawing/2014/main" val="2309470958"/>
                  </a:ext>
                </a:extLst>
              </a:tr>
              <a:tr h="9576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MULT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檢查</a:t>
                      </a:r>
                      <a:r>
                        <a:rPr lang="en-US" sz="900" b="0" u="none" strike="noStrike" dirty="0">
                          <a:effectLst/>
                        </a:rPr>
                        <a:t>opcode / funct、rs / rt / </a:t>
                      </a:r>
                      <a:r>
                        <a:rPr lang="en-US" sz="900" b="0" u="none" strike="noStrike" dirty="0" err="1">
                          <a:effectLst/>
                        </a:rPr>
                        <a:t>rd</a:t>
                      </a:r>
                      <a:r>
                        <a:rPr lang="en-US" sz="900" b="0" u="none" strike="noStrike" dirty="0">
                          <a:effectLst/>
                        </a:rPr>
                        <a:t> address</a:t>
                      </a:r>
                      <a:r>
                        <a:rPr lang="zh-TW" sz="900" b="0" u="none" strike="noStrike" dirty="0">
                          <a:effectLst/>
                        </a:rPr>
                        <a:t>合法。讀</a:t>
                      </a:r>
                      <a:r>
                        <a:rPr lang="en-US" sz="900" b="0" u="none" strike="noStrike" dirty="0">
                          <a:effectLst/>
                        </a:rPr>
                        <a:t>rs_val、rt_val。</a:t>
                      </a:r>
                      <a:r>
                        <a:rPr lang="zh-TW" sz="900" b="0" u="none" strike="noStrike" dirty="0">
                          <a:effectLst/>
                        </a:rPr>
                        <a:t>若前一個</a:t>
                      </a:r>
                      <a:r>
                        <a:rPr lang="en-US" sz="900" b="0" u="none" strike="noStrike" dirty="0">
                          <a:effectLst/>
                        </a:rPr>
                        <a:t>MULT</a:t>
                      </a:r>
                      <a:r>
                        <a:rPr lang="zh-TW" sz="900" b="0" u="none" strike="noStrike" dirty="0">
                          <a:effectLst/>
                        </a:rPr>
                        <a:t>還在使用</a:t>
                      </a:r>
                      <a:r>
                        <a:rPr lang="en-US" sz="900" b="0" u="none" strike="noStrike" dirty="0">
                          <a:effectLst/>
                        </a:rPr>
                        <a:t>multiplier，</a:t>
                      </a:r>
                      <a:r>
                        <a:rPr lang="zh-TW" sz="900" b="0" u="none" strike="noStrike" dirty="0">
                          <a:effectLst/>
                        </a:rPr>
                        <a:t>則</a:t>
                      </a:r>
                      <a:r>
                        <a:rPr lang="en-US" sz="900" b="0" u="none" strike="noStrike" dirty="0">
                          <a:effectLst/>
                        </a:rPr>
                        <a:t>stall。dst=rd。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暫存</a:t>
                      </a:r>
                      <a:r>
                        <a:rPr lang="en-US" sz="900" b="0" u="none" strike="noStrike" dirty="0">
                          <a:effectLst/>
                        </a:rPr>
                        <a:t>rs_val、rt_val。p_mult0=1。multiplier</a:t>
                      </a:r>
                      <a:r>
                        <a:rPr lang="zh-TW" sz="900" b="0" u="none" strike="noStrike" dirty="0">
                          <a:effectLst/>
                        </a:rPr>
                        <a:t>先算</a:t>
                      </a:r>
                      <a:r>
                        <a:rPr lang="en-US" sz="900" b="0" u="none" strike="noStrike" dirty="0">
                          <a:effectLst/>
                        </a:rPr>
                        <a:t>low partial product：rs * {1'b0、rt[7:0]}。</a:t>
                      </a:r>
                      <a:r>
                        <a:rPr lang="zh-TW" sz="900" b="0" u="none" strike="noStrike" dirty="0">
                          <a:effectLst/>
                        </a:rPr>
                        <a:t>同時準備下一拍的</a:t>
                      </a:r>
                      <a:r>
                        <a:rPr lang="en-US" sz="900" b="0" u="none" strike="noStrike" dirty="0">
                          <a:effectLst/>
                        </a:rPr>
                        <a:t>high byte input。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保存</a:t>
                      </a:r>
                      <a:r>
                        <a:rPr lang="en-US" sz="900" b="0" u="none" strike="noStrike" dirty="0">
                          <a:effectLst/>
                        </a:rPr>
                        <a:t>low</a:t>
                      </a:r>
                      <a:r>
                        <a:rPr lang="zh-TW" altLang="en-US" sz="900" b="0" u="none" strike="noStrike" dirty="0">
                          <a:effectLst/>
                        </a:rPr>
                        <a:t> </a:t>
                      </a:r>
                      <a:r>
                        <a:rPr lang="en-US" sz="900" b="0" u="none" strike="noStrike" dirty="0">
                          <a:effectLst/>
                        </a:rPr>
                        <a:t>partial</a:t>
                      </a:r>
                      <a:r>
                        <a:rPr lang="zh-TW" altLang="en-US" sz="900" b="0" u="none" strike="noStrike" dirty="0">
                          <a:effectLst/>
                        </a:rPr>
                        <a:t> </a:t>
                      </a:r>
                      <a:r>
                        <a:rPr lang="en-US" altLang="zh-TW" sz="900" b="0" u="none" strike="noStrike" dirty="0">
                          <a:effectLst/>
                        </a:rPr>
                        <a:t> </a:t>
                      </a:r>
                      <a:r>
                        <a:rPr lang="en-US" sz="900" b="0" u="none" strike="noStrike" dirty="0">
                          <a:effectLst/>
                        </a:rPr>
                        <a:t>product。multiplier</a:t>
                      </a:r>
                      <a:r>
                        <a:rPr lang="zh-TW" sz="900" b="0" u="none" strike="noStrike" dirty="0">
                          <a:effectLst/>
                        </a:rPr>
                        <a:t>算</a:t>
                      </a:r>
                      <a:r>
                        <a:rPr lang="en-US" sz="900" b="0" u="none" strike="noStrike" dirty="0">
                          <a:effectLst/>
                        </a:rPr>
                        <a:t>high</a:t>
                      </a:r>
                      <a:r>
                        <a:rPr lang="zh-TW" altLang="en-US" sz="900" b="0" u="none" strike="noStrike" dirty="0">
                          <a:effectLst/>
                        </a:rPr>
                        <a:t> </a:t>
                      </a:r>
                      <a:r>
                        <a:rPr lang="en-US" sz="900" b="0" u="none" strike="noStrike" dirty="0">
                          <a:effectLst/>
                        </a:rPr>
                        <a:t>partial</a:t>
                      </a:r>
                      <a:r>
                        <a:rPr lang="zh-TW" altLang="en-US" sz="900" b="0" u="none" strike="noStrike" dirty="0">
                          <a:effectLst/>
                        </a:rPr>
                        <a:t> </a:t>
                      </a:r>
                      <a:r>
                        <a:rPr lang="en-US" sz="900" b="0" u="none" strike="noStrike" dirty="0">
                          <a:effectLst/>
                        </a:rPr>
                        <a:t>product：rs * {rt[15]、rt[15:8]}。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保存</a:t>
                      </a:r>
                      <a:r>
                        <a:rPr lang="en-US" sz="900" b="0" u="none" strike="noStrike" dirty="0">
                          <a:effectLst/>
                        </a:rPr>
                        <a:t>high</a:t>
                      </a:r>
                      <a:r>
                        <a:rPr lang="zh-TW" altLang="en-US" sz="900" b="0" u="none" strike="noStrike" dirty="0">
                          <a:effectLst/>
                        </a:rPr>
                        <a:t> </a:t>
                      </a:r>
                      <a:r>
                        <a:rPr lang="en-US" sz="900" b="0" u="none" strike="noStrike" dirty="0">
                          <a:effectLst/>
                        </a:rPr>
                        <a:t>partial</a:t>
                      </a:r>
                      <a:r>
                        <a:rPr lang="zh-TW" altLang="en-US" sz="900" b="0" u="none" strike="noStrike" dirty="0">
                          <a:effectLst/>
                        </a:rPr>
                        <a:t> </a:t>
                      </a:r>
                      <a:r>
                        <a:rPr lang="en-US" sz="900" b="0" u="none" strike="noStrike" dirty="0">
                          <a:effectLst/>
                        </a:rPr>
                        <a:t>product。</a:t>
                      </a:r>
                      <a:r>
                        <a:rPr lang="zh-TW" sz="900" b="0" u="none" strike="noStrike" dirty="0">
                          <a:effectLst/>
                        </a:rPr>
                        <a:t>組合邏輯合併：</a:t>
                      </a:r>
                      <a:r>
                        <a:rPr lang="en-US" sz="900" b="0" u="none" strike="noStrike" dirty="0">
                          <a:effectLst/>
                        </a:rPr>
                        <a:t>low_part + (high_part &lt;&lt; 8)，</a:t>
                      </a:r>
                      <a:r>
                        <a:rPr lang="zh-TW" sz="900" b="0" u="none" strike="noStrike" dirty="0">
                          <a:effectLst/>
                        </a:rPr>
                        <a:t>再做</a:t>
                      </a:r>
                      <a:r>
                        <a:rPr lang="en-US" sz="900" b="0" u="none" strike="noStrike" dirty="0">
                          <a:effectLst/>
                        </a:rPr>
                        <a:t> &gt;&gt;&gt; 15</a:t>
                      </a:r>
                      <a:r>
                        <a:rPr lang="zh-TW" sz="900" b="0" u="none" strike="noStrike" dirty="0">
                          <a:effectLst/>
                        </a:rPr>
                        <a:t>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p_result[3]</a:t>
                      </a:r>
                      <a:r>
                        <a:rPr lang="zh-TW" sz="900" b="0" u="none" strike="noStrike" dirty="0">
                          <a:effectLst/>
                        </a:rPr>
                        <a:t>保存</a:t>
                      </a:r>
                      <a:r>
                        <a:rPr lang="en-US" sz="900" b="0" u="none" strike="noStrike" dirty="0">
                          <a:effectLst/>
                        </a:rPr>
                        <a:t>MULT</a:t>
                      </a:r>
                      <a:r>
                        <a:rPr lang="zh-TW" sz="900" b="0" u="none" strike="noStrike" dirty="0">
                          <a:effectLst/>
                        </a:rPr>
                        <a:t>結果，</a:t>
                      </a:r>
                      <a:endParaRPr lang="en-US" altLang="zh-TW" sz="900" b="0" u="none" strike="noStrike" dirty="0"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可</a:t>
                      </a:r>
                      <a:r>
                        <a:rPr lang="en-US" sz="900" b="0" u="none" strike="noStrike" dirty="0">
                          <a:effectLst/>
                        </a:rPr>
                        <a:t>forwarding。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 result，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900" b="0" u="none" strike="noStrike">
                          <a:effectLst/>
                        </a:rPr>
                        <a:t>可</a:t>
                      </a:r>
                      <a:r>
                        <a:rPr lang="en-US" sz="900" b="0" u="none" strike="noStrike" dirty="0">
                          <a:effectLst/>
                        </a:rPr>
                        <a:t>forwarding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write rd，</a:t>
                      </a:r>
                      <a:r>
                        <a:rPr lang="zh-TW" sz="900" b="0" u="none" strike="noStrike" dirty="0">
                          <a:effectLst/>
                        </a:rPr>
                        <a:t>輸出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extLst>
                  <a:ext uri="{0D108BD9-81ED-4DB2-BD59-A6C34878D82A}">
                    <a16:rowId xmlns:a16="http://schemas.microsoft.com/office/drawing/2014/main" val="3564752397"/>
                  </a:ext>
                </a:extLst>
              </a:tr>
              <a:tr h="11328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DIV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檢查</a:t>
                      </a:r>
                      <a:r>
                        <a:rPr lang="en-US" sz="900" b="0" u="none" strike="noStrike" dirty="0">
                          <a:effectLst/>
                        </a:rPr>
                        <a:t>opcode / funct、rs / rt / </a:t>
                      </a:r>
                      <a:r>
                        <a:rPr lang="en-US" sz="900" b="0" u="none" strike="noStrike" dirty="0" err="1">
                          <a:effectLst/>
                        </a:rPr>
                        <a:t>rd</a:t>
                      </a:r>
                      <a:r>
                        <a:rPr lang="en-US" sz="900" b="0" u="none" strike="noStrike" dirty="0">
                          <a:effectLst/>
                        </a:rPr>
                        <a:t> address</a:t>
                      </a:r>
                      <a:r>
                        <a:rPr lang="zh-TW" sz="900" b="0" u="none" strike="noStrike" dirty="0">
                          <a:effectLst/>
                        </a:rPr>
                        <a:t>合法。讀</a:t>
                      </a:r>
                      <a:r>
                        <a:rPr lang="en-US" sz="900" b="0" u="none" strike="noStrike" dirty="0">
                          <a:effectLst/>
                        </a:rPr>
                        <a:t>rs_val、rt_val。</a:t>
                      </a:r>
                      <a:r>
                        <a:rPr lang="zh-TW" sz="900" b="0" u="none" strike="noStrike" dirty="0">
                          <a:effectLst/>
                        </a:rPr>
                        <a:t>若</a:t>
                      </a:r>
                      <a:r>
                        <a:rPr lang="en-US" sz="900" b="0" u="none" strike="noStrike" dirty="0">
                          <a:effectLst/>
                        </a:rPr>
                        <a:t>divider busy，</a:t>
                      </a:r>
                      <a:r>
                        <a:rPr lang="zh-TW" sz="900" b="0" u="none" strike="noStrike" dirty="0">
                          <a:effectLst/>
                        </a:rPr>
                        <a:t>或讀到前面</a:t>
                      </a:r>
                      <a:r>
                        <a:rPr lang="en-US" sz="900" b="0" u="none" strike="noStrike" dirty="0">
                          <a:effectLst/>
                        </a:rPr>
                        <a:t>DIV</a:t>
                      </a:r>
                      <a:r>
                        <a:rPr lang="zh-TW" sz="900" b="0" u="none" strike="noStrike" dirty="0">
                          <a:effectLst/>
                        </a:rPr>
                        <a:t>尚未完成的結果，則</a:t>
                      </a:r>
                      <a:r>
                        <a:rPr lang="en-US" sz="900" b="0" u="none" strike="noStrike" dirty="0">
                          <a:effectLst/>
                        </a:rPr>
                        <a:t>stall。dst=rd。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暫存</a:t>
                      </a:r>
                      <a:r>
                        <a:rPr lang="en-US" sz="900" b="0" u="none" strike="noStrike" dirty="0">
                          <a:effectLst/>
                        </a:rPr>
                        <a:t>rs_val、rt_val。p_is_div[0]=1。</a:t>
                      </a:r>
                      <a:r>
                        <a:rPr lang="zh-TW" sz="900" b="0" u="none" strike="noStrike" dirty="0">
                          <a:effectLst/>
                        </a:rPr>
                        <a:t>計算</a:t>
                      </a:r>
                      <a:r>
                        <a:rPr lang="en-US" sz="900" b="0" u="none" strike="noStrike" dirty="0">
                          <a:effectLst/>
                        </a:rPr>
                        <a:t>abs(rs)、abs(rt)、</a:t>
                      </a:r>
                      <a:r>
                        <a:rPr lang="en-US" sz="900" b="0" u="none" strike="noStrike" dirty="0" err="1">
                          <a:effectLst/>
                        </a:rPr>
                        <a:t>PosA</a:t>
                      </a:r>
                      <a:r>
                        <a:rPr lang="en-US" sz="900" b="0" u="none" strike="noStrike" dirty="0">
                          <a:effectLst/>
                        </a:rPr>
                        <a:t> / </a:t>
                      </a:r>
                      <a:r>
                        <a:rPr lang="en-US" sz="900" b="0" u="none" strike="noStrike" dirty="0" err="1">
                          <a:effectLst/>
                        </a:rPr>
                        <a:t>PosB</a:t>
                      </a:r>
                      <a:r>
                        <a:rPr lang="en-US" sz="900" b="0" u="none" strike="noStrike" dirty="0">
                          <a:effectLst/>
                        </a:rPr>
                        <a:t> / </a:t>
                      </a:r>
                      <a:r>
                        <a:rPr lang="en-US" sz="900" b="0" u="none" strike="noStrike" dirty="0" err="1">
                          <a:effectLst/>
                        </a:rPr>
                        <a:t>n、shifted</a:t>
                      </a:r>
                      <a:r>
                        <a:rPr lang="en-US" sz="900" b="0" u="none" strike="noStrike" dirty="0">
                          <a:effectLst/>
                        </a:rPr>
                        <a:t> dividend、</a:t>
                      </a:r>
                      <a:r>
                        <a:rPr lang="zh-TW" sz="900" b="0" u="none" strike="noStrike" dirty="0">
                          <a:effectLst/>
                        </a:rPr>
                        <a:t>結果正負號。若</a:t>
                      </a:r>
                      <a:r>
                        <a:rPr lang="en-US" sz="900" b="0" u="none" strike="noStrike" dirty="0">
                          <a:effectLst/>
                        </a:rPr>
                        <a:t>rt==0，</a:t>
                      </a:r>
                      <a:r>
                        <a:rPr lang="zh-TW" sz="900" b="0" u="none" strike="noStrike" dirty="0">
                          <a:effectLst/>
                        </a:rPr>
                        <a:t>下一級設</a:t>
                      </a:r>
                      <a:r>
                        <a:rPr lang="en-US" sz="900" b="0" u="none" strike="noStrike" dirty="0">
                          <a:effectLst/>
                        </a:rPr>
                        <a:t>bad_ins=10</a:t>
                      </a:r>
                      <a:r>
                        <a:rPr lang="zh-TW" sz="900" b="0" u="none" strike="noStrike" dirty="0">
                          <a:effectLst/>
                        </a:rPr>
                        <a:t>並取消</a:t>
                      </a:r>
                      <a:r>
                        <a:rPr lang="en-US" sz="900" b="0" u="none" strike="noStrike" dirty="0">
                          <a:effectLst/>
                        </a:rPr>
                        <a:t>write。</a:t>
                      </a:r>
                      <a:r>
                        <a:rPr lang="zh-TW" sz="900" b="0" u="none" strike="noStrike" dirty="0">
                          <a:effectLst/>
                        </a:rPr>
                        <a:t>若</a:t>
                      </a:r>
                      <a:r>
                        <a:rPr lang="en-US" sz="900" b="0" u="none" strike="noStrike" dirty="0">
                          <a:effectLst/>
                        </a:rPr>
                        <a:t>rt!=0，</a:t>
                      </a:r>
                      <a:r>
                        <a:rPr lang="zh-TW" sz="900" b="0" u="none" strike="noStrike" dirty="0">
                          <a:effectLst/>
                        </a:rPr>
                        <a:t>初始化</a:t>
                      </a:r>
                      <a:r>
                        <a:rPr lang="en-US" sz="900" b="0" u="none" strike="noStrike" dirty="0">
                          <a:effectLst/>
                        </a:rPr>
                        <a:t>divider state。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第</a:t>
                      </a:r>
                      <a:r>
                        <a:rPr lang="en-US" sz="900" b="0" u="none" strike="noStrike" dirty="0">
                          <a:effectLst/>
                        </a:rPr>
                        <a:t>1</a:t>
                      </a:r>
                      <a:r>
                        <a:rPr lang="zh-TW" sz="900" b="0" u="none" strike="noStrike" dirty="0">
                          <a:effectLst/>
                        </a:rPr>
                        <a:t>輪</a:t>
                      </a:r>
                      <a:r>
                        <a:rPr lang="en-US" sz="900" b="0" u="none" strike="noStrike" dirty="0">
                          <a:effectLst/>
                        </a:rPr>
                        <a:t>div_step4。</a:t>
                      </a:r>
                      <a:r>
                        <a:rPr lang="zh-TW" sz="900" b="0" u="none" strike="noStrike" dirty="0">
                          <a:effectLst/>
                        </a:rPr>
                        <a:t>產生前</a:t>
                      </a:r>
                      <a:r>
                        <a:rPr lang="en-US" sz="900" b="0" u="none" strike="noStrike" dirty="0">
                          <a:effectLst/>
                        </a:rPr>
                        <a:t>4</a:t>
                      </a:r>
                      <a:r>
                        <a:rPr lang="zh-TW" sz="900" b="0" u="none" strike="noStrike" dirty="0">
                          <a:effectLst/>
                        </a:rPr>
                        <a:t>個</a:t>
                      </a:r>
                      <a:r>
                        <a:rPr lang="en-US" sz="900" b="0" u="none" strike="noStrike" dirty="0">
                          <a:effectLst/>
                        </a:rPr>
                        <a:t>quotient bits，</a:t>
                      </a:r>
                      <a:r>
                        <a:rPr lang="zh-TW" sz="900" b="0" u="none" strike="noStrike" dirty="0">
                          <a:effectLst/>
                        </a:rPr>
                        <a:t>更新</a:t>
                      </a:r>
                      <a:r>
                        <a:rPr lang="en-US" sz="900" b="0" u="none" strike="noStrike" dirty="0">
                          <a:effectLst/>
                        </a:rPr>
                        <a:t>remainder / quotient。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>
                          <a:effectLst/>
                        </a:rPr>
                        <a:t>第</a:t>
                      </a:r>
                      <a:r>
                        <a:rPr lang="en-US" sz="900" b="0" u="none" strike="noStrike" dirty="0">
                          <a:effectLst/>
                        </a:rPr>
                        <a:t>2</a:t>
                      </a:r>
                      <a:r>
                        <a:rPr lang="zh-TW" sz="900" b="0" u="none" strike="noStrike">
                          <a:effectLst/>
                        </a:rPr>
                        <a:t>輪</a:t>
                      </a:r>
                      <a:r>
                        <a:rPr lang="en-US" sz="900" b="0" u="none" strike="noStrike" dirty="0">
                          <a:effectLst/>
                        </a:rPr>
                        <a:t>div_step4。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>
                          <a:effectLst/>
                        </a:rPr>
                        <a:t>第</a:t>
                      </a:r>
                      <a:r>
                        <a:rPr lang="en-US" sz="900" b="0" u="none" strike="noStrike" dirty="0">
                          <a:effectLst/>
                        </a:rPr>
                        <a:t>3</a:t>
                      </a:r>
                      <a:r>
                        <a:rPr lang="zh-TW" sz="900" b="0" u="none" strike="noStrike">
                          <a:effectLst/>
                        </a:rPr>
                        <a:t>輪</a:t>
                      </a:r>
                      <a:r>
                        <a:rPr lang="en-US" sz="900" b="0" u="none" strike="noStrike" dirty="0">
                          <a:effectLst/>
                        </a:rPr>
                        <a:t>div_step4。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>
                          <a:effectLst/>
                        </a:rPr>
                        <a:t>最後一輪</a:t>
                      </a:r>
                      <a:r>
                        <a:rPr lang="en-US" sz="900" b="0" u="none" strike="noStrike" dirty="0">
                          <a:effectLst/>
                        </a:rPr>
                        <a:t>div_step4。</a:t>
                      </a:r>
                      <a:r>
                        <a:rPr lang="zh-TW" sz="900" b="0" u="none" strike="noStrike">
                          <a:effectLst/>
                        </a:rPr>
                        <a:t>得到完整</a:t>
                      </a:r>
                      <a:r>
                        <a:rPr lang="en-US" sz="900" b="0" u="none" strike="noStrike" dirty="0">
                          <a:effectLst/>
                        </a:rPr>
                        <a:t>16-bit quotient，</a:t>
                      </a:r>
                      <a:r>
                        <a:rPr lang="zh-TW" sz="900" b="0" u="none" strike="noStrike">
                          <a:effectLst/>
                        </a:rPr>
                        <a:t>並做</a:t>
                      </a:r>
                      <a:r>
                        <a:rPr lang="en-US" sz="900" b="0" u="none" strike="noStrike" dirty="0">
                          <a:effectLst/>
                        </a:rPr>
                        <a:t>sign correction。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若正常</a:t>
                      </a:r>
                      <a:r>
                        <a:rPr lang="en-US" sz="900" b="0" u="none" strike="noStrike" dirty="0">
                          <a:effectLst/>
                        </a:rPr>
                        <a:t>DIV：write rd，</a:t>
                      </a:r>
                      <a:r>
                        <a:rPr lang="zh-TW" sz="900" b="0" u="none" strike="noStrike" dirty="0">
                          <a:effectLst/>
                        </a:rPr>
                        <a:t>輸出。若</a:t>
                      </a:r>
                      <a:r>
                        <a:rPr lang="en-US" sz="900" b="0" u="none" strike="noStrike" dirty="0">
                          <a:effectLst/>
                        </a:rPr>
                        <a:t>rt==0：</a:t>
                      </a:r>
                      <a:r>
                        <a:rPr lang="zh-TW" sz="900" b="0" u="none" strike="noStrike" dirty="0">
                          <a:effectLst/>
                        </a:rPr>
                        <a:t>不寫</a:t>
                      </a:r>
                      <a:r>
                        <a:rPr lang="en-US" sz="900" b="0" u="none" strike="noStrike" dirty="0">
                          <a:effectLst/>
                        </a:rPr>
                        <a:t>register，bad_ins=10，</a:t>
                      </a:r>
                      <a:r>
                        <a:rPr lang="zh-TW" sz="900" b="0" u="none" strike="noStrike" dirty="0">
                          <a:effectLst/>
                        </a:rPr>
                        <a:t>輸出目前</a:t>
                      </a:r>
                      <a:r>
                        <a:rPr lang="en-US" sz="900" b="0" u="none" strike="noStrike" dirty="0">
                          <a:effectLst/>
                        </a:rPr>
                        <a:t>registers。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extLst>
                  <a:ext uri="{0D108BD9-81ED-4DB2-BD59-A6C34878D82A}">
                    <a16:rowId xmlns:a16="http://schemas.microsoft.com/office/drawing/2014/main" val="2207204643"/>
                  </a:ext>
                </a:extLst>
              </a:tr>
              <a:tr h="6072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Invalid opcode / funct / register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Decode</a:t>
                      </a:r>
                      <a:r>
                        <a:rPr lang="zh-TW" sz="900" b="0" u="none" strike="noStrike" dirty="0">
                          <a:effectLst/>
                        </a:rPr>
                        <a:t>發現格式不合法。</a:t>
                      </a:r>
                      <a:r>
                        <a:rPr lang="en-US" sz="900" b="0" u="none" strike="noStrike" dirty="0">
                          <a:effectLst/>
                        </a:rPr>
                        <a:t>raw_fmt_ok=0。raw_bad=01。raw_write=0。Invalid instruction</a:t>
                      </a:r>
                      <a:r>
                        <a:rPr lang="zh-TW" sz="900" b="0" u="none" strike="noStrike" dirty="0">
                          <a:effectLst/>
                        </a:rPr>
                        <a:t>不會因</a:t>
                      </a:r>
                      <a:r>
                        <a:rPr lang="en-US" sz="900" b="0" u="none" strike="noStrike" dirty="0">
                          <a:effectLst/>
                        </a:rPr>
                        <a:t>hazard stall。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b="0" u="none" strike="noStrike" dirty="0">
                          <a:effectLst/>
                        </a:rPr>
                        <a:t>送進</a:t>
                      </a:r>
                      <a:r>
                        <a:rPr lang="en-US" sz="900" b="0" u="none" strike="noStrike" dirty="0">
                          <a:effectLst/>
                        </a:rPr>
                        <a:t>pipeline。p_bad[0]=01。p_write[0]=0。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passbad_ins=01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pass</a:t>
                      </a:r>
                      <a:endParaRPr lang="zh-TW" sz="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 dirty="0">
                          <a:effectLst/>
                        </a:rPr>
                        <a:t>out_valid=1。bad_ins=01。register</a:t>
                      </a:r>
                      <a:r>
                        <a:rPr lang="zh-TW" sz="900" b="0" u="none" strike="noStrike" dirty="0">
                          <a:effectLst/>
                        </a:rPr>
                        <a:t>保持原值。</a:t>
                      </a:r>
                      <a:endParaRPr lang="zh-TW" sz="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498" marR="45498" marT="22749" marB="22749" anchor="ctr"/>
                </a:tc>
                <a:extLst>
                  <a:ext uri="{0D108BD9-81ED-4DB2-BD59-A6C34878D82A}">
                    <a16:rowId xmlns:a16="http://schemas.microsoft.com/office/drawing/2014/main" val="1717516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5712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415F8-484E-B603-343E-4FD0637F1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AD5D85F-58C7-32C4-E84A-7AEA4A434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kumimoji="1" lang="en-US" altLang="zh-TW" sz="5400" dirty="0"/>
              <a:t>Design - </a:t>
            </a:r>
            <a:r>
              <a:rPr kumimoji="1" lang="en-US" altLang="zh-TW" sz="3200" dirty="0"/>
              <a:t>stall</a:t>
            </a:r>
            <a:endParaRPr kumimoji="1" lang="zh-TW" altLang="en-US" sz="5400" dirty="0"/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A348362-7408-89B2-BB12-00704D6E0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788" y="2697480"/>
            <a:ext cx="5155692" cy="38313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en-US" altLang="zh-TW" sz="2000" b="1" dirty="0"/>
              <a:t>Hazard</a:t>
            </a:r>
            <a:r>
              <a:rPr kumimoji="1" lang="zh-TW" altLang="en-US" sz="2000" b="1" dirty="0"/>
              <a:t>檢查與</a:t>
            </a:r>
            <a:r>
              <a:rPr kumimoji="1" lang="en-US" altLang="zh-TW" sz="2000" b="1" dirty="0"/>
              <a:t>stall</a:t>
            </a:r>
            <a:r>
              <a:rPr kumimoji="1" lang="zh-TW" altLang="en-US" sz="2000" b="1" dirty="0"/>
              <a:t>（</a:t>
            </a:r>
            <a:r>
              <a:rPr lang="zh-TW" altLang="en-US" sz="2000" dirty="0"/>
              <a:t>需要停止要新資料，先等</a:t>
            </a:r>
            <a:r>
              <a:rPr lang="en-US" altLang="zh-TW" sz="2000" dirty="0"/>
              <a:t>pipeline</a:t>
            </a:r>
            <a:r>
              <a:rPr lang="zh-TW" altLang="en-US" sz="2000" dirty="0"/>
              <a:t>內某些資料算完才能繼續要）</a:t>
            </a:r>
            <a:r>
              <a:rPr lang="en-US" altLang="zh-TW" sz="2000" dirty="0"/>
              <a:t> :</a:t>
            </a:r>
          </a:p>
          <a:p>
            <a:pPr lvl="1"/>
            <a:r>
              <a:rPr lang="en-US" altLang="zh-TW" sz="2000" dirty="0"/>
              <a:t>Stall</a:t>
            </a:r>
            <a:r>
              <a:rPr lang="zh-TW" altLang="en-US" sz="2000" dirty="0"/>
              <a:t>條件</a:t>
            </a:r>
            <a:r>
              <a:rPr lang="en-US" altLang="zh-TW" sz="2000" dirty="0"/>
              <a:t>1 - RAW data dependency</a:t>
            </a:r>
            <a:r>
              <a:rPr lang="zh-TW" altLang="en-US" sz="2000" dirty="0"/>
              <a:t>：新的指令需要讀取的資料還在</a:t>
            </a:r>
            <a:r>
              <a:rPr lang="en-US" altLang="zh-TW" sz="2000" dirty="0"/>
              <a:t>pipeline</a:t>
            </a:r>
            <a:r>
              <a:rPr lang="zh-TW" altLang="en-US" sz="2000" dirty="0"/>
              <a:t>中還沒算完。</a:t>
            </a:r>
            <a:endParaRPr lang="en-US" altLang="zh-TW" sz="2000" dirty="0"/>
          </a:p>
          <a:p>
            <a:pPr lvl="1"/>
            <a:r>
              <a:rPr lang="en-US" altLang="zh-TW" sz="2000" dirty="0"/>
              <a:t>Stall</a:t>
            </a:r>
            <a:r>
              <a:rPr lang="zh-TW" altLang="en-US" sz="2000" dirty="0"/>
              <a:t>條件</a:t>
            </a:r>
            <a:r>
              <a:rPr lang="en-US" altLang="zh-TW" sz="2000" dirty="0"/>
              <a:t>2 - Hardware busy</a:t>
            </a:r>
            <a:r>
              <a:rPr lang="zh-TW" altLang="en-US" sz="2000" dirty="0"/>
              <a:t>：新的</a:t>
            </a:r>
            <a:r>
              <a:rPr lang="en-US" altLang="zh-TW" sz="2000" dirty="0"/>
              <a:t>MULT</a:t>
            </a:r>
            <a:r>
              <a:rPr lang="zh-TW" altLang="en-US" sz="2000" dirty="0"/>
              <a:t>或</a:t>
            </a:r>
            <a:r>
              <a:rPr lang="en-US" altLang="zh-TW" sz="2000" dirty="0"/>
              <a:t>DIV</a:t>
            </a:r>
            <a:r>
              <a:rPr lang="zh-TW" altLang="en-US" sz="2000" dirty="0"/>
              <a:t>指令需要使用對應運算單元，但前一個</a:t>
            </a:r>
            <a:r>
              <a:rPr lang="en-US" altLang="zh-TW" sz="2000" dirty="0"/>
              <a:t>MULT / DIV</a:t>
            </a:r>
            <a:r>
              <a:rPr lang="zh-TW" altLang="en-US" sz="2000" dirty="0"/>
              <a:t>還在用該硬體。</a:t>
            </a:r>
            <a:endParaRPr lang="en-US" altLang="zh-TW" sz="2000" dirty="0"/>
          </a:p>
          <a:p>
            <a:pPr lvl="1"/>
            <a:r>
              <a:rPr lang="en-US" altLang="zh-TW" sz="2000" dirty="0"/>
              <a:t>2-entries instruction queue</a:t>
            </a:r>
            <a:r>
              <a:rPr lang="zh-TW" altLang="en-US" sz="2000" dirty="0"/>
              <a:t>的主要功能就是作為</a:t>
            </a:r>
            <a:r>
              <a:rPr lang="en-US" altLang="zh-TW" sz="2000" dirty="0"/>
              <a:t>stall buffer</a:t>
            </a:r>
            <a:r>
              <a:rPr lang="zh-TW" altLang="en-US" sz="2000" dirty="0"/>
              <a:t>。當上述兩種狀況發生無法去要新指令時，可避免因短暫</a:t>
            </a:r>
            <a:r>
              <a:rPr lang="en-US" altLang="zh-TW" sz="2000" dirty="0"/>
              <a:t>stall</a:t>
            </a:r>
            <a:r>
              <a:rPr lang="zh-TW" altLang="en-US" sz="2000" dirty="0"/>
              <a:t>造成</a:t>
            </a:r>
            <a:r>
              <a:rPr lang="en-US" altLang="zh-TW" sz="2000" dirty="0"/>
              <a:t>input</a:t>
            </a:r>
            <a:r>
              <a:rPr lang="zh-TW" altLang="en-US" sz="2000" dirty="0"/>
              <a:t>端立即停住，同時也確保</a:t>
            </a:r>
            <a:r>
              <a:rPr lang="en-US" altLang="zh-TW" sz="2000" dirty="0"/>
              <a:t>instruction</a:t>
            </a:r>
            <a:r>
              <a:rPr lang="zh-TW" altLang="en-US" sz="2000" dirty="0"/>
              <a:t>不會遺失。</a:t>
            </a:r>
            <a:endParaRPr kumimoji="1" lang="en-US" altLang="zh-TW" sz="2000" dirty="0"/>
          </a:p>
        </p:txBody>
      </p:sp>
      <p:pic>
        <p:nvPicPr>
          <p:cNvPr id="7" name="圖片 6" descr="一張含有 文字, 螢幕擷取畫面 的圖片&#10;&#10;自動產生的描述">
            <a:extLst>
              <a:ext uri="{FF2B5EF4-FFF2-40B4-BE49-F238E27FC236}">
                <a16:creationId xmlns:a16="http://schemas.microsoft.com/office/drawing/2014/main" id="{183233DC-3913-7448-0834-F9332F045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2" y="1867876"/>
            <a:ext cx="4967534" cy="4818509"/>
          </a:xfrm>
          <a:prstGeom prst="rect">
            <a:avLst/>
          </a:prstGeom>
        </p:spPr>
      </p:pic>
      <p:pic>
        <p:nvPicPr>
          <p:cNvPr id="9" name="圖片 8" descr="一張含有 文字, 螢幕擷取畫面, 字型 的圖片&#10;&#10;自動產生的描述">
            <a:extLst>
              <a:ext uri="{FF2B5EF4-FFF2-40B4-BE49-F238E27FC236}">
                <a16:creationId xmlns:a16="http://schemas.microsoft.com/office/drawing/2014/main" id="{FED81CC6-E218-11D4-27A3-AA83D596C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690" y="509367"/>
            <a:ext cx="6201718" cy="117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240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A91DB7-B7F2-510A-F7A5-977DF45D5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D04463C-207E-1924-714B-4310951E9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kumimoji="1" lang="en-US" altLang="zh-TW" sz="5400" dirty="0"/>
              <a:t>Design – </a:t>
            </a:r>
            <a:r>
              <a:rPr kumimoji="1" lang="zh-TW" altLang="en-US" sz="3200" dirty="0"/>
              <a:t>除法</a:t>
            </a:r>
            <a:endParaRPr kumimoji="1" lang="zh-TW" altLang="en-US" sz="5400" dirty="0"/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4ADB5B6-785D-6FC1-CA80-FD9388AC1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zh-TW" altLang="en-US" sz="2000" dirty="0"/>
              <a:t>由</a:t>
            </a:r>
            <a:r>
              <a:rPr lang="en-US" altLang="zh-TW" sz="2000" dirty="0"/>
              <a:t>div_step2</a:t>
            </a:r>
            <a:r>
              <a:rPr lang="zh-TW" altLang="en-US" sz="2000" dirty="0"/>
              <a:t>與</a:t>
            </a:r>
            <a:r>
              <a:rPr lang="en-US" altLang="zh-TW" sz="2000" dirty="0"/>
              <a:t>div_step4</a:t>
            </a:r>
            <a:r>
              <a:rPr lang="zh-TW" altLang="en-US" sz="2000" dirty="0"/>
              <a:t>組成</a:t>
            </a:r>
            <a:endParaRPr lang="en-US" altLang="zh-TW" sz="2000" dirty="0"/>
          </a:p>
          <a:p>
            <a:pPr marL="457200" indent="-457200">
              <a:buAutoNum type="arabicPeriod"/>
            </a:pPr>
            <a:r>
              <a:rPr lang="en-US" altLang="zh-TW" sz="2000" dirty="0"/>
              <a:t>div_step2</a:t>
            </a:r>
            <a:r>
              <a:rPr lang="zh-TW" altLang="en-US" sz="2000" dirty="0"/>
              <a:t>一次產生</a:t>
            </a:r>
            <a:r>
              <a:rPr lang="en-US" altLang="zh-TW" sz="2000" dirty="0"/>
              <a:t>2-bit quotient digit</a:t>
            </a:r>
          </a:p>
          <a:p>
            <a:pPr marL="457200" indent="-457200">
              <a:buAutoNum type="arabicPeriod"/>
            </a:pPr>
            <a:r>
              <a:rPr lang="en-US" altLang="zh-TW" sz="2000" dirty="0"/>
              <a:t>div_step4</a:t>
            </a:r>
            <a:r>
              <a:rPr lang="zh-TW" altLang="en-US" sz="2000" dirty="0"/>
              <a:t>串接兩個</a:t>
            </a:r>
            <a:r>
              <a:rPr lang="en-US" altLang="zh-TW" sz="2000" dirty="0"/>
              <a:t>div_step2</a:t>
            </a:r>
          </a:p>
          <a:p>
            <a:pPr marL="457200" indent="-457200">
              <a:buAutoNum type="arabicPeriod"/>
            </a:pPr>
            <a:r>
              <a:rPr lang="zh-TW" altLang="en-US" sz="2000" dirty="0"/>
              <a:t>每次可產生</a:t>
            </a:r>
            <a:r>
              <a:rPr lang="en-US" altLang="zh-TW" sz="2000" dirty="0"/>
              <a:t>4-bit quotient</a:t>
            </a:r>
            <a:r>
              <a:rPr lang="zh-TW" altLang="en-US" sz="2000" dirty="0"/>
              <a:t>，完整</a:t>
            </a:r>
            <a:r>
              <a:rPr lang="en-US" altLang="zh-TW" sz="2000" dirty="0"/>
              <a:t>DIV</a:t>
            </a:r>
            <a:r>
              <a:rPr lang="zh-TW" altLang="en-US" sz="2000" dirty="0"/>
              <a:t>需要做四次</a:t>
            </a:r>
            <a:r>
              <a:rPr lang="en-US" altLang="zh-TW" sz="2000" dirty="0"/>
              <a:t>div_step4</a:t>
            </a:r>
            <a:r>
              <a:rPr lang="zh-TW" altLang="en-US" sz="2000" dirty="0"/>
              <a:t>。</a:t>
            </a:r>
          </a:p>
          <a:p>
            <a:pPr marL="0" indent="0">
              <a:buNone/>
            </a:pPr>
            <a:endParaRPr kumimoji="1" lang="en-US" altLang="zh-TW" sz="2200" dirty="0"/>
          </a:p>
        </p:txBody>
      </p:sp>
      <p:pic>
        <p:nvPicPr>
          <p:cNvPr id="4" name="圖片 3" descr="一張含有 文字, 螢幕擷取畫面, 軟體, 多媒體軟體 的圖片&#10;&#10;自動產生的描述">
            <a:extLst>
              <a:ext uri="{FF2B5EF4-FFF2-40B4-BE49-F238E27FC236}">
                <a16:creationId xmlns:a16="http://schemas.microsoft.com/office/drawing/2014/main" id="{64D5B2B1-1177-81F3-8566-545F1AD23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962" y="170872"/>
            <a:ext cx="4414760" cy="651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969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5F85A1-7DCE-50C8-9795-DD6280919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95586A8-49DA-34D8-D432-74FD76A7D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56BC487-72E7-FCE7-99B1-B8D8A7297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6986015" cy="1776484"/>
          </a:xfrm>
        </p:spPr>
        <p:txBody>
          <a:bodyPr anchor="b">
            <a:normAutofit/>
          </a:bodyPr>
          <a:lstStyle/>
          <a:p>
            <a:r>
              <a:rPr kumimoji="1" lang="en-US" altLang="zh-TW" sz="5400" dirty="0"/>
              <a:t>Design </a:t>
            </a:r>
            <a:r>
              <a:rPr kumimoji="1" lang="en-US" altLang="zh-TW" sz="3200" dirty="0"/>
              <a:t>– </a:t>
            </a:r>
            <a:r>
              <a:rPr kumimoji="1" lang="zh-TW" altLang="en-US" sz="3200" dirty="0"/>
              <a:t>乘法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706BD3E8-71DF-2D70-7623-9C5CB9285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B01C03C2-DBB1-A136-DD44-484ACE3EB8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5148" y="252277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sz="2000" dirty="0"/>
                  <a:t>不是使用一個完整的</a:t>
                </a:r>
                <a:r>
                  <a:rPr lang="en-US" altLang="zh-TW" sz="2000" dirty="0"/>
                  <a:t>16×16 multiplier</a:t>
                </a:r>
                <a:r>
                  <a:rPr lang="zh-TW" altLang="en-US" sz="2000" dirty="0"/>
                  <a:t>一次完成，而是用一個</a:t>
                </a:r>
                <a:r>
                  <a:rPr lang="en-US" altLang="zh-TW" sz="2000" dirty="0"/>
                  <a:t>16×9 multiplier</a:t>
                </a:r>
                <a:r>
                  <a:rPr lang="zh-TW" altLang="en-US" sz="2000" dirty="0"/>
                  <a:t>，將</a:t>
                </a:r>
                <a:r>
                  <a:rPr lang="en-US" altLang="zh-TW" sz="2000" dirty="0"/>
                  <a:t>rt</a:t>
                </a:r>
                <a:r>
                  <a:rPr lang="zh-TW" altLang="en-US" sz="2000" dirty="0"/>
                  <a:t>拆成</a:t>
                </a:r>
                <a:r>
                  <a:rPr lang="en-US" altLang="zh-TW" sz="2000" dirty="0"/>
                  <a:t>low byte</a:t>
                </a:r>
                <a:r>
                  <a:rPr lang="zh-TW" altLang="en-US" sz="2000" dirty="0"/>
                  <a:t>與</a:t>
                </a:r>
                <a:r>
                  <a:rPr lang="en-US" altLang="zh-TW" sz="2000" dirty="0"/>
                  <a:t>high byte</a:t>
                </a:r>
                <a:r>
                  <a:rPr lang="zh-TW" altLang="en-US" sz="2000" dirty="0"/>
                  <a:t>分兩個</a:t>
                </a:r>
                <a:r>
                  <a:rPr lang="en-US" altLang="zh-TW" sz="2000" dirty="0"/>
                  <a:t>cycle</a:t>
                </a:r>
                <a:r>
                  <a:rPr lang="zh-TW" altLang="en-US" sz="2000" dirty="0"/>
                  <a:t>計算</a:t>
                </a:r>
                <a:r>
                  <a:rPr lang="en-US" altLang="zh-TW" sz="2000" dirty="0"/>
                  <a:t>partial product</a:t>
                </a:r>
                <a:r>
                  <a:rPr lang="zh-TW" altLang="en-US" sz="2000" dirty="0"/>
                  <a:t>。</a:t>
                </a:r>
                <a:endParaRPr lang="en-US" altLang="zh-TW" sz="2000" dirty="0"/>
              </a:p>
              <a:p>
                <a:r>
                  <a:rPr lang="zh-TW" altLang="en-US" sz="2000" dirty="0"/>
                  <a:t>先計算</a:t>
                </a:r>
                <a:r>
                  <a:rPr lang="en-US" altLang="zh-TW" sz="2000" dirty="0"/>
                  <a:t>low partial product</a:t>
                </a:r>
                <a:r>
                  <a:rPr lang="zh-TW" altLang="en-US" sz="2000" dirty="0"/>
                  <a:t>，再計算</a:t>
                </a:r>
                <a:r>
                  <a:rPr lang="en-US" altLang="zh-TW" sz="2000" dirty="0"/>
                  <a:t>high partial product</a:t>
                </a:r>
                <a:r>
                  <a:rPr lang="zh-TW" altLang="en-US" sz="2000" dirty="0"/>
                  <a:t>，最後將</a:t>
                </a:r>
                <a:r>
                  <a:rPr lang="en-US" altLang="zh-TW" sz="2000" dirty="0"/>
                  <a:t>high partial product</a:t>
                </a:r>
                <a:r>
                  <a:rPr lang="zh-TW" altLang="en-US" sz="2000" dirty="0"/>
                  <a:t>左移</a:t>
                </a:r>
                <a:r>
                  <a:rPr lang="en-US" altLang="zh-TW" sz="2000" dirty="0"/>
                  <a:t>8bits</a:t>
                </a:r>
                <a:r>
                  <a:rPr lang="zh-TW" altLang="en-US" sz="2000" dirty="0"/>
                  <a:t>後與</a:t>
                </a:r>
                <a:r>
                  <a:rPr lang="en-US" altLang="zh-TW" sz="2000" dirty="0"/>
                  <a:t>low partial product</a:t>
                </a:r>
                <a:r>
                  <a:rPr lang="zh-TW" altLang="en-US" sz="2000" dirty="0"/>
                  <a:t>相加。合併後的</a:t>
                </a:r>
                <a:r>
                  <a:rPr lang="en-US" altLang="zh-TW" sz="2000" dirty="0"/>
                  <a:t>32-bit signed product</a:t>
                </a:r>
                <a:r>
                  <a:rPr lang="zh-TW" altLang="en-US" sz="2000" dirty="0"/>
                  <a:t>再</a:t>
                </a:r>
                <a:r>
                  <a:rPr lang="en-US" altLang="zh-TW" sz="2000" dirty="0"/>
                  <a:t>shift 15bits</a:t>
                </a:r>
                <a:r>
                  <a:rPr lang="zh-TW" altLang="en-US" sz="2000" dirty="0"/>
                  <a:t>。</a:t>
                </a:r>
                <a:endParaRPr lang="en-US" altLang="zh-TW" sz="2000" dirty="0"/>
              </a:p>
              <a:p>
                <a:pPr marL="0" indent="0">
                  <a:buNone/>
                </a:pPr>
                <a:endParaRPr kumimoji="1" lang="en-US" altLang="zh-TW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𝑟𝑠</m:t>
                          </m:r>
                        </m:e>
                      </m:d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  <m:t>𝑟𝑡</m:t>
                          </m:r>
                        </m:e>
                      </m:d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  <m:t>𝑟𝑠</m:t>
                                  </m:r>
                                </m:e>
                              </m:d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  <m:sSub>
                                <m:sSubPr>
                                  <m:ctrlPr>
                                    <a:rPr kumimoji="1" lang="en-US" altLang="zh-TW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kumimoji="1" lang="en-US" altLang="zh-TW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TW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𝑟𝑡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TW" sz="2000" i="1" smtClean="0">
                              <a:latin typeface="Cambria Math" panose="02040503050406030204" pitchFamily="18" charset="0"/>
                            </a:rPr>
                            <m:t> + </m:t>
                          </m:r>
                          <m:d>
                            <m:dPr>
                              <m:ctrlP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TW" sz="2000" i="1">
                                      <a:latin typeface="Cambria Math" panose="02040503050406030204" pitchFamily="18" charset="0"/>
                                    </a:rPr>
                                    <m:t>𝑟𝑠</m:t>
                                  </m:r>
                                </m:e>
                              </m:d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kumimoji="1" lang="en-US" altLang="zh-TW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  <m:sSub>
                                <m:sSubPr>
                                  <m:ctrlPr>
                                    <a:rPr kumimoji="1" lang="en-US" altLang="zh-TW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kumimoji="1" lang="en-US" altLang="zh-TW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TW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𝑟𝑡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h𝑖𝑔h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TW" sz="2000" i="1">
                              <a:latin typeface="Cambria Math" panose="02040503050406030204" pitchFamily="18" charset="0"/>
                            </a:rPr>
                            <m:t>≪8</m:t>
                          </m:r>
                        </m:e>
                      </m:d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⋙</m:t>
                      </m:r>
                      <m:r>
                        <a:rPr kumimoji="1" lang="en-US" altLang="zh-TW" sz="2000" b="0" i="1" smtClean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kumimoji="1" lang="en-US" altLang="zh-TW" sz="2000" dirty="0"/>
              </a:p>
            </p:txBody>
          </p:sp>
        </mc:Choice>
        <mc:Fallback xmlns="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B01C03C2-DBB1-A136-DD44-484ACE3EB8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5148" y="2522771"/>
                <a:ext cx="10515600" cy="4351338"/>
              </a:xfrm>
              <a:blipFill>
                <a:blip r:embed="rId2"/>
                <a:stretch>
                  <a:fillRect l="-483" t="-14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D8C1BD28-E119-8D2E-9CA2-C1F74B1E0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348" y="5472615"/>
            <a:ext cx="75692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443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934A5A-96E1-D6D8-3AF6-0E7F7534B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408EA00-DDA6-AD09-990A-32A1D79B3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en-US" altLang="zh-TW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Optimization – </a:t>
            </a:r>
            <a:br>
              <a:rPr kumimoji="1" lang="en-US" altLang="zh-TW" sz="3800" dirty="0"/>
            </a:br>
            <a:r>
              <a:rPr kumimoji="1" lang="en-US" altLang="zh-TW" sz="2800" dirty="0"/>
              <a:t>Forwarding</a:t>
            </a:r>
            <a:endParaRPr kumimoji="1" lang="en-US" altLang="zh-TW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22E9C5A-A60D-C56E-28A5-9A53DEE36695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1700" dirty="0"/>
              <a:t>Pipeline</a:t>
            </a:r>
            <a:r>
              <a:rPr lang="zh-TW" altLang="en-US" sz="1700" dirty="0"/>
              <a:t>中加入檢查機制：由於</a:t>
            </a:r>
            <a:r>
              <a:rPr lang="en-US" altLang="zh-TW" sz="1700" dirty="0"/>
              <a:t>6-stage pipeline</a:t>
            </a:r>
            <a:r>
              <a:rPr lang="zh-TW" altLang="en-US" sz="1700" dirty="0"/>
              <a:t>大於題目中資料相依的</a:t>
            </a:r>
            <a:r>
              <a:rPr lang="en-US" altLang="zh-TW" sz="1700" dirty="0"/>
              <a:t>4-stage</a:t>
            </a:r>
            <a:r>
              <a:rPr lang="zh-TW" altLang="en-US" sz="1700" dirty="0"/>
              <a:t>，新的指令所需要的資料可能還在</a:t>
            </a:r>
            <a:r>
              <a:rPr lang="en-US" altLang="zh-TW" sz="1700" dirty="0"/>
              <a:t>pipeline</a:t>
            </a:r>
            <a:r>
              <a:rPr lang="zh-TW" altLang="en-US" sz="1700" dirty="0"/>
              <a:t>中，檢查新的指令是否會讀取尚未寫回暫存器的結果。</a:t>
            </a:r>
            <a:endParaRPr lang="en-US" altLang="zh-TW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TW" altLang="en-US" sz="1700" dirty="0"/>
              <a:t>若資料已經可從後段</a:t>
            </a:r>
            <a:r>
              <a:rPr lang="en-US" altLang="zh-TW" sz="1700" dirty="0"/>
              <a:t>pipeline</a:t>
            </a:r>
            <a:r>
              <a:rPr lang="zh-TW" altLang="en-US" sz="1700" dirty="0"/>
              <a:t>取得（如</a:t>
            </a:r>
            <a:r>
              <a:rPr kumimoji="1" lang="en-US" altLang="zh-TW" sz="1700" dirty="0"/>
              <a:t>ADD</a:t>
            </a:r>
            <a:r>
              <a:rPr kumimoji="1" lang="zh-TW" altLang="en-US" sz="1700" dirty="0"/>
              <a:t>、</a:t>
            </a:r>
            <a:r>
              <a:rPr kumimoji="1" lang="en-US" altLang="zh-TW" sz="1700" dirty="0"/>
              <a:t>OR</a:t>
            </a:r>
            <a:r>
              <a:rPr kumimoji="1" lang="zh-TW" altLang="en-US" sz="1700" dirty="0"/>
              <a:t>、</a:t>
            </a:r>
            <a:r>
              <a:rPr kumimoji="1" lang="en-US" altLang="zh-TW" sz="1700" dirty="0"/>
              <a:t>SLA</a:t>
            </a:r>
            <a:r>
              <a:rPr kumimoji="1" lang="zh-TW" altLang="en-US" sz="1700" dirty="0"/>
              <a:t>、</a:t>
            </a:r>
            <a:r>
              <a:rPr kumimoji="1" lang="en-US" altLang="zh-TW" sz="1700" dirty="0"/>
              <a:t>SRA</a:t>
            </a:r>
            <a:r>
              <a:rPr kumimoji="1" lang="zh-TW" altLang="en-US" sz="1700" dirty="0"/>
              <a:t>在</a:t>
            </a:r>
            <a:r>
              <a:rPr kumimoji="1" lang="en-US" altLang="zh-TW" sz="1700" dirty="0"/>
              <a:t>P2</a:t>
            </a:r>
            <a:r>
              <a:rPr kumimoji="1" lang="zh-TW" altLang="en-US" sz="1700" dirty="0"/>
              <a:t>就已經完成了、</a:t>
            </a:r>
            <a:r>
              <a:rPr kumimoji="1" lang="en-US" altLang="zh-TW" sz="1700" dirty="0"/>
              <a:t>MULT</a:t>
            </a:r>
            <a:r>
              <a:rPr kumimoji="1" lang="zh-TW" altLang="en-US" sz="1700" dirty="0"/>
              <a:t>在</a:t>
            </a:r>
            <a:r>
              <a:rPr kumimoji="1" lang="en-US" altLang="zh-TW" sz="1700" dirty="0"/>
              <a:t>P4</a:t>
            </a:r>
            <a:r>
              <a:rPr kumimoji="1" lang="zh-TW" altLang="en-US" sz="1700" dirty="0"/>
              <a:t>就完成了</a:t>
            </a:r>
            <a:r>
              <a:rPr lang="zh-TW" altLang="en-US" sz="1700" dirty="0"/>
              <a:t>），則提早回。避免指令乾等前一個結果正式寫回，減少</a:t>
            </a:r>
            <a:r>
              <a:rPr lang="en-US" altLang="zh-TW" sz="1700" dirty="0"/>
              <a:t>stall</a:t>
            </a:r>
            <a:r>
              <a:rPr lang="zh-TW" altLang="en-US" sz="1700" dirty="0"/>
              <a:t>，降低總</a:t>
            </a:r>
            <a:r>
              <a:rPr lang="en-US" altLang="zh-TW" sz="1700" dirty="0"/>
              <a:t>Latency</a:t>
            </a:r>
            <a:r>
              <a:rPr lang="zh-TW" altLang="en-US" sz="1700" dirty="0"/>
              <a:t>。</a:t>
            </a:r>
          </a:p>
        </p:txBody>
      </p:sp>
      <p:pic>
        <p:nvPicPr>
          <p:cNvPr id="8" name="圖片 7" descr="一張含有 文字, 螢幕擷取畫面, 字型 的圖片&#10;&#10;自動產生的描述">
            <a:extLst>
              <a:ext uri="{FF2B5EF4-FFF2-40B4-BE49-F238E27FC236}">
                <a16:creationId xmlns:a16="http://schemas.microsoft.com/office/drawing/2014/main" id="{4EA8A758-432A-6648-1EB6-5B746FECC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944701"/>
            <a:ext cx="6903720" cy="296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01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FE097-0E90-700B-BCED-6DA33CC09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0DBDF70-D5CA-890B-7811-2284A7F9E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4AE2D68-B318-9C2D-91AC-D01BF3660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10906804" cy="1776484"/>
          </a:xfrm>
        </p:spPr>
        <p:txBody>
          <a:bodyPr anchor="b">
            <a:normAutofit/>
          </a:bodyPr>
          <a:lstStyle/>
          <a:p>
            <a:r>
              <a:rPr kumimoji="1" lang="en-US" altLang="zh-TW" sz="5400" dirty="0"/>
              <a:t>Optimization </a:t>
            </a:r>
            <a:r>
              <a:rPr kumimoji="1" lang="en-US" altLang="zh-TW" sz="3200" dirty="0"/>
              <a:t>– </a:t>
            </a:r>
            <a:r>
              <a:rPr kumimoji="1" lang="zh-TW" altLang="en-US" sz="3200" dirty="0"/>
              <a:t>除法共享</a:t>
            </a:r>
            <a:endParaRPr kumimoji="1" lang="zh-TW" altLang="en-US" sz="5400" dirty="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DBCB905-BFB8-8B4C-1203-212C58C77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C684C2E-EF07-35BE-05E2-CE0B7C8BEC02}"/>
              </a:ext>
            </a:extLst>
          </p:cNvPr>
          <p:cNvSpPr txBox="1"/>
          <p:nvPr/>
        </p:nvSpPr>
        <p:spPr>
          <a:xfrm>
            <a:off x="770021" y="2692742"/>
            <a:ext cx="109068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只實作一組</a:t>
            </a:r>
            <a:r>
              <a:rPr lang="en-US" altLang="zh-TW" dirty="0"/>
              <a:t>div_step4</a:t>
            </a:r>
            <a:r>
              <a:rPr lang="zh-TW" altLang="en-US" dirty="0"/>
              <a:t>，每個</a:t>
            </a:r>
            <a:r>
              <a:rPr lang="en-US" altLang="zh-TW" dirty="0"/>
              <a:t>cycle</a:t>
            </a:r>
            <a:r>
              <a:rPr lang="zh-TW" altLang="en-US" dirty="0"/>
              <a:t>使用同一組</a:t>
            </a:r>
            <a:r>
              <a:rPr lang="en-US" altLang="zh-TW" dirty="0"/>
              <a:t>div_step4</a:t>
            </a:r>
            <a:r>
              <a:rPr lang="zh-TW" altLang="en-US" dirty="0"/>
              <a:t>產生下一段</a:t>
            </a:r>
            <a:r>
              <a:rPr lang="en-US" altLang="zh-TW" dirty="0"/>
              <a:t>quotient bits</a:t>
            </a:r>
            <a:r>
              <a:rPr lang="zh-TW" altLang="en-US" dirty="0"/>
              <a:t>，並將新的</a:t>
            </a:r>
            <a:r>
              <a:rPr lang="en-US" altLang="zh-TW" dirty="0"/>
              <a:t>remainder</a:t>
            </a:r>
            <a:r>
              <a:rPr lang="zh-TW" altLang="en-US" dirty="0"/>
              <a:t>與</a:t>
            </a:r>
            <a:r>
              <a:rPr lang="en-US" altLang="zh-TW" dirty="0"/>
              <a:t>quotient</a:t>
            </a:r>
            <a:r>
              <a:rPr lang="zh-TW" altLang="en-US" dirty="0"/>
              <a:t>寫回</a:t>
            </a:r>
            <a:r>
              <a:rPr lang="en-US" altLang="zh-TW" dirty="0"/>
              <a:t>divider state registers</a:t>
            </a:r>
            <a:r>
              <a:rPr lang="zh-TW" altLang="en-US" dirty="0"/>
              <a:t>。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因此，同一時間只能處理一個</a:t>
            </a:r>
            <a:r>
              <a:rPr lang="en-US" altLang="zh-TW" dirty="0"/>
              <a:t>DIV</a:t>
            </a:r>
            <a:r>
              <a:rPr lang="zh-TW" altLang="en-US" dirty="0"/>
              <a:t>，若新的</a:t>
            </a:r>
            <a:r>
              <a:rPr lang="en-US" altLang="zh-TW" dirty="0"/>
              <a:t>DIV</a:t>
            </a:r>
            <a:r>
              <a:rPr lang="zh-TW" altLang="en-US" dirty="0"/>
              <a:t>指令在前一個</a:t>
            </a:r>
            <a:r>
              <a:rPr lang="en-US" altLang="zh-TW" dirty="0"/>
              <a:t>DIV</a:t>
            </a:r>
            <a:r>
              <a:rPr lang="zh-TW" altLang="en-US" dirty="0"/>
              <a:t>尚未完成時進入，新</a:t>
            </a:r>
            <a:r>
              <a:rPr lang="en-US" altLang="zh-TW" dirty="0"/>
              <a:t>DIV</a:t>
            </a:r>
            <a:r>
              <a:rPr lang="zh-TW" altLang="en-US" dirty="0"/>
              <a:t>會停在</a:t>
            </a:r>
            <a:r>
              <a:rPr lang="en-US" altLang="zh-TW" dirty="0"/>
              <a:t>instruction queue</a:t>
            </a:r>
            <a:r>
              <a:rPr lang="zh-TW" altLang="en-US" dirty="0"/>
              <a:t>中，直到</a:t>
            </a:r>
            <a:r>
              <a:rPr lang="en-US" altLang="zh-TW" dirty="0"/>
              <a:t>shared divider</a:t>
            </a:r>
            <a:r>
              <a:rPr lang="zh-TW" altLang="en-US" dirty="0"/>
              <a:t>可用。</a:t>
            </a:r>
            <a:endParaRPr lang="en-US" altLang="zh-TW" dirty="0"/>
          </a:p>
          <a:p>
            <a:r>
              <a:rPr lang="en-US" altLang="zh-TW" dirty="0"/>
              <a:t>	</a:t>
            </a:r>
            <a:r>
              <a:rPr lang="en-US" altLang="zh-TW" dirty="0" err="1"/>
              <a:t>div_top_reg</a:t>
            </a:r>
            <a:r>
              <a:rPr lang="zh-TW" altLang="en-US" dirty="0"/>
              <a:t>、</a:t>
            </a:r>
            <a:r>
              <a:rPr lang="en-US" altLang="zh-TW" dirty="0"/>
              <a:t>div_q_reg</a:t>
            </a:r>
            <a:r>
              <a:rPr lang="zh-TW" altLang="en-US" dirty="0"/>
              <a:t>、</a:t>
            </a:r>
            <a:r>
              <a:rPr lang="en-US" altLang="zh-TW" dirty="0"/>
              <a:t>div_den_reg</a:t>
            </a:r>
            <a:r>
              <a:rPr lang="zh-TW" altLang="en-US" dirty="0"/>
              <a:t>與</a:t>
            </a:r>
            <a:r>
              <a:rPr lang="en-US" altLang="zh-TW" dirty="0"/>
              <a:t>div_den3_reg</a:t>
            </a:r>
            <a:r>
              <a:rPr lang="zh-TW" altLang="en-US" dirty="0"/>
              <a:t>是保存</a:t>
            </a:r>
            <a:r>
              <a:rPr lang="en-US" altLang="zh-TW" dirty="0"/>
              <a:t>divider</a:t>
            </a:r>
            <a:r>
              <a:rPr lang="zh-TW" altLang="en-US" dirty="0"/>
              <a:t>的中間狀態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D7CA94A-BB12-6E54-FE6D-418917539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501" y="4298001"/>
            <a:ext cx="8695255" cy="83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79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16253-2413-9164-C787-CB7C148C4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F524B03-9691-80D0-5123-B3E2C03D2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1A5429F-469C-1D16-7E73-1C9D81F4D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10906804" cy="1776484"/>
          </a:xfrm>
        </p:spPr>
        <p:txBody>
          <a:bodyPr anchor="b">
            <a:normAutofit/>
          </a:bodyPr>
          <a:lstStyle/>
          <a:p>
            <a:r>
              <a:rPr kumimoji="1" lang="en-US" altLang="zh-TW" sz="5400" dirty="0"/>
              <a:t>Optimization </a:t>
            </a:r>
            <a:r>
              <a:rPr kumimoji="1" lang="en-US" altLang="zh-TW" sz="3200" dirty="0"/>
              <a:t>– </a:t>
            </a:r>
            <a:r>
              <a:rPr kumimoji="1" lang="zh-TW" altLang="en-US" sz="3200" dirty="0"/>
              <a:t>乘法共享</a:t>
            </a:r>
            <a:endParaRPr kumimoji="1" lang="zh-TW" altLang="en-US" sz="5400" dirty="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81641F-F01D-E216-B004-61A45C9E8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983F85A-568E-AA11-23E3-8BEE95516E8E}"/>
                  </a:ext>
                </a:extLst>
              </p:cNvPr>
              <p:cNvSpPr txBox="1"/>
              <p:nvPr/>
            </p:nvSpPr>
            <p:spPr>
              <a:xfrm>
                <a:off x="701386" y="2590398"/>
                <a:ext cx="10906804" cy="1265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dirty="0"/>
                  <a:t>只實作一顆</a:t>
                </a:r>
                <a:r>
                  <a:rPr lang="en-US" altLang="zh-TW" dirty="0"/>
                  <a:t>16×9 signed multiplier</a:t>
                </a:r>
                <a:r>
                  <a:rPr lang="zh-TW" altLang="en-US" dirty="0"/>
                  <a:t>，第一個</a:t>
                </a:r>
                <a:r>
                  <a:rPr lang="en-US" altLang="zh-TW" dirty="0"/>
                  <a:t>cycle</a:t>
                </a:r>
                <a:r>
                  <a:rPr lang="zh-TW" altLang="en-US" dirty="0"/>
                  <a:t>計算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𝑟𝑠</m:t>
                        </m:r>
                      </m:e>
                    </m:d>
                    <m:r>
                      <a:rPr kumimoji="1"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kumimoji="1"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𝑟𝑡</m:t>
                            </m:r>
                          </m:e>
                        </m:d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𝑙𝑜𝑤</m:t>
                        </m:r>
                      </m:sub>
                    </m:sSub>
                  </m:oMath>
                </a14:m>
                <a:r>
                  <a:rPr lang="zh-TW" altLang="en-US" dirty="0"/>
                  <a:t>，第二個</a:t>
                </a:r>
                <a:r>
                  <a:rPr lang="en-US" altLang="zh-TW" dirty="0"/>
                  <a:t>cycle</a:t>
                </a:r>
                <a:r>
                  <a:rPr lang="zh-TW" altLang="en-US" dirty="0"/>
                  <a:t>計算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𝑟𝑠</m:t>
                        </m:r>
                      </m:e>
                    </m:d>
                    <m:r>
                      <a:rPr kumimoji="1"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kumimoji="1"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𝑟𝑡</m:t>
                            </m:r>
                          </m:e>
                        </m:d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h𝑖𝑔h</m:t>
                        </m:r>
                      </m:sub>
                    </m:sSub>
                  </m:oMath>
                </a14:m>
                <a:r>
                  <a:rPr lang="zh-TW" altLang="en-US" dirty="0"/>
                  <a:t>，最後再結合起來：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  <m:t>𝑟𝑠</m:t>
                                </m:r>
                              </m:e>
                            </m:d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  <m:sSub>
                              <m:sSubPr>
                                <m:ctrlPr>
                                  <a:rPr kumimoji="1"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1"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𝑟𝑡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𝑙𝑜𝑤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zh-TW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d>
                          <m:d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  <m:t>𝑟𝑠</m:t>
                                </m:r>
                              </m:e>
                            </m:d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  <m:sSub>
                              <m:sSubPr>
                                <m:ctrlPr>
                                  <a:rPr kumimoji="1"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1"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𝑟𝑡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h𝑖𝑔h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≪8</m:t>
                        </m:r>
                      </m:e>
                    </m:d>
                    <m:r>
                      <a:rPr kumimoji="1"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⋙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zh-TW" altLang="en-US" dirty="0"/>
                  <a:t>。</a:t>
                </a:r>
                <a:endParaRPr lang="en-US" altLang="zh-TW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dirty="0"/>
                  <a:t>因此，同一時間只能服務一個</a:t>
                </a:r>
                <a:r>
                  <a:rPr lang="en-US" altLang="zh-TW" dirty="0"/>
                  <a:t>MULT</a:t>
                </a:r>
                <a:r>
                  <a:rPr lang="zh-TW" altLang="en-US" dirty="0"/>
                  <a:t>指令。前一個</a:t>
                </a:r>
                <a:r>
                  <a:rPr lang="en-US" altLang="zh-TW" dirty="0"/>
                  <a:t>MULT</a:t>
                </a:r>
                <a:r>
                  <a:rPr lang="zh-TW" altLang="en-US" dirty="0"/>
                  <a:t>還在使用</a:t>
                </a:r>
                <a:r>
                  <a:rPr lang="en-US" altLang="zh-TW" dirty="0"/>
                  <a:t>multiplier</a:t>
                </a:r>
                <a:r>
                  <a:rPr lang="zh-TW" altLang="en-US" dirty="0"/>
                  <a:t>時，會暫停新的</a:t>
                </a:r>
                <a:r>
                  <a:rPr lang="en-US" altLang="zh-TW" dirty="0"/>
                  <a:t>MULT</a:t>
                </a:r>
                <a:r>
                  <a:rPr lang="zh-TW" altLang="en-US" dirty="0"/>
                  <a:t>進入</a:t>
                </a:r>
                <a:r>
                  <a:rPr lang="en-US" altLang="zh-TW" dirty="0"/>
                  <a:t>pipeline</a:t>
                </a:r>
                <a:r>
                  <a:rPr lang="zh-TW" altLang="en-US" dirty="0"/>
                  <a:t>，直到可用為止。</a:t>
                </a: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983F85A-568E-AA11-23E3-8BEE95516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386" y="2590398"/>
                <a:ext cx="10906804" cy="1265218"/>
              </a:xfrm>
              <a:prstGeom prst="rect">
                <a:avLst/>
              </a:prstGeom>
              <a:blipFill>
                <a:blip r:embed="rId2"/>
                <a:stretch>
                  <a:fillRect l="-349" t="-4000" r="-2678" b="-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 descr="一張含有 文字, 螢幕擷取畫面, 字型 的圖片&#10;&#10;自動產生的描述">
            <a:extLst>
              <a:ext uri="{FF2B5EF4-FFF2-40B4-BE49-F238E27FC236}">
                <a16:creationId xmlns:a16="http://schemas.microsoft.com/office/drawing/2014/main" id="{D5ECAA65-B384-4F62-A37D-80015CB5C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33046"/>
            <a:ext cx="5618356" cy="180035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D61C074-A951-38E1-00D5-9E09215E8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6274236"/>
            <a:ext cx="4762500" cy="381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6EBA808-F461-319A-0A9B-06B85CC096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711563"/>
            <a:ext cx="7772400" cy="48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043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66DA2D-859C-5153-4043-64312F8F7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6F2D1BB-67D0-E9B1-B2DF-03650D374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83863DF-629C-B3F9-4CD5-C7D0813A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10906804" cy="1776484"/>
          </a:xfrm>
        </p:spPr>
        <p:txBody>
          <a:bodyPr anchor="b">
            <a:normAutofit/>
          </a:bodyPr>
          <a:lstStyle/>
          <a:p>
            <a:r>
              <a:rPr kumimoji="1" lang="en-US" altLang="zh-TW" sz="5400" dirty="0"/>
              <a:t>Optimization </a:t>
            </a:r>
            <a:r>
              <a:rPr kumimoji="1" lang="en-US" altLang="zh-TW" sz="3200" dirty="0"/>
              <a:t>– </a:t>
            </a:r>
            <a:r>
              <a:rPr kumimoji="1" lang="zh-TW" altLang="en-US" sz="3200"/>
              <a:t>編碼</a:t>
            </a:r>
            <a:endParaRPr kumimoji="1" lang="zh-TW" altLang="en-US" sz="540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F1163A2D-A4C6-3C14-7F12-6702A4296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4F12D25-D02B-A58E-919C-C9B0F51F9213}"/>
              </a:ext>
            </a:extLst>
          </p:cNvPr>
          <p:cNvSpPr txBox="1"/>
          <p:nvPr/>
        </p:nvSpPr>
        <p:spPr>
          <a:xfrm>
            <a:off x="762000" y="2583934"/>
            <a:ext cx="109068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/>
              <a:t>Register address</a:t>
            </a:r>
            <a:r>
              <a:rPr lang="zh-TW" altLang="en-US" sz="2000" dirty="0"/>
              <a:t>轉成</a:t>
            </a:r>
            <a:r>
              <a:rPr lang="en-US" altLang="zh-TW" sz="2000" dirty="0"/>
              <a:t>internal ID : </a:t>
            </a:r>
            <a:r>
              <a:rPr lang="zh-TW" altLang="en-US" sz="2000" dirty="0"/>
              <a:t>題目給的</a:t>
            </a:r>
            <a:r>
              <a:rPr lang="en-US" altLang="zh-TW" sz="2000" dirty="0"/>
              <a:t>6</a:t>
            </a:r>
            <a:r>
              <a:rPr lang="zh-TW" altLang="en-US" sz="2000" dirty="0"/>
              <a:t>個</a:t>
            </a:r>
            <a:r>
              <a:rPr lang="en-US" altLang="zh-TW" sz="2000" dirty="0"/>
              <a:t>5-bit register address</a:t>
            </a:r>
            <a:r>
              <a:rPr lang="zh-TW" altLang="en-US" sz="2000" dirty="0"/>
              <a:t>可以轉成</a:t>
            </a:r>
            <a:r>
              <a:rPr lang="en-US" altLang="zh-TW" sz="2000" dirty="0"/>
              <a:t>3-bit internal register ID</a:t>
            </a:r>
            <a:r>
              <a:rPr lang="zh-TW" altLang="en-US" sz="2000" dirty="0"/>
              <a:t>就夠了，後續</a:t>
            </a:r>
            <a:r>
              <a:rPr lang="en-US" altLang="zh-TW" sz="2000" dirty="0"/>
              <a:t>hazard detection</a:t>
            </a:r>
            <a:r>
              <a:rPr lang="zh-TW" altLang="en-US" sz="2000" dirty="0"/>
              <a:t>、</a:t>
            </a:r>
            <a:r>
              <a:rPr lang="en-US" altLang="zh-TW" sz="2000" dirty="0"/>
              <a:t>forwarding</a:t>
            </a:r>
            <a:r>
              <a:rPr lang="zh-TW" altLang="en-US" sz="2000" dirty="0"/>
              <a:t>、</a:t>
            </a:r>
            <a:r>
              <a:rPr lang="en-US" altLang="zh-TW" sz="2000" dirty="0"/>
              <a:t>writeback</a:t>
            </a:r>
            <a:r>
              <a:rPr lang="zh-TW" altLang="en-US" sz="2000" dirty="0"/>
              <a:t>都只需比較</a:t>
            </a:r>
            <a:r>
              <a:rPr lang="en-US" altLang="zh-TW" sz="2000" dirty="0"/>
              <a:t>3-bitID</a:t>
            </a:r>
            <a:r>
              <a:rPr lang="zh-TW" altLang="en-US" sz="2000" dirty="0"/>
              <a:t>，降低複雜度。使用</a:t>
            </a:r>
            <a:r>
              <a:rPr lang="en-US" altLang="zh-TW" sz="2000" dirty="0"/>
              <a:t>python script</a:t>
            </a:r>
            <a:r>
              <a:rPr lang="zh-TW" altLang="en-US" sz="2000" dirty="0"/>
              <a:t>窮舉各種</a:t>
            </a:r>
            <a:r>
              <a:rPr lang="en-US" altLang="zh-TW" sz="2000" dirty="0"/>
              <a:t>3-bitID</a:t>
            </a:r>
            <a:r>
              <a:rPr lang="zh-TW" altLang="en-US" sz="2000" dirty="0"/>
              <a:t>，並在寫腳本自動上傳跑</a:t>
            </a:r>
            <a:r>
              <a:rPr lang="en-US" altLang="zh-TW" sz="2000" dirty="0"/>
              <a:t>02_SYN</a:t>
            </a:r>
            <a:r>
              <a:rPr lang="zh-TW" altLang="en-US" sz="2000" dirty="0"/>
              <a:t>，找到最佳面積的對應編碼。</a:t>
            </a:r>
          </a:p>
        </p:txBody>
      </p:sp>
      <p:pic>
        <p:nvPicPr>
          <p:cNvPr id="6" name="圖片 5" descr="一張含有 文字, 螢幕擷取畫面, 字型 的圖片&#10;&#10;自動產生的描述">
            <a:extLst>
              <a:ext uri="{FF2B5EF4-FFF2-40B4-BE49-F238E27FC236}">
                <a16:creationId xmlns:a16="http://schemas.microsoft.com/office/drawing/2014/main" id="{D7E8A021-0238-6614-6B8B-CF1F7CA29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98" y="4349698"/>
            <a:ext cx="4535026" cy="1646127"/>
          </a:xfrm>
          <a:prstGeom prst="rect">
            <a:avLst/>
          </a:prstGeom>
        </p:spPr>
      </p:pic>
      <p:pic>
        <p:nvPicPr>
          <p:cNvPr id="8" name="圖片 7" descr="一張含有 文字, 螢幕擷取畫面, 字型, 軟體 的圖片&#10;&#10;自動產生的描述">
            <a:extLst>
              <a:ext uri="{FF2B5EF4-FFF2-40B4-BE49-F238E27FC236}">
                <a16:creationId xmlns:a16="http://schemas.microsoft.com/office/drawing/2014/main" id="{E8BD4672-8A1C-CE19-E11D-8820445D3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953" y="3907373"/>
            <a:ext cx="5302622" cy="271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718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EEE632-9DBC-7DD5-CB2F-DE5FB607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13A34FE-9B92-6A34-0330-6ADA90350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D0E64F8-2E19-6A70-4EE1-66CEF2FBC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kumimoji="1" lang="en-US" altLang="zh-TW" sz="4600" dirty="0"/>
              <a:t>Report</a:t>
            </a:r>
            <a:endParaRPr kumimoji="1" lang="zh-TW" altLang="en-US" sz="460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1340FED3-A79A-8EF2-4F5E-B89EA1370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圖片 4" descr="一張含有 文字, 字型, 螢幕擷取畫面, 黑色 的圖片&#10;&#10;自動產生的描述">
            <a:extLst>
              <a:ext uri="{FF2B5EF4-FFF2-40B4-BE49-F238E27FC236}">
                <a16:creationId xmlns:a16="http://schemas.microsoft.com/office/drawing/2014/main" id="{CEEA88FE-B177-B7D2-CA4D-395945E64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21" y="6332151"/>
            <a:ext cx="2928453" cy="379799"/>
          </a:xfrm>
          <a:prstGeom prst="rect">
            <a:avLst/>
          </a:prstGeom>
        </p:spPr>
      </p:pic>
      <p:pic>
        <p:nvPicPr>
          <p:cNvPr id="7" name="圖片 6" descr="一張含有 文字, 螢幕擷取畫面, 功能表, 字型 的圖片&#10;&#10;自動產生的描述">
            <a:extLst>
              <a:ext uri="{FF2B5EF4-FFF2-40B4-BE49-F238E27FC236}">
                <a16:creationId xmlns:a16="http://schemas.microsoft.com/office/drawing/2014/main" id="{FFF47EE4-ED01-14FF-F5CB-45CE3E650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007" y="2876574"/>
            <a:ext cx="3483951" cy="3835376"/>
          </a:xfrm>
          <a:prstGeom prst="rect">
            <a:avLst/>
          </a:prstGeom>
        </p:spPr>
      </p:pic>
      <p:pic>
        <p:nvPicPr>
          <p:cNvPr id="9" name="圖片 8" descr="一張含有 文字, 螢幕擷取畫面, 功能表, 單色 的圖片&#10;&#10;自動產生的描述">
            <a:extLst>
              <a:ext uri="{FF2B5EF4-FFF2-40B4-BE49-F238E27FC236}">
                <a16:creationId xmlns:a16="http://schemas.microsoft.com/office/drawing/2014/main" id="{840A983C-BF86-B37C-DDE3-0E3C803F8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3491" y="0"/>
            <a:ext cx="39244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93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2C70FF-9E1A-F86C-D8D3-01A6D8FD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0274778-31FB-7A00-5366-3DB4B8837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zh-TW" altLang="en-US" sz="6600" kern="120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謝謝大家</a:t>
            </a:r>
            <a:endParaRPr kumimoji="1" lang="en-US" altLang="zh-TW" sz="6600" b="1" kern="12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278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3463</TotalTime>
  <Words>1735</Words>
  <Application>Microsoft Macintosh PowerPoint</Application>
  <PresentationFormat>寬螢幕</PresentationFormat>
  <Paragraphs>140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Microsoft JhengHei</vt:lpstr>
      <vt:lpstr>Aptos</vt:lpstr>
      <vt:lpstr>Arial</vt:lpstr>
      <vt:lpstr>Cambria Math</vt:lpstr>
      <vt:lpstr>Office 佈景主題</vt:lpstr>
      <vt:lpstr>DCS HW05 Code</vt:lpstr>
      <vt:lpstr>Content</vt:lpstr>
      <vt:lpstr>Design - 6-Stage Pipeline Architecture</vt:lpstr>
      <vt:lpstr>Design</vt:lpstr>
      <vt:lpstr>PowerPoint 簡報</vt:lpstr>
      <vt:lpstr>Design - stall</vt:lpstr>
      <vt:lpstr>Design – 除法</vt:lpstr>
      <vt:lpstr>Design – 乘法</vt:lpstr>
      <vt:lpstr>Optimization –  Forwarding</vt:lpstr>
      <vt:lpstr>Optimization – 除法共享</vt:lpstr>
      <vt:lpstr>Optimization – 乘法共享</vt:lpstr>
      <vt:lpstr>Optimization – 編碼</vt:lpstr>
      <vt:lpstr>Report</vt:lpstr>
      <vt:lpstr>謝謝大家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蔡騏伍</dc:creator>
  <cp:lastModifiedBy>蔡騏伍</cp:lastModifiedBy>
  <cp:revision>845</cp:revision>
  <dcterms:created xsi:type="dcterms:W3CDTF">2026-04-04T14:50:12Z</dcterms:created>
  <dcterms:modified xsi:type="dcterms:W3CDTF">2026-05-27T14:35:11Z</dcterms:modified>
</cp:coreProperties>
</file>